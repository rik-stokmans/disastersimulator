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The project asks what happens after the initial hazard—when essential services start depending on one another. It is an interactive scenario-exploration prototype, not a forecast or calibrated digital twin.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project around cascades. The simulator does not just color a hazard map; it steps through how service availability, reserves, repair and transport access interact across 72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national experience contains 342 municipalities and 289 quarter-hour states. Users can switch between ten hazard presets, eight modeled services and eleven map modes, then zoom into municipality and neighbourhood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view changes, not the underlying state. National transfer totals are preserved. When users zoom in, the municipality’s inflow is distributed across CBS neighbourhoods using population and vulnerability context, then reconciled exactly back to the municipal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engine resolves scenario controls, generates a time- and place-dependent hazard state, applies service-specific damage and recovery, propagates dependencies, balances only supported route flows, then emits outputs plus their explanation metadata. No runtime random draws are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is the main upstream service. Water and telecom are protected by finite backup windows; drainage and gas controls degrade with power; facilities use modeled generators. Mobility is the upstream service for supply. The road graph is deliberately not reused as electricity, water, gas or telecom topology.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Scrubbing the timeline is central. A service may remain healthy while backup lasts, fall later as upstream power fails, and recover only after both response delay and access constraints allow repair. The map therefore tells a different story at T+6, T+24 and T+72.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data-governance slide. Some inputs are deliberately causal. Others exist only to orient the operator. Near-real-time road, weather, water or air-quality observations do not automatically become a 72-hour scenario. They need explicit time, location and semantics before they can affect the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this as one giant fused truth layer. The integrations are categorized. CBS and PDOK anchor place and people; transport geometry comes from NWB, ProRail and public transport feeds; weather and hazards come from KNMI, Rijkswaterstaat and related public sources; service and facility layers provide context with explicit coverage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current radar image is an observation, not a future scenario. A road incident feed is not automatically a future closure. A utility line on a map is not outage telemetry. Unknown is a first-class state so missing evidence cannot masquerade as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explanation is not a narrative invented after the fact. The engine records the calculation stages. Counterfactuals are exact deterministic reruns: for example, the same frame without direct hazard damage or with an upstream service restored to full availability.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ten presets cover meteorological, hydrological, geophysical, digital and compound events. The strength of the Scenario Lab is that users can hold the event constant and vary preparedness, response delay, backup endurance, repair capacity, climate path, season and demand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municipality audit program is a notable assurance mechanism. It checks numerical and spatial plausibility and compiles explicit guards. If a location-specific pathway is unsupported, the simulator withholds the consequence rather than showing false precision. Human review remains necessary for hydraulic and coastal corrections.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calibrate expectations. The project is valuable for asking comparative “what if” questions and revealing dependencies. It should not be presented as an operational forecast, exact headcount or digital twin. Route capacities are generalized units and utility geometry is context, not full topology or live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Recommended demo: start national, move the timeline, follow one dependency, zoom into Eindhoven, change exactly one assumption, and open the explanation. Avoid touring every layer. The audience should leave understanding one causal chain and one policy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stage should prioritize calibration and validation. Weather forecasts must be bound to explicit cycles; flood impacts need compatible hydraulic scenarios; utility models need service-specific topology; and response resources need real inventories and endurance. Historical events and expert exercises can then test whether the model behaves credibly.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line: The simulator is valuable because it makes the cascade, the assumptions and the uncertainty inspectable. Invite questions about either the system model, the public-data couplings or the next calibration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DARK">
    <p:bg>
      <p:bgPr>
        <a:solidFill>
          <a:srgbClr val="071216"/>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19104" y="6446520"/>
            <a:ext cx="475488"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8087"/>
                </a:solidFill>
                <a:latin typeface="Avenir Next"/>
                <a:ea typeface="Avenir Next"/>
                <a:cs typeface="Avenir Next"/>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19104" y="6446520"/>
            <a:ext cx="475488"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8087"/>
                </a:solidFill>
                <a:latin typeface="Avenir Next"/>
                <a:ea typeface="Avenir Next"/>
                <a:cs typeface="Avenir Next"/>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Rik-Stokmans/DisasterSimulator" TargetMode="External"/><Relationship Id="rId1" Type="http://schemas.openxmlformats.org/officeDocument/2006/relationships/image" Target="../media/image-1-1.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Rik-Stokmans/DisasterSimulator" TargetMode="Externa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hyperlink" Target="https://github.com/Rik-Stokmans/DisasterSimulator" TargetMode="External"/><Relationship Id="rId3" Type="http://schemas.openxmlformats.org/officeDocument/2006/relationships/hyperlink" Target="https://rikstokmans.com/warroom/projects/disasterSimulator" TargetMode="External"/><Relationship Id="rId1" Type="http://schemas.openxmlformats.org/officeDocument/2006/relationships/image" Target="../media/image-17-1.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Users/rikstokmans/Documents/Projects/Fontys/DisasterSimulator/artifacts/gatekeeper-v2.png">    </p:cNvPr>
          <p:cNvPicPr>
            <a:picLocks noChangeAspect="1"/>
          </p:cNvPicPr>
          <p:nvPr/>
        </p:nvPicPr>
        <p:blipFill>
          <a:blip r:embed="rId1"/>
          <a:srcRect l="32250" r="16250" t="0" b="0"/>
          <a:stretch/>
        </p:blipFill>
        <p:spPr>
          <a:xfrm>
            <a:off x="6537960" y="0"/>
            <a:ext cx="5650992" cy="6858000"/>
          </a:xfrm>
          <a:prstGeom prst="rect">
            <a:avLst/>
          </a:prstGeom>
        </p:spPr>
      </p:pic>
      <p:sp>
        <p:nvSpPr>
          <p:cNvPr id="3" name="Shape 0"/>
          <p:cNvSpPr/>
          <p:nvPr/>
        </p:nvSpPr>
        <p:spPr>
          <a:xfrm>
            <a:off x="5806440" y="0"/>
            <a:ext cx="2194560" cy="6858000"/>
          </a:xfrm>
          <a:prstGeom prst="rect">
            <a:avLst/>
          </a:prstGeom>
          <a:solidFill>
            <a:srgbClr val="071216">
              <a:alpha val="80000"/>
            </a:srgbClr>
          </a:solidFill>
          <a:ln w="12700">
            <a:solidFill>
              <a:srgbClr val="071216">
                <a:alpha val="0"/>
              </a:srgbClr>
            </a:solidFill>
            <a:prstDash val="solid"/>
          </a:ln>
        </p:spPr>
      </p:sp>
      <p:sp>
        <p:nvSpPr>
          <p:cNvPr id="4" name="Shape 1"/>
          <p:cNvSpPr/>
          <p:nvPr/>
        </p:nvSpPr>
        <p:spPr>
          <a:xfrm>
            <a:off x="0" y="0"/>
            <a:ext cx="6766560" cy="6858000"/>
          </a:xfrm>
          <a:prstGeom prst="rect">
            <a:avLst/>
          </a:prstGeom>
          <a:solidFill>
            <a:srgbClr val="071216"/>
          </a:solidFill>
          <a:ln w="12700">
            <a:solidFill>
              <a:srgbClr val="071216"/>
            </a:solidFill>
            <a:prstDash val="solid"/>
          </a:ln>
        </p:spPr>
      </p:sp>
      <p:sp>
        <p:nvSpPr>
          <p:cNvPr id="5" name="Shape 2"/>
          <p:cNvSpPr/>
          <p:nvPr/>
        </p:nvSpPr>
        <p:spPr>
          <a:xfrm>
            <a:off x="658368" y="585216"/>
            <a:ext cx="310896" cy="310896"/>
          </a:xfrm>
          <a:prstGeom prst="ellipse">
            <a:avLst/>
          </a:prstGeom>
          <a:solidFill>
            <a:srgbClr val="12272D"/>
          </a:solidFill>
          <a:ln w="12700">
            <a:solidFill>
              <a:srgbClr val="65E2CB"/>
            </a:solidFill>
            <a:prstDash val="solid"/>
          </a:ln>
        </p:spPr>
      </p:sp>
      <p:sp>
        <p:nvSpPr>
          <p:cNvPr id="6" name="Shape 3"/>
          <p:cNvSpPr/>
          <p:nvPr/>
        </p:nvSpPr>
        <p:spPr>
          <a:xfrm>
            <a:off x="752551" y="667512"/>
            <a:ext cx="118872" cy="118872"/>
          </a:xfrm>
          <a:prstGeom prst="ellipse">
            <a:avLst/>
          </a:prstGeom>
          <a:solidFill>
            <a:srgbClr val="071216"/>
          </a:solidFill>
          <a:ln w="12700">
            <a:solidFill>
              <a:srgbClr val="65E2CB"/>
            </a:solidFill>
            <a:prstDash val="solid"/>
          </a:ln>
        </p:spPr>
      </p:sp>
      <p:sp>
        <p:nvSpPr>
          <p:cNvPr id="7" name="Shape 4"/>
          <p:cNvSpPr/>
          <p:nvPr/>
        </p:nvSpPr>
        <p:spPr>
          <a:xfrm>
            <a:off x="813816" y="649224"/>
            <a:ext cx="0" cy="182880"/>
          </a:xfrm>
          <a:prstGeom prst="line">
            <a:avLst/>
          </a:prstGeom>
          <a:noFill/>
          <a:ln w="15240">
            <a:solidFill>
              <a:srgbClr val="65E2CB"/>
            </a:solidFill>
            <a:prstDash val="solid"/>
            <a:headEnd type="none"/>
            <a:tailEnd type="none"/>
          </a:ln>
        </p:spPr>
      </p:sp>
      <p:sp>
        <p:nvSpPr>
          <p:cNvPr id="8" name="Text 5"/>
          <p:cNvSpPr/>
          <p:nvPr/>
        </p:nvSpPr>
        <p:spPr>
          <a:xfrm>
            <a:off x="1078992" y="640080"/>
            <a:ext cx="2834640" cy="228600"/>
          </a:xfrm>
          <a:prstGeom prst="rect">
            <a:avLst/>
          </a:prstGeom>
          <a:noFill/>
          <a:ln/>
        </p:spPr>
        <p:txBody>
          <a:bodyPr wrap="square" lIns="0" tIns="0" rIns="0" bIns="0" rtlCol="0" anchor="ctr">
            <a:normAutofit/>
          </a:bodyPr>
          <a:lstStyle/>
          <a:p>
            <a:pPr indent="0" marL="0">
              <a:buNone/>
            </a:pPr>
            <a:r>
              <a:rPr lang="en-US" sz="1000" b="1" spc="180" kern="0" dirty="0">
                <a:solidFill>
                  <a:srgbClr val="65E2CB"/>
                </a:solidFill>
                <a:latin typeface="Avenir Next" pitchFamily="34" charset="0"/>
                <a:ea typeface="Avenir Next" pitchFamily="34" charset="-122"/>
                <a:cs typeface="Avenir Next" pitchFamily="34" charset="-120"/>
              </a:rPr>
              <a:t>NL RESILIENCE LAB</a:t>
            </a:r>
            <a:endParaRPr lang="en-US" sz="1000" dirty="0"/>
          </a:p>
        </p:txBody>
      </p:sp>
      <p:sp>
        <p:nvSpPr>
          <p:cNvPr id="9" name="Text 6"/>
          <p:cNvSpPr/>
          <p:nvPr/>
        </p:nvSpPr>
        <p:spPr>
          <a:xfrm>
            <a:off x="658368" y="1600200"/>
            <a:ext cx="5486400" cy="1417320"/>
          </a:xfrm>
          <a:prstGeom prst="rect">
            <a:avLst/>
          </a:prstGeom>
          <a:noFill/>
          <a:ln/>
        </p:spPr>
        <p:txBody>
          <a:bodyPr wrap="square" lIns="0" tIns="0" rIns="0" bIns="0" rtlCol="0" anchor="t">
            <a:normAutofit/>
          </a:bodyPr>
          <a:lstStyle/>
          <a:p>
            <a:pPr indent="0" marL="0">
              <a:buNone/>
            </a:pPr>
            <a:r>
              <a:rPr lang="en-US" sz="3600" b="1" dirty="0">
                <a:solidFill>
                  <a:srgbClr val="F4F7F6"/>
                </a:solidFill>
                <a:latin typeface="Avenir Next" pitchFamily="34" charset="0"/>
                <a:ea typeface="Avenir Next" pitchFamily="34" charset="-122"/>
                <a:cs typeface="Avenir Next" pitchFamily="34" charset="-120"/>
              </a:rPr>
              <a:t>Exploring the</a:t>
            </a:r>
            <a:endParaRPr lang="en-US" sz="3600" dirty="0"/>
          </a:p>
          <a:p>
            <a:pPr indent="0" marL="0">
              <a:buNone/>
            </a:pPr>
            <a:r>
              <a:rPr lang="en-US" sz="3600" b="1" dirty="0">
                <a:solidFill>
                  <a:srgbClr val="F4F7F6"/>
                </a:solidFill>
                <a:latin typeface="Avenir Next" pitchFamily="34" charset="0"/>
                <a:ea typeface="Avenir Next" pitchFamily="34" charset="-122"/>
                <a:cs typeface="Avenir Next" pitchFamily="34" charset="-120"/>
              </a:rPr>
              <a:t>first 72 hours</a:t>
            </a:r>
            <a:endParaRPr lang="en-US" sz="3600" dirty="0"/>
          </a:p>
        </p:txBody>
      </p:sp>
      <p:sp>
        <p:nvSpPr>
          <p:cNvPr id="10" name="Text 7"/>
          <p:cNvSpPr/>
          <p:nvPr/>
        </p:nvSpPr>
        <p:spPr>
          <a:xfrm>
            <a:off x="685800" y="3218688"/>
            <a:ext cx="5257800" cy="658368"/>
          </a:xfrm>
          <a:prstGeom prst="rect">
            <a:avLst/>
          </a:prstGeom>
          <a:noFill/>
          <a:ln/>
        </p:spPr>
        <p:txBody>
          <a:bodyPr wrap="square" lIns="0" tIns="0" rIns="0" bIns="0" rtlCol="0" anchor="t">
            <a:normAutofit/>
          </a:bodyPr>
          <a:lstStyle/>
          <a:p>
            <a:pPr indent="0" marL="0">
              <a:buNone/>
            </a:pPr>
            <a:r>
              <a:rPr lang="en-US" sz="1700" dirty="0">
                <a:solidFill>
                  <a:srgbClr val="9BB0B5"/>
                </a:solidFill>
                <a:latin typeface="Avenir Next" pitchFamily="34" charset="0"/>
                <a:ea typeface="Avenir Next" pitchFamily="34" charset="-122"/>
                <a:cs typeface="Avenir Next" pitchFamily="34" charset="-120"/>
              </a:rPr>
              <a:t>A transparent disaster-cascade simulator for the Netherlands</a:t>
            </a:r>
            <a:endParaRPr lang="en-US" sz="1700" dirty="0"/>
          </a:p>
        </p:txBody>
      </p:sp>
      <p:sp>
        <p:nvSpPr>
          <p:cNvPr id="11" name="Shape 8"/>
          <p:cNvSpPr/>
          <p:nvPr/>
        </p:nvSpPr>
        <p:spPr>
          <a:xfrm>
            <a:off x="685800" y="4160520"/>
            <a:ext cx="2084832" cy="310896"/>
          </a:xfrm>
          <a:prstGeom prst="roundRect">
            <a:avLst>
              <a:gd name="adj" fmla="val 50000"/>
            </a:avLst>
          </a:prstGeom>
          <a:solidFill>
            <a:srgbClr val="12272D"/>
          </a:solidFill>
          <a:ln w="12700">
            <a:solidFill>
              <a:srgbClr val="294047"/>
            </a:solidFill>
            <a:prstDash val="solid"/>
          </a:ln>
        </p:spPr>
      </p:sp>
      <p:sp>
        <p:nvSpPr>
          <p:cNvPr id="12" name="Shape 9"/>
          <p:cNvSpPr/>
          <p:nvPr/>
        </p:nvSpPr>
        <p:spPr>
          <a:xfrm>
            <a:off x="813816" y="4274820"/>
            <a:ext cx="82296" cy="82296"/>
          </a:xfrm>
          <a:prstGeom prst="ellipse">
            <a:avLst/>
          </a:prstGeom>
          <a:solidFill>
            <a:srgbClr val="59D5F6"/>
          </a:solidFill>
          <a:ln w="12700">
            <a:solidFill>
              <a:srgbClr val="59D5F6"/>
            </a:solidFill>
            <a:prstDash val="solid"/>
          </a:ln>
        </p:spPr>
      </p:sp>
      <p:sp>
        <p:nvSpPr>
          <p:cNvPr id="13" name="Text 10"/>
          <p:cNvSpPr/>
          <p:nvPr/>
        </p:nvSpPr>
        <p:spPr>
          <a:xfrm>
            <a:off x="978408" y="4206240"/>
            <a:ext cx="1700784" cy="219456"/>
          </a:xfrm>
          <a:prstGeom prst="rect">
            <a:avLst/>
          </a:prstGeom>
          <a:noFill/>
          <a:ln/>
        </p:spPr>
        <p:txBody>
          <a:bodyPr wrap="square" lIns="0" tIns="0" rIns="0" bIns="0" rtlCol="0" anchor="ctr">
            <a:normAutofit/>
          </a:bodyPr>
          <a:lstStyle/>
          <a:p>
            <a:pPr indent="0" marL="0">
              <a:buNone/>
            </a:pPr>
            <a:r>
              <a:rPr lang="en-US" sz="850" b="1" spc="20" kern="0" dirty="0">
                <a:solidFill>
                  <a:srgbClr val="F4F7F6"/>
                </a:solidFill>
                <a:latin typeface="Avenir Next" pitchFamily="34" charset="0"/>
                <a:ea typeface="Avenir Next" pitchFamily="34" charset="-122"/>
                <a:cs typeface="Avenir Next" pitchFamily="34" charset="-120"/>
              </a:rPr>
              <a:t>SCENARIO EXPLORATION</a:t>
            </a:r>
            <a:endParaRPr lang="en-US" sz="850" dirty="0"/>
          </a:p>
        </p:txBody>
      </p:sp>
      <p:sp>
        <p:nvSpPr>
          <p:cNvPr id="14" name="Shape 11"/>
          <p:cNvSpPr/>
          <p:nvPr/>
        </p:nvSpPr>
        <p:spPr>
          <a:xfrm>
            <a:off x="2880360" y="4160520"/>
            <a:ext cx="1938528" cy="310896"/>
          </a:xfrm>
          <a:prstGeom prst="roundRect">
            <a:avLst>
              <a:gd name="adj" fmla="val 50000"/>
            </a:avLst>
          </a:prstGeom>
          <a:solidFill>
            <a:srgbClr val="12272D"/>
          </a:solidFill>
          <a:ln w="12700">
            <a:solidFill>
              <a:srgbClr val="294047"/>
            </a:solidFill>
            <a:prstDash val="solid"/>
          </a:ln>
        </p:spPr>
      </p:sp>
      <p:sp>
        <p:nvSpPr>
          <p:cNvPr id="15" name="Shape 12"/>
          <p:cNvSpPr/>
          <p:nvPr/>
        </p:nvSpPr>
        <p:spPr>
          <a:xfrm>
            <a:off x="3008376" y="4274820"/>
            <a:ext cx="82296" cy="82296"/>
          </a:xfrm>
          <a:prstGeom prst="ellipse">
            <a:avLst/>
          </a:prstGeom>
          <a:solidFill>
            <a:srgbClr val="B784F5"/>
          </a:solidFill>
          <a:ln w="12700">
            <a:solidFill>
              <a:srgbClr val="B784F5"/>
            </a:solidFill>
            <a:prstDash val="solid"/>
          </a:ln>
        </p:spPr>
      </p:sp>
      <p:sp>
        <p:nvSpPr>
          <p:cNvPr id="16" name="Text 13"/>
          <p:cNvSpPr/>
          <p:nvPr/>
        </p:nvSpPr>
        <p:spPr>
          <a:xfrm>
            <a:off x="3172968" y="4206240"/>
            <a:ext cx="1554480" cy="219456"/>
          </a:xfrm>
          <a:prstGeom prst="rect">
            <a:avLst/>
          </a:prstGeom>
          <a:noFill/>
          <a:ln/>
        </p:spPr>
        <p:txBody>
          <a:bodyPr wrap="square" lIns="0" tIns="0" rIns="0" bIns="0" rtlCol="0" anchor="ctr">
            <a:normAutofit/>
          </a:bodyPr>
          <a:lstStyle/>
          <a:p>
            <a:pPr indent="0" marL="0">
              <a:buNone/>
            </a:pPr>
            <a:r>
              <a:rPr lang="en-US" sz="850" b="1" spc="20" kern="0" dirty="0">
                <a:solidFill>
                  <a:srgbClr val="F4F7F6"/>
                </a:solidFill>
                <a:latin typeface="Avenir Next" pitchFamily="34" charset="0"/>
                <a:ea typeface="Avenir Next" pitchFamily="34" charset="-122"/>
                <a:cs typeface="Avenir Next" pitchFamily="34" charset="-120"/>
              </a:rPr>
              <a:t>EXPLAINABLE MODEL</a:t>
            </a:r>
            <a:endParaRPr lang="en-US" sz="850" dirty="0"/>
          </a:p>
        </p:txBody>
      </p:sp>
      <p:sp>
        <p:nvSpPr>
          <p:cNvPr id="17" name="Shape 14"/>
          <p:cNvSpPr/>
          <p:nvPr/>
        </p:nvSpPr>
        <p:spPr>
          <a:xfrm>
            <a:off x="685800" y="4572000"/>
            <a:ext cx="2084832" cy="310896"/>
          </a:xfrm>
          <a:prstGeom prst="roundRect">
            <a:avLst>
              <a:gd name="adj" fmla="val 50000"/>
            </a:avLst>
          </a:prstGeom>
          <a:solidFill>
            <a:srgbClr val="12272D"/>
          </a:solidFill>
          <a:ln w="12700">
            <a:solidFill>
              <a:srgbClr val="294047"/>
            </a:solidFill>
            <a:prstDash val="solid"/>
          </a:ln>
        </p:spPr>
      </p:sp>
      <p:sp>
        <p:nvSpPr>
          <p:cNvPr id="18" name="Shape 15"/>
          <p:cNvSpPr/>
          <p:nvPr/>
        </p:nvSpPr>
        <p:spPr>
          <a:xfrm>
            <a:off x="813816" y="4686300"/>
            <a:ext cx="82296" cy="82296"/>
          </a:xfrm>
          <a:prstGeom prst="ellipse">
            <a:avLst/>
          </a:prstGeom>
          <a:solidFill>
            <a:srgbClr val="F4B85D"/>
          </a:solidFill>
          <a:ln w="12700">
            <a:solidFill>
              <a:srgbClr val="F4B85D"/>
            </a:solidFill>
            <a:prstDash val="solid"/>
          </a:ln>
        </p:spPr>
      </p:sp>
      <p:sp>
        <p:nvSpPr>
          <p:cNvPr id="19" name="Text 16"/>
          <p:cNvSpPr/>
          <p:nvPr/>
        </p:nvSpPr>
        <p:spPr>
          <a:xfrm>
            <a:off x="978408" y="4617720"/>
            <a:ext cx="1700784" cy="219456"/>
          </a:xfrm>
          <a:prstGeom prst="rect">
            <a:avLst/>
          </a:prstGeom>
          <a:noFill/>
          <a:ln/>
        </p:spPr>
        <p:txBody>
          <a:bodyPr wrap="square" lIns="0" tIns="0" rIns="0" bIns="0" rtlCol="0" anchor="ctr">
            <a:normAutofit/>
          </a:bodyPr>
          <a:lstStyle/>
          <a:p>
            <a:pPr indent="0" marL="0">
              <a:buNone/>
            </a:pPr>
            <a:r>
              <a:rPr lang="en-US" sz="850" b="1" spc="20" kern="0" dirty="0">
                <a:solidFill>
                  <a:srgbClr val="F4F7F6"/>
                </a:solidFill>
                <a:latin typeface="Avenir Next" pitchFamily="34" charset="0"/>
                <a:ea typeface="Avenir Next" pitchFamily="34" charset="-122"/>
                <a:cs typeface="Avenir Next" pitchFamily="34" charset="-120"/>
              </a:rPr>
              <a:t>OFFICIAL DUTCH DATA</a:t>
            </a:r>
            <a:endParaRPr lang="en-US" sz="850" dirty="0"/>
          </a:p>
        </p:txBody>
      </p:sp>
      <p:sp>
        <p:nvSpPr>
          <p:cNvPr id="20" name="Text 17"/>
          <p:cNvSpPr/>
          <p:nvPr/>
        </p:nvSpPr>
        <p:spPr>
          <a:xfrm>
            <a:off x="685800" y="6016752"/>
            <a:ext cx="4206240" cy="201168"/>
          </a:xfrm>
          <a:prstGeom prst="rect">
            <a:avLst/>
          </a:prstGeom>
          <a:noFill/>
          <a:ln/>
        </p:spPr>
        <p:txBody>
          <a:bodyPr wrap="square" lIns="0" tIns="0" rIns="0" bIns="0" rtlCol="0" anchor="ctr">
            <a:normAutofit/>
          </a:bodyPr>
          <a:lstStyle/>
          <a:p>
            <a:pPr indent="0" marL="0">
              <a:buNone/>
            </a:pPr>
            <a:r>
              <a:rPr lang="en-US" sz="950" dirty="0">
                <a:solidFill>
                  <a:srgbClr val="9BB0B5"/>
                </a:solidFill>
                <a:latin typeface="Avenir Next" pitchFamily="34" charset="0"/>
                <a:ea typeface="Avenir Next" pitchFamily="34" charset="-122"/>
                <a:cs typeface="Avenir Next" pitchFamily="34" charset="-120"/>
              </a:rPr>
              <a:t>Rik Stokmans  /  DisasterSimulator</a:t>
            </a:r>
            <a:endParaRPr lang="en-US" sz="950" dirty="0"/>
          </a:p>
        </p:txBody>
      </p:sp>
      <p:sp>
        <p:nvSpPr>
          <p:cNvPr id="21" name="Text 18">
            <a:hlinkClick r:id="rId2" tooltip=""/>
          </p:cNvPr>
          <p:cNvSpPr/>
          <p:nvPr/>
        </p:nvSpPr>
        <p:spPr>
          <a:xfrm>
            <a:off x="685800" y="6309360"/>
            <a:ext cx="4480560" cy="182880"/>
          </a:xfrm>
          <a:prstGeom prst="rect">
            <a:avLst/>
          </a:prstGeom>
          <a:noFill/>
          <a:ln/>
        </p:spPr>
        <p:txBody>
          <a:bodyPr wrap="square" lIns="0" tIns="0" rIns="0" bIns="0" rtlCol="0" anchor="ctr">
            <a:normAutofit/>
          </a:bodyPr>
          <a:lstStyle/>
          <a:p>
            <a:pPr indent="0" marL="0">
              <a:buNone/>
            </a:pPr>
            <a:r>
              <a:rPr lang="en-US" sz="820" u="sng" dirty="0">
                <a:solidFill>
                  <a:srgbClr val="65E2CB"/>
                </a:solidFill>
                <a:latin typeface="Avenir Next" pitchFamily="34" charset="0"/>
                <a:ea typeface="Avenir Next" pitchFamily="34" charset="-122"/>
                <a:cs typeface="Avenir Next"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github.com/Rik-Stokmans/DisasterSimulator</a:t>
            </a:r>
            <a:endParaRPr lang="en-US" sz="820" dirty="0"/>
          </a:p>
        </p:txBody>
      </p:sp>
      <p:sp>
        <p:nvSpPr>
          <p:cNvPr id="25" name="Slide Number Placeholder 0"/>
          <p:cNvSpPr>
            <a:spLocks noGrp="1"/>
          </p:cNvSpPr>
          <p:nvPr>
            <p:ph type="sldNum" sz="quarter" idx="4294967295"/>
          </p:nvPr>
        </p:nvSpPr>
        <p:spPr>
          <a:xfrm>
            <a:off x="11119104" y="6446520"/>
            <a:ext cx="475488"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8087"/>
                </a:solidFill>
                <a:latin typeface="Avenir Next"/>
                <a:ea typeface="Avenir Next"/>
                <a:cs typeface="Avenir Next"/>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216"/>
        </a:solidFill>
      </p:bgPr>
    </p:bg>
    <p:spTree>
      <p:nvGrpSpPr>
        <p:cNvPr id="1" name=""/>
        <p:cNvGrpSpPr/>
        <p:nvPr/>
      </p:nvGrpSpPr>
      <p:grpSpPr>
        <a:xfrm>
          <a:off x="0" y="0"/>
          <a:ext cx="0" cy="0"/>
          <a:chOff x="0" y="0"/>
          <a:chExt cx="0" cy="0"/>
        </a:xfrm>
      </p:grpSpPr>
      <p:sp>
        <p:nvSpPr>
          <p:cNvPr id="2" name="Text 0"/>
          <p:cNvSpPr/>
          <p:nvPr/>
        </p:nvSpPr>
        <p:spPr>
          <a:xfrm>
            <a:off x="594360" y="950976"/>
            <a:ext cx="2377440" cy="201168"/>
          </a:xfrm>
          <a:prstGeom prst="rect">
            <a:avLst/>
          </a:prstGeom>
          <a:noFill/>
          <a:ln/>
        </p:spPr>
        <p:txBody>
          <a:bodyPr wrap="square" lIns="0" tIns="0" rIns="0" bIns="0" rtlCol="0" anchor="ctr">
            <a:normAutofit/>
          </a:bodyPr>
          <a:lstStyle/>
          <a:p>
            <a:pPr indent="0" marL="0">
              <a:buNone/>
            </a:pPr>
            <a:r>
              <a:rPr lang="en-US" sz="900" b="1" spc="165" kern="0" dirty="0">
                <a:solidFill>
                  <a:srgbClr val="65E2CB"/>
                </a:solidFill>
                <a:latin typeface="Avenir Next" pitchFamily="34" charset="0"/>
                <a:ea typeface="Avenir Next" pitchFamily="34" charset="-122"/>
                <a:cs typeface="Avenir Next" pitchFamily="34" charset="-120"/>
              </a:rPr>
              <a:t>WHY</a:t>
            </a:r>
            <a:endParaRPr lang="en-US" sz="900" dirty="0"/>
          </a:p>
        </p:txBody>
      </p:sp>
      <p:sp>
        <p:nvSpPr>
          <p:cNvPr id="3" name="Text 1"/>
          <p:cNvSpPr/>
          <p:nvPr/>
        </p:nvSpPr>
        <p:spPr>
          <a:xfrm>
            <a:off x="594360" y="1188720"/>
            <a:ext cx="10972800" cy="566928"/>
          </a:xfrm>
          <a:prstGeom prst="rect">
            <a:avLst/>
          </a:prstGeom>
          <a:noFill/>
          <a:ln/>
        </p:spPr>
        <p:txBody>
          <a:bodyPr wrap="square" lIns="0" tIns="0" rIns="0" bIns="0" rtlCol="0" anchor="ctr">
            <a:normAutofit/>
          </a:bodyPr>
          <a:lstStyle/>
          <a:p>
            <a:pPr indent="0" marL="0">
              <a:buNone/>
            </a:pPr>
            <a:r>
              <a:rPr lang="en-US" sz="2900" b="1" dirty="0">
                <a:solidFill>
                  <a:srgbClr val="F4F7F6"/>
                </a:solidFill>
                <a:latin typeface="Avenir Next" pitchFamily="34" charset="0"/>
                <a:ea typeface="Avenir Next" pitchFamily="34" charset="-122"/>
                <a:cs typeface="Avenir Next" pitchFamily="34" charset="-120"/>
              </a:rPr>
              <a:t>A disaster is not one failure.</a:t>
            </a:r>
            <a:endParaRPr lang="en-US" sz="2900" dirty="0"/>
          </a:p>
        </p:txBody>
      </p:sp>
      <p:sp>
        <p:nvSpPr>
          <p:cNvPr id="4" name="Text 2"/>
          <p:cNvSpPr/>
          <p:nvPr/>
        </p:nvSpPr>
        <p:spPr>
          <a:xfrm>
            <a:off x="594360" y="1746504"/>
            <a:ext cx="10789920" cy="393192"/>
          </a:xfrm>
          <a:prstGeom prst="rect">
            <a:avLst/>
          </a:prstGeom>
          <a:noFill/>
          <a:ln/>
        </p:spPr>
        <p:txBody>
          <a:bodyPr wrap="square" lIns="0" tIns="0" rIns="0" bIns="0" rtlCol="0" anchor="ctr">
            <a:normAutofit/>
          </a:bodyPr>
          <a:lstStyle/>
          <a:p>
            <a:pPr indent="0" marL="0">
              <a:buNone/>
            </a:pPr>
            <a:r>
              <a:rPr lang="en-US" sz="1250" dirty="0">
                <a:solidFill>
                  <a:srgbClr val="9BB0B5"/>
                </a:solidFill>
                <a:latin typeface="Avenir Next" pitchFamily="34" charset="0"/>
                <a:ea typeface="Avenir Next" pitchFamily="34" charset="-122"/>
                <a:cs typeface="Avenir Next" pitchFamily="34" charset="-120"/>
              </a:rPr>
              <a:t>It is a sequence of dependencies, delays and constrained choices.</a:t>
            </a:r>
            <a:endParaRPr lang="en-US" sz="1250" dirty="0"/>
          </a:p>
        </p:txBody>
      </p:sp>
      <p:sp>
        <p:nvSpPr>
          <p:cNvPr id="5" name="Shape 3"/>
          <p:cNvSpPr/>
          <p:nvPr/>
        </p:nvSpPr>
        <p:spPr>
          <a:xfrm>
            <a:off x="640080" y="2423160"/>
            <a:ext cx="3401568" cy="2331720"/>
          </a:xfrm>
          <a:prstGeom prst="roundRect">
            <a:avLst>
              <a:gd name="adj" fmla="val 6275"/>
            </a:avLst>
          </a:prstGeom>
          <a:solidFill>
            <a:srgbClr val="0D1C21"/>
          </a:solidFill>
          <a:ln w="12700">
            <a:solidFill>
              <a:srgbClr val="294047"/>
            </a:solidFill>
            <a:prstDash val="solid"/>
          </a:ln>
        </p:spPr>
      </p:sp>
      <p:sp>
        <p:nvSpPr>
          <p:cNvPr id="6" name="Text 4"/>
          <p:cNvSpPr/>
          <p:nvPr/>
        </p:nvSpPr>
        <p:spPr>
          <a:xfrm>
            <a:off x="896112" y="2651760"/>
            <a:ext cx="566928" cy="320040"/>
          </a:xfrm>
          <a:prstGeom prst="rect">
            <a:avLst/>
          </a:prstGeom>
          <a:noFill/>
          <a:ln/>
        </p:spPr>
        <p:txBody>
          <a:bodyPr wrap="square" lIns="0" tIns="0" rIns="0" bIns="0" rtlCol="0" anchor="ctr">
            <a:normAutofit/>
          </a:bodyPr>
          <a:lstStyle/>
          <a:p>
            <a:pPr indent="0" marL="0">
              <a:buNone/>
            </a:pPr>
            <a:r>
              <a:rPr lang="en-US" sz="1900" b="1" dirty="0">
                <a:solidFill>
                  <a:srgbClr val="59D5F6"/>
                </a:solidFill>
                <a:latin typeface="Avenir Next" pitchFamily="34" charset="0"/>
                <a:ea typeface="Avenir Next" pitchFamily="34" charset="-122"/>
                <a:cs typeface="Avenir Next" pitchFamily="34" charset="-120"/>
              </a:rPr>
              <a:t>01</a:t>
            </a:r>
            <a:endParaRPr lang="en-US" sz="1900" dirty="0"/>
          </a:p>
        </p:txBody>
      </p:sp>
      <p:sp>
        <p:nvSpPr>
          <p:cNvPr id="7" name="Text 5"/>
          <p:cNvSpPr/>
          <p:nvPr/>
        </p:nvSpPr>
        <p:spPr>
          <a:xfrm>
            <a:off x="896112" y="3154680"/>
            <a:ext cx="2880360" cy="292608"/>
          </a:xfrm>
          <a:prstGeom prst="rect">
            <a:avLst/>
          </a:prstGeom>
          <a:noFill/>
          <a:ln/>
        </p:spPr>
        <p:txBody>
          <a:bodyPr wrap="square" lIns="0" tIns="0" rIns="0" bIns="0" rtlCol="0" anchor="ctr">
            <a:normAutofit/>
          </a:bodyPr>
          <a:lstStyle/>
          <a:p>
            <a:pPr indent="0" marL="0">
              <a:buNone/>
            </a:pPr>
            <a:r>
              <a:rPr lang="en-US" sz="1000" b="1" spc="105" kern="0" dirty="0">
                <a:solidFill>
                  <a:srgbClr val="59D5F6"/>
                </a:solidFill>
                <a:latin typeface="Avenir Next" pitchFamily="34" charset="0"/>
                <a:ea typeface="Avenir Next" pitchFamily="34" charset="-122"/>
                <a:cs typeface="Avenir Next" pitchFamily="34" charset="-120"/>
              </a:rPr>
              <a:t>INITIATING EVENT</a:t>
            </a:r>
            <a:endParaRPr lang="en-US" sz="1000" dirty="0"/>
          </a:p>
        </p:txBody>
      </p:sp>
      <p:sp>
        <p:nvSpPr>
          <p:cNvPr id="8" name="Text 6"/>
          <p:cNvSpPr/>
          <p:nvPr/>
        </p:nvSpPr>
        <p:spPr>
          <a:xfrm>
            <a:off x="896112" y="3584448"/>
            <a:ext cx="2880360" cy="777240"/>
          </a:xfrm>
          <a:prstGeom prst="rect">
            <a:avLst/>
          </a:prstGeom>
          <a:noFill/>
          <a:ln/>
        </p:spPr>
        <p:txBody>
          <a:bodyPr wrap="square" lIns="0" tIns="0" rIns="0" bIns="0" rtlCol="0" anchor="t">
            <a:normAutofit/>
          </a:bodyPr>
          <a:lstStyle/>
          <a:p>
            <a:pPr indent="0" marL="0">
              <a:buNone/>
            </a:pPr>
            <a:r>
              <a:rPr lang="en-US" sz="1300" dirty="0">
                <a:solidFill>
                  <a:srgbClr val="F4F7F6"/>
                </a:solidFill>
                <a:latin typeface="Avenir Next" pitchFamily="34" charset="0"/>
                <a:ea typeface="Avenir Next" pitchFamily="34" charset="-122"/>
                <a:cs typeface="Avenir Next" pitchFamily="34" charset="-120"/>
              </a:rPr>
              <a:t>Wind, water, heat, cyber, ground motion or fire</a:t>
            </a:r>
            <a:endParaRPr lang="en-US" sz="1300" dirty="0"/>
          </a:p>
        </p:txBody>
      </p:sp>
      <p:sp>
        <p:nvSpPr>
          <p:cNvPr id="9" name="Shape 7"/>
          <p:cNvSpPr/>
          <p:nvPr/>
        </p:nvSpPr>
        <p:spPr>
          <a:xfrm>
            <a:off x="4114800" y="3584448"/>
            <a:ext cx="256032" cy="0"/>
          </a:xfrm>
          <a:prstGeom prst="line">
            <a:avLst/>
          </a:prstGeom>
          <a:noFill/>
          <a:ln w="19050">
            <a:solidFill>
              <a:srgbClr val="65E2CB"/>
            </a:solidFill>
            <a:prstDash val="solid"/>
            <a:headEnd type="none"/>
            <a:tailEnd type="triangle"/>
          </a:ln>
        </p:spPr>
      </p:sp>
      <p:sp>
        <p:nvSpPr>
          <p:cNvPr id="10" name="Shape 8"/>
          <p:cNvSpPr/>
          <p:nvPr/>
        </p:nvSpPr>
        <p:spPr>
          <a:xfrm>
            <a:off x="4462272" y="2423160"/>
            <a:ext cx="3401568" cy="2331720"/>
          </a:xfrm>
          <a:prstGeom prst="roundRect">
            <a:avLst>
              <a:gd name="adj" fmla="val 6275"/>
            </a:avLst>
          </a:prstGeom>
          <a:solidFill>
            <a:srgbClr val="0D1C21"/>
          </a:solidFill>
          <a:ln w="12700">
            <a:solidFill>
              <a:srgbClr val="294047"/>
            </a:solidFill>
            <a:prstDash val="solid"/>
          </a:ln>
        </p:spPr>
      </p:sp>
      <p:sp>
        <p:nvSpPr>
          <p:cNvPr id="11" name="Text 9"/>
          <p:cNvSpPr/>
          <p:nvPr/>
        </p:nvSpPr>
        <p:spPr>
          <a:xfrm>
            <a:off x="4718304" y="2651760"/>
            <a:ext cx="566928" cy="320040"/>
          </a:xfrm>
          <a:prstGeom prst="rect">
            <a:avLst/>
          </a:prstGeom>
          <a:noFill/>
          <a:ln/>
        </p:spPr>
        <p:txBody>
          <a:bodyPr wrap="square" lIns="0" tIns="0" rIns="0" bIns="0" rtlCol="0" anchor="ctr">
            <a:normAutofit/>
          </a:bodyPr>
          <a:lstStyle/>
          <a:p>
            <a:pPr indent="0" marL="0">
              <a:buNone/>
            </a:pPr>
            <a:r>
              <a:rPr lang="en-US" sz="1900" b="1" dirty="0">
                <a:solidFill>
                  <a:srgbClr val="B784F5"/>
                </a:solidFill>
                <a:latin typeface="Avenir Next" pitchFamily="34" charset="0"/>
                <a:ea typeface="Avenir Next" pitchFamily="34" charset="-122"/>
                <a:cs typeface="Avenir Next" pitchFamily="34" charset="-120"/>
              </a:rPr>
              <a:t>02</a:t>
            </a:r>
            <a:endParaRPr lang="en-US" sz="1900" dirty="0"/>
          </a:p>
        </p:txBody>
      </p:sp>
      <p:sp>
        <p:nvSpPr>
          <p:cNvPr id="12" name="Text 10"/>
          <p:cNvSpPr/>
          <p:nvPr/>
        </p:nvSpPr>
        <p:spPr>
          <a:xfrm>
            <a:off x="4718304" y="3154680"/>
            <a:ext cx="2880360" cy="292608"/>
          </a:xfrm>
          <a:prstGeom prst="rect">
            <a:avLst/>
          </a:prstGeom>
          <a:noFill/>
          <a:ln/>
        </p:spPr>
        <p:txBody>
          <a:bodyPr wrap="square" lIns="0" tIns="0" rIns="0" bIns="0" rtlCol="0" anchor="ctr">
            <a:normAutofit/>
          </a:bodyPr>
          <a:lstStyle/>
          <a:p>
            <a:pPr indent="0" marL="0">
              <a:buNone/>
            </a:pPr>
            <a:r>
              <a:rPr lang="en-US" sz="1000" b="1" spc="105" kern="0" dirty="0">
                <a:solidFill>
                  <a:srgbClr val="B784F5"/>
                </a:solidFill>
                <a:latin typeface="Avenir Next" pitchFamily="34" charset="0"/>
                <a:ea typeface="Avenir Next" pitchFamily="34" charset="-122"/>
                <a:cs typeface="Avenir Next" pitchFamily="34" charset="-120"/>
              </a:rPr>
              <a:t>SERVICE CASCADE</a:t>
            </a:r>
            <a:endParaRPr lang="en-US" sz="1000" dirty="0"/>
          </a:p>
        </p:txBody>
      </p:sp>
      <p:sp>
        <p:nvSpPr>
          <p:cNvPr id="13" name="Text 11"/>
          <p:cNvSpPr/>
          <p:nvPr/>
        </p:nvSpPr>
        <p:spPr>
          <a:xfrm>
            <a:off x="4718304" y="3584448"/>
            <a:ext cx="2880360" cy="777240"/>
          </a:xfrm>
          <a:prstGeom prst="rect">
            <a:avLst/>
          </a:prstGeom>
          <a:noFill/>
          <a:ln/>
        </p:spPr>
        <p:txBody>
          <a:bodyPr wrap="square" lIns="0" tIns="0" rIns="0" bIns="0" rtlCol="0" anchor="t">
            <a:normAutofit/>
          </a:bodyPr>
          <a:lstStyle/>
          <a:p>
            <a:pPr indent="0" marL="0">
              <a:buNone/>
            </a:pPr>
            <a:r>
              <a:rPr lang="en-US" sz="1300" dirty="0">
                <a:solidFill>
                  <a:srgbClr val="F4F7F6"/>
                </a:solidFill>
                <a:latin typeface="Avenir Next" pitchFamily="34" charset="0"/>
                <a:ea typeface="Avenir Next" pitchFamily="34" charset="-122"/>
                <a:cs typeface="Avenir Next" pitchFamily="34" charset="-120"/>
              </a:rPr>
              <a:t>Power, telecom, water, mobility and supply degrade on different clocks</a:t>
            </a:r>
            <a:endParaRPr lang="en-US" sz="1300" dirty="0"/>
          </a:p>
        </p:txBody>
      </p:sp>
      <p:sp>
        <p:nvSpPr>
          <p:cNvPr id="14" name="Shape 12"/>
          <p:cNvSpPr/>
          <p:nvPr/>
        </p:nvSpPr>
        <p:spPr>
          <a:xfrm>
            <a:off x="7936992" y="3584448"/>
            <a:ext cx="256032" cy="0"/>
          </a:xfrm>
          <a:prstGeom prst="line">
            <a:avLst/>
          </a:prstGeom>
          <a:noFill/>
          <a:ln w="19050">
            <a:solidFill>
              <a:srgbClr val="65E2CB"/>
            </a:solidFill>
            <a:prstDash val="solid"/>
            <a:headEnd type="none"/>
            <a:tailEnd type="triangle"/>
          </a:ln>
        </p:spPr>
      </p:sp>
      <p:sp>
        <p:nvSpPr>
          <p:cNvPr id="15" name="Shape 13"/>
          <p:cNvSpPr/>
          <p:nvPr/>
        </p:nvSpPr>
        <p:spPr>
          <a:xfrm>
            <a:off x="8284464" y="2423160"/>
            <a:ext cx="3401568" cy="2331720"/>
          </a:xfrm>
          <a:prstGeom prst="roundRect">
            <a:avLst>
              <a:gd name="adj" fmla="val 6275"/>
            </a:avLst>
          </a:prstGeom>
          <a:solidFill>
            <a:srgbClr val="0D1C21"/>
          </a:solidFill>
          <a:ln w="12700">
            <a:solidFill>
              <a:srgbClr val="294047"/>
            </a:solidFill>
            <a:prstDash val="solid"/>
          </a:ln>
        </p:spPr>
      </p:sp>
      <p:sp>
        <p:nvSpPr>
          <p:cNvPr id="16" name="Text 14"/>
          <p:cNvSpPr/>
          <p:nvPr/>
        </p:nvSpPr>
        <p:spPr>
          <a:xfrm>
            <a:off x="8540496" y="2651760"/>
            <a:ext cx="566928" cy="320040"/>
          </a:xfrm>
          <a:prstGeom prst="rect">
            <a:avLst/>
          </a:prstGeom>
          <a:noFill/>
          <a:ln/>
        </p:spPr>
        <p:txBody>
          <a:bodyPr wrap="square" lIns="0" tIns="0" rIns="0" bIns="0" rtlCol="0" anchor="ctr">
            <a:normAutofit/>
          </a:bodyPr>
          <a:lstStyle/>
          <a:p>
            <a:pPr indent="0" marL="0">
              <a:buNone/>
            </a:pPr>
            <a:r>
              <a:rPr lang="en-US" sz="1900" b="1" dirty="0">
                <a:solidFill>
                  <a:srgbClr val="F56F7C"/>
                </a:solidFill>
                <a:latin typeface="Avenir Next" pitchFamily="34" charset="0"/>
                <a:ea typeface="Avenir Next" pitchFamily="34" charset="-122"/>
                <a:cs typeface="Avenir Next" pitchFamily="34" charset="-120"/>
              </a:rPr>
              <a:t>03</a:t>
            </a:r>
            <a:endParaRPr lang="en-US" sz="1900" dirty="0"/>
          </a:p>
        </p:txBody>
      </p:sp>
      <p:sp>
        <p:nvSpPr>
          <p:cNvPr id="17" name="Text 15"/>
          <p:cNvSpPr/>
          <p:nvPr/>
        </p:nvSpPr>
        <p:spPr>
          <a:xfrm>
            <a:off x="8540496" y="3154680"/>
            <a:ext cx="2880360" cy="292608"/>
          </a:xfrm>
          <a:prstGeom prst="rect">
            <a:avLst/>
          </a:prstGeom>
          <a:noFill/>
          <a:ln/>
        </p:spPr>
        <p:txBody>
          <a:bodyPr wrap="square" lIns="0" tIns="0" rIns="0" bIns="0" rtlCol="0" anchor="ctr">
            <a:normAutofit/>
          </a:bodyPr>
          <a:lstStyle/>
          <a:p>
            <a:pPr indent="0" marL="0">
              <a:buNone/>
            </a:pPr>
            <a:r>
              <a:rPr lang="en-US" sz="1000" b="1" spc="105" kern="0" dirty="0">
                <a:solidFill>
                  <a:srgbClr val="F56F7C"/>
                </a:solidFill>
                <a:latin typeface="Avenir Next" pitchFamily="34" charset="0"/>
                <a:ea typeface="Avenir Next" pitchFamily="34" charset="-122"/>
                <a:cs typeface="Avenir Next" pitchFamily="34" charset="-120"/>
              </a:rPr>
              <a:t>HUMAN PRESSURE</a:t>
            </a:r>
            <a:endParaRPr lang="en-US" sz="1000" dirty="0"/>
          </a:p>
        </p:txBody>
      </p:sp>
      <p:sp>
        <p:nvSpPr>
          <p:cNvPr id="18" name="Text 16"/>
          <p:cNvSpPr/>
          <p:nvPr/>
        </p:nvSpPr>
        <p:spPr>
          <a:xfrm>
            <a:off x="8540496" y="3584448"/>
            <a:ext cx="2880360" cy="777240"/>
          </a:xfrm>
          <a:prstGeom prst="rect">
            <a:avLst/>
          </a:prstGeom>
          <a:noFill/>
          <a:ln/>
        </p:spPr>
        <p:txBody>
          <a:bodyPr wrap="square" lIns="0" tIns="0" rIns="0" bIns="0" rtlCol="0" anchor="t">
            <a:normAutofit/>
          </a:bodyPr>
          <a:lstStyle/>
          <a:p>
            <a:pPr indent="0" marL="0">
              <a:buNone/>
            </a:pPr>
            <a:r>
              <a:rPr lang="en-US" sz="1300" dirty="0">
                <a:solidFill>
                  <a:srgbClr val="F4F7F6"/>
                </a:solidFill>
                <a:latin typeface="Avenir Next" pitchFamily="34" charset="0"/>
                <a:ea typeface="Avenir Next" pitchFamily="34" charset="-122"/>
                <a:cs typeface="Avenir Next" pitchFamily="34" charset="-120"/>
              </a:rPr>
              <a:t>Consequences emerge from duration, geography and response—not severity alone</a:t>
            </a:r>
            <a:endParaRPr lang="en-US" sz="1300" dirty="0"/>
          </a:p>
        </p:txBody>
      </p:sp>
      <p:sp>
        <p:nvSpPr>
          <p:cNvPr id="19" name="Shape 17"/>
          <p:cNvSpPr/>
          <p:nvPr/>
        </p:nvSpPr>
        <p:spPr>
          <a:xfrm>
            <a:off x="640080" y="5175504"/>
            <a:ext cx="10927080" cy="749808"/>
          </a:xfrm>
          <a:prstGeom prst="roundRect">
            <a:avLst>
              <a:gd name="adj" fmla="val 17073"/>
            </a:avLst>
          </a:prstGeom>
          <a:solidFill>
            <a:srgbClr val="12272D"/>
          </a:solidFill>
          <a:ln w="12700">
            <a:solidFill>
              <a:srgbClr val="294047"/>
            </a:solidFill>
            <a:prstDash val="solid"/>
          </a:ln>
        </p:spPr>
      </p:sp>
      <p:sp>
        <p:nvSpPr>
          <p:cNvPr id="20" name="Text 18"/>
          <p:cNvSpPr/>
          <p:nvPr/>
        </p:nvSpPr>
        <p:spPr>
          <a:xfrm>
            <a:off x="896112" y="5413248"/>
            <a:ext cx="1234440" cy="219456"/>
          </a:xfrm>
          <a:prstGeom prst="rect">
            <a:avLst/>
          </a:prstGeom>
          <a:noFill/>
          <a:ln/>
        </p:spPr>
        <p:txBody>
          <a:bodyPr wrap="square" lIns="0" tIns="0" rIns="0" bIns="0" rtlCol="0" anchor="ctr">
            <a:normAutofit/>
          </a:bodyPr>
          <a:lstStyle/>
          <a:p>
            <a:pPr indent="0" marL="0">
              <a:buNone/>
            </a:pPr>
            <a:r>
              <a:rPr lang="en-US" sz="920" b="1" spc="110" kern="0" dirty="0">
                <a:solidFill>
                  <a:srgbClr val="65E2CB"/>
                </a:solidFill>
                <a:latin typeface="Avenir Next" pitchFamily="34" charset="0"/>
                <a:ea typeface="Avenir Next" pitchFamily="34" charset="-122"/>
                <a:cs typeface="Avenir Next" pitchFamily="34" charset="-120"/>
              </a:rPr>
              <a:t>CORE QUESTION</a:t>
            </a:r>
            <a:endParaRPr lang="en-US" sz="920" dirty="0"/>
          </a:p>
        </p:txBody>
      </p:sp>
      <p:sp>
        <p:nvSpPr>
          <p:cNvPr id="21" name="Text 19"/>
          <p:cNvSpPr/>
          <p:nvPr/>
        </p:nvSpPr>
        <p:spPr>
          <a:xfrm>
            <a:off x="2313432" y="5340096"/>
            <a:ext cx="8823960" cy="347472"/>
          </a:xfrm>
          <a:prstGeom prst="rect">
            <a:avLst/>
          </a:prstGeom>
          <a:noFill/>
          <a:ln/>
        </p:spPr>
        <p:txBody>
          <a:bodyPr wrap="square" lIns="0" tIns="0" rIns="0" bIns="0" rtlCol="0" anchor="ctr">
            <a:normAutofit/>
          </a:bodyPr>
          <a:lstStyle/>
          <a:p>
            <a:pPr indent="0" marL="0">
              <a:buNone/>
            </a:pPr>
            <a:r>
              <a:rPr lang="en-US" sz="1700" b="1" dirty="0">
                <a:solidFill>
                  <a:srgbClr val="F4F7F6"/>
                </a:solidFill>
                <a:latin typeface="Avenir Next" pitchFamily="34" charset="0"/>
                <a:ea typeface="Avenir Next" pitchFamily="34" charset="-122"/>
                <a:cs typeface="Avenir Next" pitchFamily="34" charset="-120"/>
              </a:rPr>
              <a:t>How does the system evolve—and which intervention changes the outcome?</a:t>
            </a:r>
            <a:endParaRPr lang="en-US" sz="1700" dirty="0"/>
          </a:p>
        </p:txBody>
      </p:sp>
      <p:sp>
        <p:nvSpPr>
          <p:cNvPr id="23" name="Shape 20"/>
          <p:cNvSpPr/>
          <p:nvPr/>
        </p:nvSpPr>
        <p:spPr>
          <a:xfrm>
            <a:off x="502920" y="292608"/>
            <a:ext cx="310896" cy="310896"/>
          </a:xfrm>
          <a:prstGeom prst="ellipse">
            <a:avLst/>
          </a:prstGeom>
          <a:solidFill>
            <a:srgbClr val="12272D"/>
          </a:solidFill>
          <a:ln w="12700">
            <a:solidFill>
              <a:srgbClr val="65E2CB"/>
            </a:solidFill>
            <a:prstDash val="solid"/>
          </a:ln>
        </p:spPr>
      </p:sp>
      <p:sp>
        <p:nvSpPr>
          <p:cNvPr id="24" name="Shape 21"/>
          <p:cNvSpPr/>
          <p:nvPr/>
        </p:nvSpPr>
        <p:spPr>
          <a:xfrm>
            <a:off x="597103" y="374904"/>
            <a:ext cx="118872" cy="118872"/>
          </a:xfrm>
          <a:prstGeom prst="ellipse">
            <a:avLst/>
          </a:prstGeom>
          <a:solidFill>
            <a:srgbClr val="071216"/>
          </a:solidFill>
          <a:ln w="12700">
            <a:solidFill>
              <a:srgbClr val="65E2CB"/>
            </a:solidFill>
            <a:prstDash val="solid"/>
          </a:ln>
        </p:spPr>
      </p:sp>
      <p:sp>
        <p:nvSpPr>
          <p:cNvPr id="25" name="Shape 22"/>
          <p:cNvSpPr/>
          <p:nvPr/>
        </p:nvSpPr>
        <p:spPr>
          <a:xfrm>
            <a:off x="658368" y="356616"/>
            <a:ext cx="0" cy="182880"/>
          </a:xfrm>
          <a:prstGeom prst="line">
            <a:avLst/>
          </a:prstGeom>
          <a:noFill/>
          <a:ln w="15240">
            <a:solidFill>
              <a:srgbClr val="65E2CB"/>
            </a:solidFill>
            <a:prstDash val="solid"/>
            <a:headEnd type="none"/>
            <a:tailEnd type="none"/>
          </a:ln>
        </p:spPr>
      </p:sp>
      <p:sp>
        <p:nvSpPr>
          <p:cNvPr id="26" name="Text 23"/>
          <p:cNvSpPr/>
          <p:nvPr/>
        </p:nvSpPr>
        <p:spPr>
          <a:xfrm>
            <a:off x="896112" y="310896"/>
            <a:ext cx="2011680" cy="201168"/>
          </a:xfrm>
          <a:prstGeom prst="rect">
            <a:avLst/>
          </a:prstGeom>
          <a:noFill/>
          <a:ln/>
        </p:spPr>
        <p:txBody>
          <a:bodyPr wrap="square" lIns="0" tIns="0" rIns="0" bIns="0" rtlCol="0" anchor="ctr">
            <a:normAutofit/>
          </a:bodyPr>
          <a:lstStyle/>
          <a:p>
            <a:pPr indent="0" marL="0">
              <a:buNone/>
            </a:pPr>
            <a:r>
              <a:rPr lang="en-US" sz="900" b="1" spc="140" kern="0" dirty="0">
                <a:solidFill>
                  <a:srgbClr val="9BB0B5"/>
                </a:solidFill>
                <a:latin typeface="Avenir Next" pitchFamily="34" charset="0"/>
                <a:ea typeface="Avenir Next" pitchFamily="34" charset="-122"/>
                <a:cs typeface="Avenir Next" pitchFamily="34" charset="-120"/>
              </a:rPr>
              <a:t>NL RESILIENCE LAB</a:t>
            </a:r>
            <a:endParaRPr lang="en-US" sz="900" dirty="0"/>
          </a:p>
        </p:txBody>
      </p:sp>
      <p:sp>
        <p:nvSpPr>
          <p:cNvPr id="27" name="Text 24"/>
          <p:cNvSpPr/>
          <p:nvPr/>
        </p:nvSpPr>
        <p:spPr>
          <a:xfrm>
            <a:off x="9052560" y="310896"/>
            <a:ext cx="2514600" cy="201168"/>
          </a:xfrm>
          <a:prstGeom prst="rect">
            <a:avLst/>
          </a:prstGeom>
          <a:noFill/>
          <a:ln/>
        </p:spPr>
        <p:txBody>
          <a:bodyPr wrap="square" lIns="0" tIns="0" rIns="0" bIns="0" rtlCol="0" anchor="ctr">
            <a:normAutofit/>
          </a:bodyPr>
          <a:lstStyle/>
          <a:p>
            <a:pPr algn="r" indent="0" marL="0">
              <a:buNone/>
            </a:pPr>
            <a:r>
              <a:rPr lang="en-US" sz="850" b="1" spc="125" kern="0" dirty="0">
                <a:solidFill>
                  <a:srgbClr val="688087"/>
                </a:solidFill>
                <a:latin typeface="Avenir Next" pitchFamily="34" charset="0"/>
                <a:ea typeface="Avenir Next" pitchFamily="34" charset="-122"/>
                <a:cs typeface="Avenir Next" pitchFamily="34" charset="-120"/>
              </a:rPr>
              <a:t>PROBLEM FRAMING</a:t>
            </a:r>
            <a:endParaRPr lang="en-US" sz="850" dirty="0"/>
          </a:p>
        </p:txBody>
      </p:sp>
      <p:sp>
        <p:nvSpPr>
          <p:cNvPr id="28" name="Shape 25"/>
          <p:cNvSpPr/>
          <p:nvPr/>
        </p:nvSpPr>
        <p:spPr>
          <a:xfrm>
            <a:off x="502920" y="749808"/>
            <a:ext cx="10680192" cy="0"/>
          </a:xfrm>
          <a:prstGeom prst="line">
            <a:avLst/>
          </a:prstGeom>
          <a:noFill/>
          <a:ln w="8890">
            <a:solidFill>
              <a:srgbClr val="294047"/>
            </a:solidFill>
            <a:prstDash val="solid"/>
            <a:headEnd type="none"/>
            <a:tailEnd type="none"/>
          </a:ln>
        </p:spPr>
      </p:sp>
      <p:sp>
        <p:nvSpPr>
          <p:cNvPr id="25" name="Slide Number Placeholder 0"/>
          <p:cNvSpPr>
            <a:spLocks noGrp="1"/>
          </p:cNvSpPr>
          <p:nvPr>
            <p:ph type="sldNum" sz="quarter" idx="4294967295"/>
          </p:nvPr>
        </p:nvSpPr>
        <p:spPr>
          <a:xfrm>
            <a:off x="11119104" y="6446520"/>
            <a:ext cx="475488"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8087"/>
                </a:solidFill>
                <a:latin typeface="Avenir Next"/>
                <a:ea typeface="Avenir Next"/>
                <a:cs typeface="Avenir Next"/>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216"/>
        </a:solidFill>
      </p:bgPr>
    </p:bg>
    <p:spTree>
      <p:nvGrpSpPr>
        <p:cNvPr id="1" name=""/>
        <p:cNvGrpSpPr/>
        <p:nvPr/>
      </p:nvGrpSpPr>
      <p:grpSpPr>
        <a:xfrm>
          <a:off x="0" y="0"/>
          <a:ext cx="0" cy="0"/>
          <a:chOff x="0" y="0"/>
          <a:chExt cx="0" cy="0"/>
        </a:xfrm>
      </p:grpSpPr>
      <p:sp>
        <p:nvSpPr>
          <p:cNvPr id="2" name="Text 0"/>
          <p:cNvSpPr/>
          <p:nvPr/>
        </p:nvSpPr>
        <p:spPr>
          <a:xfrm>
            <a:off x="594360" y="950976"/>
            <a:ext cx="2377440" cy="201168"/>
          </a:xfrm>
          <a:prstGeom prst="rect">
            <a:avLst/>
          </a:prstGeom>
          <a:noFill/>
          <a:ln/>
        </p:spPr>
        <p:txBody>
          <a:bodyPr wrap="square" lIns="0" tIns="0" rIns="0" bIns="0" rtlCol="0" anchor="ctr">
            <a:normAutofit/>
          </a:bodyPr>
          <a:lstStyle/>
          <a:p>
            <a:pPr indent="0" marL="0">
              <a:buNone/>
            </a:pPr>
            <a:r>
              <a:rPr lang="en-US" sz="900" b="1" spc="165" kern="0" dirty="0">
                <a:solidFill>
                  <a:srgbClr val="65E2CB"/>
                </a:solidFill>
                <a:latin typeface="Avenir Next" pitchFamily="34" charset="0"/>
                <a:ea typeface="Avenir Next" pitchFamily="34" charset="-122"/>
                <a:cs typeface="Avenir Next" pitchFamily="34" charset="-120"/>
              </a:rPr>
              <a:t>OVERVIEW</a:t>
            </a:r>
            <a:endParaRPr lang="en-US" sz="900" dirty="0"/>
          </a:p>
        </p:txBody>
      </p:sp>
      <p:sp>
        <p:nvSpPr>
          <p:cNvPr id="3" name="Text 1"/>
          <p:cNvSpPr/>
          <p:nvPr/>
        </p:nvSpPr>
        <p:spPr>
          <a:xfrm>
            <a:off x="594360" y="1188720"/>
            <a:ext cx="10972800" cy="566928"/>
          </a:xfrm>
          <a:prstGeom prst="rect">
            <a:avLst/>
          </a:prstGeom>
          <a:noFill/>
          <a:ln/>
        </p:spPr>
        <p:txBody>
          <a:bodyPr wrap="square" lIns="0" tIns="0" rIns="0" bIns="0" rtlCol="0" anchor="ctr">
            <a:normAutofit/>
          </a:bodyPr>
          <a:lstStyle/>
          <a:p>
            <a:pPr indent="0" marL="0">
              <a:buNone/>
            </a:pPr>
            <a:r>
              <a:rPr lang="en-US" sz="2900" b="1" dirty="0">
                <a:solidFill>
                  <a:srgbClr val="F4F7F6"/>
                </a:solidFill>
                <a:latin typeface="Avenir Next" pitchFamily="34" charset="0"/>
                <a:ea typeface="Avenir Next" pitchFamily="34" charset="-122"/>
                <a:cs typeface="Avenir Next" pitchFamily="34" charset="-120"/>
              </a:rPr>
              <a:t>The simulator at a glance</a:t>
            </a:r>
            <a:endParaRPr lang="en-US" sz="2900" dirty="0"/>
          </a:p>
        </p:txBody>
      </p:sp>
      <p:sp>
        <p:nvSpPr>
          <p:cNvPr id="4" name="Text 2"/>
          <p:cNvSpPr/>
          <p:nvPr/>
        </p:nvSpPr>
        <p:spPr>
          <a:xfrm>
            <a:off x="594360" y="1746504"/>
            <a:ext cx="10789920" cy="393192"/>
          </a:xfrm>
          <a:prstGeom prst="rect">
            <a:avLst/>
          </a:prstGeom>
          <a:noFill/>
          <a:ln/>
        </p:spPr>
        <p:txBody>
          <a:bodyPr wrap="square" lIns="0" tIns="0" rIns="0" bIns="0" rtlCol="0" anchor="ctr">
            <a:normAutofit/>
          </a:bodyPr>
          <a:lstStyle/>
          <a:p>
            <a:pPr indent="0" marL="0">
              <a:buNone/>
            </a:pPr>
            <a:r>
              <a:rPr lang="en-US" sz="1250" dirty="0">
                <a:solidFill>
                  <a:srgbClr val="9BB0B5"/>
                </a:solidFill>
                <a:latin typeface="Avenir Next" pitchFamily="34" charset="0"/>
                <a:ea typeface="Avenir Next" pitchFamily="34" charset="-122"/>
                <a:cs typeface="Avenir Next" pitchFamily="34" charset="-120"/>
              </a:rPr>
              <a:t>A national model that stays inspectable down to municipality and CBS neighbourhood scale.</a:t>
            </a:r>
            <a:endParaRPr lang="en-US" sz="1250" dirty="0"/>
          </a:p>
        </p:txBody>
      </p:sp>
      <p:sp>
        <p:nvSpPr>
          <p:cNvPr id="5" name="Shape 3"/>
          <p:cNvSpPr/>
          <p:nvPr/>
        </p:nvSpPr>
        <p:spPr>
          <a:xfrm>
            <a:off x="640080" y="2395728"/>
            <a:ext cx="1664208" cy="1042416"/>
          </a:xfrm>
          <a:prstGeom prst="roundRect">
            <a:avLst>
              <a:gd name="adj" fmla="val 11404"/>
            </a:avLst>
          </a:prstGeom>
          <a:solidFill>
            <a:srgbClr val="0D1C21"/>
          </a:solidFill>
          <a:ln w="12700">
            <a:solidFill>
              <a:srgbClr val="294047"/>
            </a:solidFill>
            <a:prstDash val="solid"/>
          </a:ln>
        </p:spPr>
      </p:sp>
      <p:sp>
        <p:nvSpPr>
          <p:cNvPr id="6" name="Text 4"/>
          <p:cNvSpPr/>
          <p:nvPr/>
        </p:nvSpPr>
        <p:spPr>
          <a:xfrm>
            <a:off x="804672" y="2542032"/>
            <a:ext cx="1335024" cy="420624"/>
          </a:xfrm>
          <a:prstGeom prst="rect">
            <a:avLst/>
          </a:prstGeom>
          <a:noFill/>
          <a:ln/>
        </p:spPr>
        <p:txBody>
          <a:bodyPr wrap="square" lIns="0" tIns="0" rIns="0" bIns="0" rtlCol="0" anchor="ctr">
            <a:normAutofit/>
          </a:bodyPr>
          <a:lstStyle/>
          <a:p>
            <a:pPr indent="0" marL="0">
              <a:buNone/>
            </a:pPr>
            <a:r>
              <a:rPr lang="en-US" sz="2300" b="1" dirty="0">
                <a:solidFill>
                  <a:srgbClr val="65E2CB"/>
                </a:solidFill>
                <a:latin typeface="Avenir Next" pitchFamily="34" charset="0"/>
                <a:ea typeface="Avenir Next" pitchFamily="34" charset="-122"/>
                <a:cs typeface="Avenir Next" pitchFamily="34" charset="-120"/>
              </a:rPr>
              <a:t>342</a:t>
            </a:r>
            <a:endParaRPr lang="en-US" sz="2300" dirty="0"/>
          </a:p>
        </p:txBody>
      </p:sp>
      <p:sp>
        <p:nvSpPr>
          <p:cNvPr id="7" name="Text 5"/>
          <p:cNvSpPr/>
          <p:nvPr/>
        </p:nvSpPr>
        <p:spPr>
          <a:xfrm>
            <a:off x="804672" y="3054096"/>
            <a:ext cx="1344168" cy="219456"/>
          </a:xfrm>
          <a:prstGeom prst="rect">
            <a:avLst/>
          </a:prstGeom>
          <a:noFill/>
          <a:ln/>
        </p:spPr>
        <p:txBody>
          <a:bodyPr wrap="square" lIns="0" tIns="0" rIns="0" bIns="0" rtlCol="0" anchor="ctr">
            <a:normAutofit/>
          </a:bodyPr>
          <a:lstStyle/>
          <a:p>
            <a:pPr indent="0" marL="0">
              <a:buNone/>
            </a:pPr>
            <a:r>
              <a:rPr lang="en-US" sz="780" b="1" spc="85" kern="0" dirty="0">
                <a:solidFill>
                  <a:srgbClr val="9BB0B5"/>
                </a:solidFill>
                <a:latin typeface="Avenir Next" pitchFamily="34" charset="0"/>
                <a:ea typeface="Avenir Next" pitchFamily="34" charset="-122"/>
                <a:cs typeface="Avenir Next" pitchFamily="34" charset="-120"/>
              </a:rPr>
              <a:t>MUNICIPALITIES</a:t>
            </a:r>
            <a:endParaRPr lang="en-US" sz="780" dirty="0"/>
          </a:p>
        </p:txBody>
      </p:sp>
      <p:sp>
        <p:nvSpPr>
          <p:cNvPr id="8" name="Shape 6"/>
          <p:cNvSpPr/>
          <p:nvPr/>
        </p:nvSpPr>
        <p:spPr>
          <a:xfrm>
            <a:off x="2523744" y="2395728"/>
            <a:ext cx="1664208" cy="1042416"/>
          </a:xfrm>
          <a:prstGeom prst="roundRect">
            <a:avLst>
              <a:gd name="adj" fmla="val 11404"/>
            </a:avLst>
          </a:prstGeom>
          <a:solidFill>
            <a:srgbClr val="0D1C21"/>
          </a:solidFill>
          <a:ln w="12700">
            <a:solidFill>
              <a:srgbClr val="294047"/>
            </a:solidFill>
            <a:prstDash val="solid"/>
          </a:ln>
        </p:spPr>
      </p:sp>
      <p:sp>
        <p:nvSpPr>
          <p:cNvPr id="9" name="Text 7"/>
          <p:cNvSpPr/>
          <p:nvPr/>
        </p:nvSpPr>
        <p:spPr>
          <a:xfrm>
            <a:off x="2688336" y="2542032"/>
            <a:ext cx="1335024" cy="420624"/>
          </a:xfrm>
          <a:prstGeom prst="rect">
            <a:avLst/>
          </a:prstGeom>
          <a:noFill/>
          <a:ln/>
        </p:spPr>
        <p:txBody>
          <a:bodyPr wrap="square" lIns="0" tIns="0" rIns="0" bIns="0" rtlCol="0" anchor="ctr">
            <a:normAutofit/>
          </a:bodyPr>
          <a:lstStyle/>
          <a:p>
            <a:pPr indent="0" marL="0">
              <a:buNone/>
            </a:pPr>
            <a:r>
              <a:rPr lang="en-US" sz="2300" b="1" dirty="0">
                <a:solidFill>
                  <a:srgbClr val="59D5F6"/>
                </a:solidFill>
                <a:latin typeface="Avenir Next" pitchFamily="34" charset="0"/>
                <a:ea typeface="Avenir Next" pitchFamily="34" charset="-122"/>
                <a:cs typeface="Avenir Next" pitchFamily="34" charset="-120"/>
              </a:rPr>
              <a:t>72 h</a:t>
            </a:r>
            <a:endParaRPr lang="en-US" sz="2300" dirty="0"/>
          </a:p>
        </p:txBody>
      </p:sp>
      <p:sp>
        <p:nvSpPr>
          <p:cNvPr id="10" name="Text 8"/>
          <p:cNvSpPr/>
          <p:nvPr/>
        </p:nvSpPr>
        <p:spPr>
          <a:xfrm>
            <a:off x="2688336" y="3054096"/>
            <a:ext cx="1344168" cy="219456"/>
          </a:xfrm>
          <a:prstGeom prst="rect">
            <a:avLst/>
          </a:prstGeom>
          <a:noFill/>
          <a:ln/>
        </p:spPr>
        <p:txBody>
          <a:bodyPr wrap="square" lIns="0" tIns="0" rIns="0" bIns="0" rtlCol="0" anchor="ctr">
            <a:normAutofit/>
          </a:bodyPr>
          <a:lstStyle/>
          <a:p>
            <a:pPr indent="0" marL="0">
              <a:buNone/>
            </a:pPr>
            <a:r>
              <a:rPr lang="en-US" sz="780" b="1" spc="85" kern="0" dirty="0">
                <a:solidFill>
                  <a:srgbClr val="9BB0B5"/>
                </a:solidFill>
                <a:latin typeface="Avenir Next" pitchFamily="34" charset="0"/>
                <a:ea typeface="Avenir Next" pitchFamily="34" charset="-122"/>
                <a:cs typeface="Avenir Next" pitchFamily="34" charset="-120"/>
              </a:rPr>
              <a:t>SIMULATION WINDOW</a:t>
            </a:r>
            <a:endParaRPr lang="en-US" sz="780" dirty="0"/>
          </a:p>
        </p:txBody>
      </p:sp>
      <p:sp>
        <p:nvSpPr>
          <p:cNvPr id="11" name="Shape 9"/>
          <p:cNvSpPr/>
          <p:nvPr/>
        </p:nvSpPr>
        <p:spPr>
          <a:xfrm>
            <a:off x="4407408" y="2395728"/>
            <a:ext cx="1664208" cy="1042416"/>
          </a:xfrm>
          <a:prstGeom prst="roundRect">
            <a:avLst>
              <a:gd name="adj" fmla="val 11404"/>
            </a:avLst>
          </a:prstGeom>
          <a:solidFill>
            <a:srgbClr val="0D1C21"/>
          </a:solidFill>
          <a:ln w="12700">
            <a:solidFill>
              <a:srgbClr val="294047"/>
            </a:solidFill>
            <a:prstDash val="solid"/>
          </a:ln>
        </p:spPr>
      </p:sp>
      <p:sp>
        <p:nvSpPr>
          <p:cNvPr id="12" name="Text 10"/>
          <p:cNvSpPr/>
          <p:nvPr/>
        </p:nvSpPr>
        <p:spPr>
          <a:xfrm>
            <a:off x="4572000" y="2542032"/>
            <a:ext cx="1335024" cy="420624"/>
          </a:xfrm>
          <a:prstGeom prst="rect">
            <a:avLst/>
          </a:prstGeom>
          <a:noFill/>
          <a:ln/>
        </p:spPr>
        <p:txBody>
          <a:bodyPr wrap="square" lIns="0" tIns="0" rIns="0" bIns="0" rtlCol="0" anchor="ctr">
            <a:normAutofit/>
          </a:bodyPr>
          <a:lstStyle/>
          <a:p>
            <a:pPr indent="0" marL="0">
              <a:buNone/>
            </a:pPr>
            <a:r>
              <a:rPr lang="en-US" sz="2300" b="1" dirty="0">
                <a:solidFill>
                  <a:srgbClr val="B784F5"/>
                </a:solidFill>
                <a:latin typeface="Avenir Next" pitchFamily="34" charset="0"/>
                <a:ea typeface="Avenir Next" pitchFamily="34" charset="-122"/>
                <a:cs typeface="Avenir Next" pitchFamily="34" charset="-120"/>
              </a:rPr>
              <a:t>289</a:t>
            </a:r>
            <a:endParaRPr lang="en-US" sz="2300" dirty="0"/>
          </a:p>
        </p:txBody>
      </p:sp>
      <p:sp>
        <p:nvSpPr>
          <p:cNvPr id="13" name="Text 11"/>
          <p:cNvSpPr/>
          <p:nvPr/>
        </p:nvSpPr>
        <p:spPr>
          <a:xfrm>
            <a:off x="4572000" y="3054096"/>
            <a:ext cx="1344168" cy="219456"/>
          </a:xfrm>
          <a:prstGeom prst="rect">
            <a:avLst/>
          </a:prstGeom>
          <a:noFill/>
          <a:ln/>
        </p:spPr>
        <p:txBody>
          <a:bodyPr wrap="square" lIns="0" tIns="0" rIns="0" bIns="0" rtlCol="0" anchor="ctr">
            <a:normAutofit/>
          </a:bodyPr>
          <a:lstStyle/>
          <a:p>
            <a:pPr indent="0" marL="0">
              <a:buNone/>
            </a:pPr>
            <a:r>
              <a:rPr lang="en-US" sz="780" b="1" spc="85" kern="0" dirty="0">
                <a:solidFill>
                  <a:srgbClr val="9BB0B5"/>
                </a:solidFill>
                <a:latin typeface="Avenir Next" pitchFamily="34" charset="0"/>
                <a:ea typeface="Avenir Next" pitchFamily="34" charset="-122"/>
                <a:cs typeface="Avenir Next" pitchFamily="34" charset="-120"/>
              </a:rPr>
              <a:t>15-MINUTE STATES</a:t>
            </a:r>
            <a:endParaRPr lang="en-US" sz="780" dirty="0"/>
          </a:p>
        </p:txBody>
      </p:sp>
      <p:sp>
        <p:nvSpPr>
          <p:cNvPr id="14" name="Shape 12"/>
          <p:cNvSpPr/>
          <p:nvPr/>
        </p:nvSpPr>
        <p:spPr>
          <a:xfrm>
            <a:off x="640080" y="3721608"/>
            <a:ext cx="1664208" cy="1042416"/>
          </a:xfrm>
          <a:prstGeom prst="roundRect">
            <a:avLst>
              <a:gd name="adj" fmla="val 11404"/>
            </a:avLst>
          </a:prstGeom>
          <a:solidFill>
            <a:srgbClr val="0D1C21"/>
          </a:solidFill>
          <a:ln w="12700">
            <a:solidFill>
              <a:srgbClr val="294047"/>
            </a:solidFill>
            <a:prstDash val="solid"/>
          </a:ln>
        </p:spPr>
      </p:sp>
      <p:sp>
        <p:nvSpPr>
          <p:cNvPr id="15" name="Text 13"/>
          <p:cNvSpPr/>
          <p:nvPr/>
        </p:nvSpPr>
        <p:spPr>
          <a:xfrm>
            <a:off x="804672" y="3867912"/>
            <a:ext cx="1335024" cy="420624"/>
          </a:xfrm>
          <a:prstGeom prst="rect">
            <a:avLst/>
          </a:prstGeom>
          <a:noFill/>
          <a:ln/>
        </p:spPr>
        <p:txBody>
          <a:bodyPr wrap="square" lIns="0" tIns="0" rIns="0" bIns="0" rtlCol="0" anchor="ctr">
            <a:normAutofit/>
          </a:bodyPr>
          <a:lstStyle/>
          <a:p>
            <a:pPr indent="0" marL="0">
              <a:buNone/>
            </a:pPr>
            <a:r>
              <a:rPr lang="en-US" sz="2300" b="1" dirty="0">
                <a:solidFill>
                  <a:srgbClr val="F4B85D"/>
                </a:solidFill>
                <a:latin typeface="Avenir Next" pitchFamily="34" charset="0"/>
                <a:ea typeface="Avenir Next" pitchFamily="34" charset="-122"/>
                <a:cs typeface="Avenir Next" pitchFamily="34" charset="-120"/>
              </a:rPr>
              <a:t>10</a:t>
            </a:r>
            <a:endParaRPr lang="en-US" sz="2300" dirty="0"/>
          </a:p>
        </p:txBody>
      </p:sp>
      <p:sp>
        <p:nvSpPr>
          <p:cNvPr id="16" name="Text 14"/>
          <p:cNvSpPr/>
          <p:nvPr/>
        </p:nvSpPr>
        <p:spPr>
          <a:xfrm>
            <a:off x="804672" y="4379976"/>
            <a:ext cx="1344168" cy="219456"/>
          </a:xfrm>
          <a:prstGeom prst="rect">
            <a:avLst/>
          </a:prstGeom>
          <a:noFill/>
          <a:ln/>
        </p:spPr>
        <p:txBody>
          <a:bodyPr wrap="square" lIns="0" tIns="0" rIns="0" bIns="0" rtlCol="0" anchor="ctr">
            <a:normAutofit/>
          </a:bodyPr>
          <a:lstStyle/>
          <a:p>
            <a:pPr indent="0" marL="0">
              <a:buNone/>
            </a:pPr>
            <a:r>
              <a:rPr lang="en-US" sz="780" b="1" spc="85" kern="0" dirty="0">
                <a:solidFill>
                  <a:srgbClr val="9BB0B5"/>
                </a:solidFill>
                <a:latin typeface="Avenir Next" pitchFamily="34" charset="0"/>
                <a:ea typeface="Avenir Next" pitchFamily="34" charset="-122"/>
                <a:cs typeface="Avenir Next" pitchFamily="34" charset="-120"/>
              </a:rPr>
              <a:t>SCENARIO PRESETS</a:t>
            </a:r>
            <a:endParaRPr lang="en-US" sz="780" dirty="0"/>
          </a:p>
        </p:txBody>
      </p:sp>
      <p:sp>
        <p:nvSpPr>
          <p:cNvPr id="17" name="Shape 15"/>
          <p:cNvSpPr/>
          <p:nvPr/>
        </p:nvSpPr>
        <p:spPr>
          <a:xfrm>
            <a:off x="2523744" y="3721608"/>
            <a:ext cx="1664208" cy="1042416"/>
          </a:xfrm>
          <a:prstGeom prst="roundRect">
            <a:avLst>
              <a:gd name="adj" fmla="val 11404"/>
            </a:avLst>
          </a:prstGeom>
          <a:solidFill>
            <a:srgbClr val="0D1C21"/>
          </a:solidFill>
          <a:ln w="12700">
            <a:solidFill>
              <a:srgbClr val="294047"/>
            </a:solidFill>
            <a:prstDash val="solid"/>
          </a:ln>
        </p:spPr>
      </p:sp>
      <p:sp>
        <p:nvSpPr>
          <p:cNvPr id="18" name="Text 16"/>
          <p:cNvSpPr/>
          <p:nvPr/>
        </p:nvSpPr>
        <p:spPr>
          <a:xfrm>
            <a:off x="2688336" y="3867912"/>
            <a:ext cx="1335024" cy="420624"/>
          </a:xfrm>
          <a:prstGeom prst="rect">
            <a:avLst/>
          </a:prstGeom>
          <a:noFill/>
          <a:ln/>
        </p:spPr>
        <p:txBody>
          <a:bodyPr wrap="square" lIns="0" tIns="0" rIns="0" bIns="0" rtlCol="0" anchor="ctr">
            <a:normAutofit/>
          </a:bodyPr>
          <a:lstStyle/>
          <a:p>
            <a:pPr indent="0" marL="0">
              <a:buNone/>
            </a:pPr>
            <a:r>
              <a:rPr lang="en-US" sz="2300" b="1" dirty="0">
                <a:solidFill>
                  <a:srgbClr val="F56F7C"/>
                </a:solidFill>
                <a:latin typeface="Avenir Next" pitchFamily="34" charset="0"/>
                <a:ea typeface="Avenir Next" pitchFamily="34" charset="-122"/>
                <a:cs typeface="Avenir Next" pitchFamily="34" charset="-120"/>
              </a:rPr>
              <a:t>8</a:t>
            </a:r>
            <a:endParaRPr lang="en-US" sz="2300" dirty="0"/>
          </a:p>
        </p:txBody>
      </p:sp>
      <p:sp>
        <p:nvSpPr>
          <p:cNvPr id="19" name="Text 17"/>
          <p:cNvSpPr/>
          <p:nvPr/>
        </p:nvSpPr>
        <p:spPr>
          <a:xfrm>
            <a:off x="2688336" y="4379976"/>
            <a:ext cx="1344168" cy="219456"/>
          </a:xfrm>
          <a:prstGeom prst="rect">
            <a:avLst/>
          </a:prstGeom>
          <a:noFill/>
          <a:ln/>
        </p:spPr>
        <p:txBody>
          <a:bodyPr wrap="square" lIns="0" tIns="0" rIns="0" bIns="0" rtlCol="0" anchor="ctr">
            <a:normAutofit/>
          </a:bodyPr>
          <a:lstStyle/>
          <a:p>
            <a:pPr indent="0" marL="0">
              <a:buNone/>
            </a:pPr>
            <a:r>
              <a:rPr lang="en-US" sz="780" b="1" spc="85" kern="0" dirty="0">
                <a:solidFill>
                  <a:srgbClr val="9BB0B5"/>
                </a:solidFill>
                <a:latin typeface="Avenir Next" pitchFamily="34" charset="0"/>
                <a:ea typeface="Avenir Next" pitchFamily="34" charset="-122"/>
                <a:cs typeface="Avenir Next" pitchFamily="34" charset="-120"/>
              </a:rPr>
              <a:t>ESSENTIAL SERVICES</a:t>
            </a:r>
            <a:endParaRPr lang="en-US" sz="780" dirty="0"/>
          </a:p>
        </p:txBody>
      </p:sp>
      <p:sp>
        <p:nvSpPr>
          <p:cNvPr id="20" name="Shape 18"/>
          <p:cNvSpPr/>
          <p:nvPr/>
        </p:nvSpPr>
        <p:spPr>
          <a:xfrm>
            <a:off x="4407408" y="3721608"/>
            <a:ext cx="1664208" cy="1042416"/>
          </a:xfrm>
          <a:prstGeom prst="roundRect">
            <a:avLst>
              <a:gd name="adj" fmla="val 11404"/>
            </a:avLst>
          </a:prstGeom>
          <a:solidFill>
            <a:srgbClr val="0D1C21"/>
          </a:solidFill>
          <a:ln w="12700">
            <a:solidFill>
              <a:srgbClr val="294047"/>
            </a:solidFill>
            <a:prstDash val="solid"/>
          </a:ln>
        </p:spPr>
      </p:sp>
      <p:sp>
        <p:nvSpPr>
          <p:cNvPr id="21" name="Text 19"/>
          <p:cNvSpPr/>
          <p:nvPr/>
        </p:nvSpPr>
        <p:spPr>
          <a:xfrm>
            <a:off x="4572000" y="3867912"/>
            <a:ext cx="1335024" cy="420624"/>
          </a:xfrm>
          <a:prstGeom prst="rect">
            <a:avLst/>
          </a:prstGeom>
          <a:noFill/>
          <a:ln/>
        </p:spPr>
        <p:txBody>
          <a:bodyPr wrap="square" lIns="0" tIns="0" rIns="0" bIns="0" rtlCol="0" anchor="ctr">
            <a:normAutofit/>
          </a:bodyPr>
          <a:lstStyle/>
          <a:p>
            <a:pPr indent="0" marL="0">
              <a:buNone/>
            </a:pPr>
            <a:r>
              <a:rPr lang="en-US" sz="2300" b="1" dirty="0">
                <a:solidFill>
                  <a:srgbClr val="89D49A"/>
                </a:solidFill>
                <a:latin typeface="Avenir Next" pitchFamily="34" charset="0"/>
                <a:ea typeface="Avenir Next" pitchFamily="34" charset="-122"/>
                <a:cs typeface="Avenir Next" pitchFamily="34" charset="-120"/>
              </a:rPr>
              <a:t>11</a:t>
            </a:r>
            <a:endParaRPr lang="en-US" sz="2300" dirty="0"/>
          </a:p>
        </p:txBody>
      </p:sp>
      <p:sp>
        <p:nvSpPr>
          <p:cNvPr id="22" name="Text 20"/>
          <p:cNvSpPr/>
          <p:nvPr/>
        </p:nvSpPr>
        <p:spPr>
          <a:xfrm>
            <a:off x="4572000" y="4379976"/>
            <a:ext cx="1344168" cy="219456"/>
          </a:xfrm>
          <a:prstGeom prst="rect">
            <a:avLst/>
          </a:prstGeom>
          <a:noFill/>
          <a:ln/>
        </p:spPr>
        <p:txBody>
          <a:bodyPr wrap="square" lIns="0" tIns="0" rIns="0" bIns="0" rtlCol="0" anchor="ctr">
            <a:normAutofit/>
          </a:bodyPr>
          <a:lstStyle/>
          <a:p>
            <a:pPr indent="0" marL="0">
              <a:buNone/>
            </a:pPr>
            <a:r>
              <a:rPr lang="en-US" sz="780" b="1" spc="85" kern="0" dirty="0">
                <a:solidFill>
                  <a:srgbClr val="9BB0B5"/>
                </a:solidFill>
                <a:latin typeface="Avenir Next" pitchFamily="34" charset="0"/>
                <a:ea typeface="Avenir Next" pitchFamily="34" charset="-122"/>
                <a:cs typeface="Avenir Next" pitchFamily="34" charset="-120"/>
              </a:rPr>
              <a:t>MAP QUESTIONS</a:t>
            </a:r>
            <a:endParaRPr lang="en-US" sz="780" dirty="0"/>
          </a:p>
        </p:txBody>
      </p:sp>
      <p:pic>
        <p:nvPicPr>
          <p:cNvPr id="23" name="Image 0" descr="/Users/rikstokmans/Documents/Projects/Fontys/DisasterSimulator/artifacts/final-hazard.png">    </p:cNvPr>
          <p:cNvPicPr>
            <a:picLocks noChangeAspect="1"/>
          </p:cNvPicPr>
          <p:nvPr/>
        </p:nvPicPr>
        <p:blipFill>
          <a:blip r:embed="rId1"/>
          <a:srcRect l="3312" r="0" t="0" b="0"/>
          <a:stretch/>
        </p:blipFill>
        <p:spPr>
          <a:xfrm>
            <a:off x="6601968" y="2331720"/>
            <a:ext cx="4965192" cy="3566160"/>
          </a:xfrm>
          <a:prstGeom prst="rect">
            <a:avLst/>
          </a:prstGeom>
        </p:spPr>
      </p:pic>
      <p:sp>
        <p:nvSpPr>
          <p:cNvPr id="24" name="Shape 21"/>
          <p:cNvSpPr/>
          <p:nvPr/>
        </p:nvSpPr>
        <p:spPr>
          <a:xfrm>
            <a:off x="6601968" y="2331720"/>
            <a:ext cx="4965192" cy="3566160"/>
          </a:xfrm>
          <a:prstGeom prst="rect">
            <a:avLst/>
          </a:prstGeom>
          <a:solidFill>
            <a:srgbClr val="FFFFFF">
              <a:alpha val="0"/>
            </a:srgbClr>
          </a:solidFill>
          <a:ln w="12700">
            <a:solidFill>
              <a:srgbClr val="294047"/>
            </a:solidFill>
            <a:prstDash val="solid"/>
          </a:ln>
        </p:spPr>
      </p:sp>
      <p:sp>
        <p:nvSpPr>
          <p:cNvPr id="25" name="Shape 22"/>
          <p:cNvSpPr/>
          <p:nvPr/>
        </p:nvSpPr>
        <p:spPr>
          <a:xfrm>
            <a:off x="6912864" y="5376672"/>
            <a:ext cx="2487168" cy="310896"/>
          </a:xfrm>
          <a:prstGeom prst="roundRect">
            <a:avLst>
              <a:gd name="adj" fmla="val 50000"/>
            </a:avLst>
          </a:prstGeom>
          <a:solidFill>
            <a:srgbClr val="071216"/>
          </a:solidFill>
          <a:ln w="12700">
            <a:solidFill>
              <a:srgbClr val="294047"/>
            </a:solidFill>
            <a:prstDash val="solid"/>
          </a:ln>
        </p:spPr>
      </p:sp>
      <p:sp>
        <p:nvSpPr>
          <p:cNvPr id="26" name="Shape 23"/>
          <p:cNvSpPr/>
          <p:nvPr/>
        </p:nvSpPr>
        <p:spPr>
          <a:xfrm>
            <a:off x="7040880" y="5490972"/>
            <a:ext cx="82296" cy="82296"/>
          </a:xfrm>
          <a:prstGeom prst="ellipse">
            <a:avLst/>
          </a:prstGeom>
          <a:solidFill>
            <a:srgbClr val="65E2CB"/>
          </a:solidFill>
          <a:ln w="12700">
            <a:solidFill>
              <a:srgbClr val="65E2CB"/>
            </a:solidFill>
            <a:prstDash val="solid"/>
          </a:ln>
        </p:spPr>
      </p:sp>
      <p:sp>
        <p:nvSpPr>
          <p:cNvPr id="27" name="Text 24"/>
          <p:cNvSpPr/>
          <p:nvPr/>
        </p:nvSpPr>
        <p:spPr>
          <a:xfrm>
            <a:off x="7205472" y="5422392"/>
            <a:ext cx="2103120" cy="219456"/>
          </a:xfrm>
          <a:prstGeom prst="rect">
            <a:avLst/>
          </a:prstGeom>
          <a:noFill/>
          <a:ln/>
        </p:spPr>
        <p:txBody>
          <a:bodyPr wrap="square" lIns="0" tIns="0" rIns="0" bIns="0" rtlCol="0" anchor="ctr">
            <a:normAutofit/>
          </a:bodyPr>
          <a:lstStyle/>
          <a:p>
            <a:pPr indent="0" marL="0">
              <a:buNone/>
            </a:pPr>
            <a:r>
              <a:rPr lang="en-US" sz="830" b="1" spc="20" kern="0" dirty="0">
                <a:solidFill>
                  <a:srgbClr val="F4F7F6"/>
                </a:solidFill>
                <a:latin typeface="Avenir Next" pitchFamily="34" charset="0"/>
                <a:ea typeface="Avenir Next" pitchFamily="34" charset="-122"/>
                <a:cs typeface="Avenir Next" pitchFamily="34" charset="-120"/>
              </a:rPr>
              <a:t>NATIONAL → MUNICIPAL → BUURT</a:t>
            </a:r>
            <a:endParaRPr lang="en-US" sz="830" dirty="0"/>
          </a:p>
        </p:txBody>
      </p:sp>
      <p:sp>
        <p:nvSpPr>
          <p:cNvPr id="28" name="Shape 25"/>
          <p:cNvSpPr/>
          <p:nvPr/>
        </p:nvSpPr>
        <p:spPr>
          <a:xfrm>
            <a:off x="9418320" y="5376672"/>
            <a:ext cx="1828800" cy="310896"/>
          </a:xfrm>
          <a:prstGeom prst="roundRect">
            <a:avLst>
              <a:gd name="adj" fmla="val 50000"/>
            </a:avLst>
          </a:prstGeom>
          <a:solidFill>
            <a:srgbClr val="071216"/>
          </a:solidFill>
          <a:ln w="12700">
            <a:solidFill>
              <a:srgbClr val="294047"/>
            </a:solidFill>
            <a:prstDash val="solid"/>
          </a:ln>
        </p:spPr>
      </p:sp>
      <p:sp>
        <p:nvSpPr>
          <p:cNvPr id="29" name="Shape 26"/>
          <p:cNvSpPr/>
          <p:nvPr/>
        </p:nvSpPr>
        <p:spPr>
          <a:xfrm>
            <a:off x="9546336" y="5490972"/>
            <a:ext cx="82296" cy="82296"/>
          </a:xfrm>
          <a:prstGeom prst="ellipse">
            <a:avLst/>
          </a:prstGeom>
          <a:solidFill>
            <a:srgbClr val="59D5F6"/>
          </a:solidFill>
          <a:ln w="12700">
            <a:solidFill>
              <a:srgbClr val="59D5F6"/>
            </a:solidFill>
            <a:prstDash val="solid"/>
          </a:ln>
        </p:spPr>
      </p:sp>
      <p:sp>
        <p:nvSpPr>
          <p:cNvPr id="30" name="Text 27"/>
          <p:cNvSpPr/>
          <p:nvPr/>
        </p:nvSpPr>
        <p:spPr>
          <a:xfrm>
            <a:off x="9710928" y="5422392"/>
            <a:ext cx="1444752" cy="219456"/>
          </a:xfrm>
          <a:prstGeom prst="rect">
            <a:avLst/>
          </a:prstGeom>
          <a:noFill/>
          <a:ln/>
        </p:spPr>
        <p:txBody>
          <a:bodyPr wrap="square" lIns="0" tIns="0" rIns="0" bIns="0" rtlCol="0" anchor="ctr">
            <a:normAutofit/>
          </a:bodyPr>
          <a:lstStyle/>
          <a:p>
            <a:pPr indent="0" marL="0">
              <a:buNone/>
            </a:pPr>
            <a:r>
              <a:rPr lang="en-US" sz="950" b="1" spc="20" kern="0" dirty="0">
                <a:solidFill>
                  <a:srgbClr val="F4F7F6"/>
                </a:solidFill>
                <a:latin typeface="Avenir Next" pitchFamily="34" charset="0"/>
                <a:ea typeface="Avenir Next" pitchFamily="34" charset="-122"/>
                <a:cs typeface="Avenir Next" pitchFamily="34" charset="-120"/>
              </a:rPr>
              <a:t>2D / 3D / REALISTIC</a:t>
            </a:r>
            <a:endParaRPr lang="en-US" sz="950" dirty="0"/>
          </a:p>
        </p:txBody>
      </p:sp>
      <p:sp>
        <p:nvSpPr>
          <p:cNvPr id="31" name="Text 28"/>
          <p:cNvSpPr/>
          <p:nvPr/>
        </p:nvSpPr>
        <p:spPr>
          <a:xfrm>
            <a:off x="594360" y="6446520"/>
            <a:ext cx="8686800" cy="164592"/>
          </a:xfrm>
          <a:prstGeom prst="rect">
            <a:avLst/>
          </a:prstGeom>
          <a:noFill/>
          <a:ln/>
        </p:spPr>
        <p:txBody>
          <a:bodyPr wrap="square" lIns="0" tIns="0" rIns="0" bIns="0" rtlCol="0" anchor="ctr">
            <a:normAutofit/>
          </a:bodyPr>
          <a:lstStyle/>
          <a:p>
            <a:pPr indent="0" marL="0">
              <a:buNone/>
            </a:pPr>
            <a:r>
              <a:rPr lang="en-US" sz="760" dirty="0">
                <a:solidFill>
                  <a:srgbClr val="688087"/>
                </a:solidFill>
                <a:latin typeface="Avenir Next" pitchFamily="34" charset="0"/>
                <a:ea typeface="Avenir Next" pitchFamily="34" charset="-122"/>
                <a:cs typeface="Avenir Next" pitchFamily="34" charset="-120"/>
              </a:rPr>
              <a:t>Counts from the current repository snapshot · 4 September 2026</a:t>
            </a:r>
            <a:endParaRPr lang="en-US" sz="760" dirty="0"/>
          </a:p>
        </p:txBody>
      </p:sp>
      <p:sp>
        <p:nvSpPr>
          <p:cNvPr id="33" name="Shape 29"/>
          <p:cNvSpPr/>
          <p:nvPr/>
        </p:nvSpPr>
        <p:spPr>
          <a:xfrm>
            <a:off x="502920" y="292608"/>
            <a:ext cx="310896" cy="310896"/>
          </a:xfrm>
          <a:prstGeom prst="ellipse">
            <a:avLst/>
          </a:prstGeom>
          <a:solidFill>
            <a:srgbClr val="12272D"/>
          </a:solidFill>
          <a:ln w="12700">
            <a:solidFill>
              <a:srgbClr val="65E2CB"/>
            </a:solidFill>
            <a:prstDash val="solid"/>
          </a:ln>
        </p:spPr>
      </p:sp>
      <p:sp>
        <p:nvSpPr>
          <p:cNvPr id="34" name="Shape 30"/>
          <p:cNvSpPr/>
          <p:nvPr/>
        </p:nvSpPr>
        <p:spPr>
          <a:xfrm>
            <a:off x="597103" y="374904"/>
            <a:ext cx="118872" cy="118872"/>
          </a:xfrm>
          <a:prstGeom prst="ellipse">
            <a:avLst/>
          </a:prstGeom>
          <a:solidFill>
            <a:srgbClr val="071216"/>
          </a:solidFill>
          <a:ln w="12700">
            <a:solidFill>
              <a:srgbClr val="65E2CB"/>
            </a:solidFill>
            <a:prstDash val="solid"/>
          </a:ln>
        </p:spPr>
      </p:sp>
      <p:sp>
        <p:nvSpPr>
          <p:cNvPr id="35" name="Shape 31"/>
          <p:cNvSpPr/>
          <p:nvPr/>
        </p:nvSpPr>
        <p:spPr>
          <a:xfrm>
            <a:off x="658368" y="356616"/>
            <a:ext cx="0" cy="182880"/>
          </a:xfrm>
          <a:prstGeom prst="line">
            <a:avLst/>
          </a:prstGeom>
          <a:noFill/>
          <a:ln w="15240">
            <a:solidFill>
              <a:srgbClr val="65E2CB"/>
            </a:solidFill>
            <a:prstDash val="solid"/>
            <a:headEnd type="none"/>
            <a:tailEnd type="none"/>
          </a:ln>
        </p:spPr>
      </p:sp>
      <p:sp>
        <p:nvSpPr>
          <p:cNvPr id="36" name="Text 32"/>
          <p:cNvSpPr/>
          <p:nvPr/>
        </p:nvSpPr>
        <p:spPr>
          <a:xfrm>
            <a:off x="896112" y="310896"/>
            <a:ext cx="2011680" cy="201168"/>
          </a:xfrm>
          <a:prstGeom prst="rect">
            <a:avLst/>
          </a:prstGeom>
          <a:noFill/>
          <a:ln/>
        </p:spPr>
        <p:txBody>
          <a:bodyPr wrap="square" lIns="0" tIns="0" rIns="0" bIns="0" rtlCol="0" anchor="ctr">
            <a:normAutofit/>
          </a:bodyPr>
          <a:lstStyle/>
          <a:p>
            <a:pPr indent="0" marL="0">
              <a:buNone/>
            </a:pPr>
            <a:r>
              <a:rPr lang="en-US" sz="900" b="1" spc="140" kern="0" dirty="0">
                <a:solidFill>
                  <a:srgbClr val="9BB0B5"/>
                </a:solidFill>
                <a:latin typeface="Avenir Next" pitchFamily="34" charset="0"/>
                <a:ea typeface="Avenir Next" pitchFamily="34" charset="-122"/>
                <a:cs typeface="Avenir Next" pitchFamily="34" charset="-120"/>
              </a:rPr>
              <a:t>NL RESILIENCE LAB</a:t>
            </a:r>
            <a:endParaRPr lang="en-US" sz="900" dirty="0"/>
          </a:p>
        </p:txBody>
      </p:sp>
      <p:sp>
        <p:nvSpPr>
          <p:cNvPr id="37" name="Text 33"/>
          <p:cNvSpPr/>
          <p:nvPr/>
        </p:nvSpPr>
        <p:spPr>
          <a:xfrm>
            <a:off x="9052560" y="310896"/>
            <a:ext cx="2514600" cy="201168"/>
          </a:xfrm>
          <a:prstGeom prst="rect">
            <a:avLst/>
          </a:prstGeom>
          <a:noFill/>
          <a:ln/>
        </p:spPr>
        <p:txBody>
          <a:bodyPr wrap="square" lIns="0" tIns="0" rIns="0" bIns="0" rtlCol="0" anchor="ctr">
            <a:normAutofit/>
          </a:bodyPr>
          <a:lstStyle/>
          <a:p>
            <a:pPr algn="r" indent="0" marL="0">
              <a:buNone/>
            </a:pPr>
            <a:r>
              <a:rPr lang="en-US" sz="850" b="1" spc="125" kern="0" dirty="0">
                <a:solidFill>
                  <a:srgbClr val="688087"/>
                </a:solidFill>
                <a:latin typeface="Avenir Next" pitchFamily="34" charset="0"/>
                <a:ea typeface="Avenir Next" pitchFamily="34" charset="-122"/>
                <a:cs typeface="Avenir Next" pitchFamily="34" charset="-120"/>
              </a:rPr>
              <a:t>PROJECT OVERVIEW</a:t>
            </a:r>
            <a:endParaRPr lang="en-US" sz="850" dirty="0"/>
          </a:p>
        </p:txBody>
      </p:sp>
      <p:sp>
        <p:nvSpPr>
          <p:cNvPr id="38" name="Shape 34"/>
          <p:cNvSpPr/>
          <p:nvPr/>
        </p:nvSpPr>
        <p:spPr>
          <a:xfrm>
            <a:off x="502920" y="749808"/>
            <a:ext cx="10680192" cy="0"/>
          </a:xfrm>
          <a:prstGeom prst="line">
            <a:avLst/>
          </a:prstGeom>
          <a:noFill/>
          <a:ln w="8890">
            <a:solidFill>
              <a:srgbClr val="294047"/>
            </a:solidFill>
            <a:prstDash val="solid"/>
            <a:headEnd type="none"/>
            <a:tailEnd type="none"/>
          </a:ln>
        </p:spPr>
      </p:sp>
      <p:sp>
        <p:nvSpPr>
          <p:cNvPr id="25" name="Slide Number Placeholder 0"/>
          <p:cNvSpPr>
            <a:spLocks noGrp="1"/>
          </p:cNvSpPr>
          <p:nvPr>
            <p:ph type="sldNum" sz="quarter" idx="4294967295"/>
          </p:nvPr>
        </p:nvSpPr>
        <p:spPr>
          <a:xfrm>
            <a:off x="11119104" y="6446520"/>
            <a:ext cx="475488"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8087"/>
                </a:solidFill>
                <a:latin typeface="Avenir Next"/>
                <a:ea typeface="Avenir Next"/>
                <a:cs typeface="Avenir Next"/>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216"/>
        </a:solidFill>
      </p:bgPr>
    </p:bg>
    <p:spTree>
      <p:nvGrpSpPr>
        <p:cNvPr id="1" name=""/>
        <p:cNvGrpSpPr/>
        <p:nvPr/>
      </p:nvGrpSpPr>
      <p:grpSpPr>
        <a:xfrm>
          <a:off x="0" y="0"/>
          <a:ext cx="0" cy="0"/>
          <a:chOff x="0" y="0"/>
          <a:chExt cx="0" cy="0"/>
        </a:xfrm>
      </p:grpSpPr>
      <p:sp>
        <p:nvSpPr>
          <p:cNvPr id="2" name="Text 0"/>
          <p:cNvSpPr/>
          <p:nvPr/>
        </p:nvSpPr>
        <p:spPr>
          <a:xfrm>
            <a:off x="594360" y="950976"/>
            <a:ext cx="2377440" cy="201168"/>
          </a:xfrm>
          <a:prstGeom prst="rect">
            <a:avLst/>
          </a:prstGeom>
          <a:noFill/>
          <a:ln/>
        </p:spPr>
        <p:txBody>
          <a:bodyPr wrap="square" lIns="0" tIns="0" rIns="0" bIns="0" rtlCol="0" anchor="ctr">
            <a:normAutofit/>
          </a:bodyPr>
          <a:lstStyle/>
          <a:p>
            <a:pPr indent="0" marL="0">
              <a:buNone/>
            </a:pPr>
            <a:r>
              <a:rPr lang="en-US" sz="900" b="1" spc="165" kern="0" dirty="0">
                <a:solidFill>
                  <a:srgbClr val="65E2CB"/>
                </a:solidFill>
                <a:latin typeface="Avenir Next" pitchFamily="34" charset="0"/>
                <a:ea typeface="Avenir Next" pitchFamily="34" charset="-122"/>
                <a:cs typeface="Avenir Next" pitchFamily="34" charset="-120"/>
              </a:rPr>
              <a:t>GEOGRAPHY</a:t>
            </a:r>
            <a:endParaRPr lang="en-US" sz="900" dirty="0"/>
          </a:p>
        </p:txBody>
      </p:sp>
      <p:sp>
        <p:nvSpPr>
          <p:cNvPr id="3" name="Text 1"/>
          <p:cNvSpPr/>
          <p:nvPr/>
        </p:nvSpPr>
        <p:spPr>
          <a:xfrm>
            <a:off x="594360" y="1188720"/>
            <a:ext cx="10972800" cy="566928"/>
          </a:xfrm>
          <a:prstGeom prst="rect">
            <a:avLst/>
          </a:prstGeom>
          <a:noFill/>
          <a:ln/>
        </p:spPr>
        <p:txBody>
          <a:bodyPr wrap="square" lIns="0" tIns="0" rIns="0" bIns="0" rtlCol="0" anchor="ctr">
            <a:normAutofit/>
          </a:bodyPr>
          <a:lstStyle/>
          <a:p>
            <a:pPr indent="0" marL="0">
              <a:buNone/>
            </a:pPr>
            <a:r>
              <a:rPr lang="en-US" sz="2900" b="1" dirty="0">
                <a:solidFill>
                  <a:srgbClr val="F4F7F6"/>
                </a:solidFill>
                <a:latin typeface="Avenir Next" pitchFamily="34" charset="0"/>
                <a:ea typeface="Avenir Next" pitchFamily="34" charset="-122"/>
                <a:cs typeface="Avenir Next" pitchFamily="34" charset="-120"/>
              </a:rPr>
              <a:t>One model, three spatial scales</a:t>
            </a:r>
            <a:endParaRPr lang="en-US" sz="2900" dirty="0"/>
          </a:p>
        </p:txBody>
      </p:sp>
      <p:sp>
        <p:nvSpPr>
          <p:cNvPr id="4" name="Text 2"/>
          <p:cNvSpPr/>
          <p:nvPr/>
        </p:nvSpPr>
        <p:spPr>
          <a:xfrm>
            <a:off x="594360" y="1746504"/>
            <a:ext cx="10789920" cy="393192"/>
          </a:xfrm>
          <a:prstGeom prst="rect">
            <a:avLst/>
          </a:prstGeom>
          <a:noFill/>
          <a:ln/>
        </p:spPr>
        <p:txBody>
          <a:bodyPr wrap="square" lIns="0" tIns="0" rIns="0" bIns="0" rtlCol="0" anchor="ctr">
            <a:normAutofit/>
          </a:bodyPr>
          <a:lstStyle/>
          <a:p>
            <a:pPr indent="0" marL="0">
              <a:buNone/>
            </a:pPr>
            <a:r>
              <a:rPr lang="en-US" sz="1250" dirty="0">
                <a:solidFill>
                  <a:srgbClr val="9BB0B5"/>
                </a:solidFill>
                <a:latin typeface="Avenir Next" pitchFamily="34" charset="0"/>
                <a:ea typeface="Avenir Next" pitchFamily="34" charset="-122"/>
                <a:cs typeface="Avenir Next" pitchFamily="34" charset="-120"/>
              </a:rPr>
              <a:t>The same time, service state and intervention remain coherent while the view changes.</a:t>
            </a:r>
            <a:endParaRPr lang="en-US" sz="1250" dirty="0"/>
          </a:p>
        </p:txBody>
      </p:sp>
      <p:sp>
        <p:nvSpPr>
          <p:cNvPr id="5" name="Shape 3"/>
          <p:cNvSpPr/>
          <p:nvPr/>
        </p:nvSpPr>
        <p:spPr>
          <a:xfrm>
            <a:off x="822960" y="2633472"/>
            <a:ext cx="2971800" cy="2249424"/>
          </a:xfrm>
          <a:prstGeom prst="roundRect">
            <a:avLst>
              <a:gd name="adj" fmla="val 6504"/>
            </a:avLst>
          </a:prstGeom>
          <a:solidFill>
            <a:srgbClr val="0D1C21"/>
          </a:solidFill>
          <a:ln w="12700">
            <a:solidFill>
              <a:srgbClr val="59D5F6"/>
            </a:solidFill>
            <a:prstDash val="solid"/>
          </a:ln>
        </p:spPr>
      </p:sp>
      <p:sp>
        <p:nvSpPr>
          <p:cNvPr id="6" name="Text 4"/>
          <p:cNvSpPr/>
          <p:nvPr/>
        </p:nvSpPr>
        <p:spPr>
          <a:xfrm>
            <a:off x="1097280" y="2843784"/>
            <a:ext cx="475488" cy="274320"/>
          </a:xfrm>
          <a:prstGeom prst="rect">
            <a:avLst/>
          </a:prstGeom>
          <a:noFill/>
          <a:ln/>
        </p:spPr>
        <p:txBody>
          <a:bodyPr wrap="square" lIns="0" tIns="0" rIns="0" bIns="0" rtlCol="0" anchor="ctr">
            <a:normAutofit/>
          </a:bodyPr>
          <a:lstStyle/>
          <a:p>
            <a:pPr indent="0" marL="0">
              <a:buNone/>
            </a:pPr>
            <a:r>
              <a:rPr lang="en-US" sz="1600" b="1" dirty="0">
                <a:solidFill>
                  <a:srgbClr val="59D5F6"/>
                </a:solidFill>
                <a:latin typeface="Avenir Next" pitchFamily="34" charset="0"/>
                <a:ea typeface="Avenir Next" pitchFamily="34" charset="-122"/>
                <a:cs typeface="Avenir Next" pitchFamily="34" charset="-120"/>
              </a:rPr>
              <a:t>01</a:t>
            </a:r>
            <a:endParaRPr lang="en-US" sz="1600" dirty="0"/>
          </a:p>
        </p:txBody>
      </p:sp>
      <p:sp>
        <p:nvSpPr>
          <p:cNvPr id="7" name="Text 5"/>
          <p:cNvSpPr/>
          <p:nvPr/>
        </p:nvSpPr>
        <p:spPr>
          <a:xfrm>
            <a:off x="1097280" y="3291840"/>
            <a:ext cx="2423160" cy="310896"/>
          </a:xfrm>
          <a:prstGeom prst="rect">
            <a:avLst/>
          </a:prstGeom>
          <a:noFill/>
          <a:ln/>
        </p:spPr>
        <p:txBody>
          <a:bodyPr wrap="square" lIns="0" tIns="0" rIns="0" bIns="0" rtlCol="0" anchor="ctr">
            <a:normAutofit/>
          </a:bodyPr>
          <a:lstStyle/>
          <a:p>
            <a:pPr indent="0" marL="0">
              <a:buNone/>
            </a:pPr>
            <a:r>
              <a:rPr lang="en-US" sz="1200" b="1" spc="90" kern="0" dirty="0">
                <a:solidFill>
                  <a:srgbClr val="59D5F6"/>
                </a:solidFill>
                <a:latin typeface="Avenir Next" pitchFamily="34" charset="0"/>
                <a:ea typeface="Avenir Next" pitchFamily="34" charset="-122"/>
                <a:cs typeface="Avenir Next" pitchFamily="34" charset="-120"/>
              </a:rPr>
              <a:t>NETHERLANDS</a:t>
            </a:r>
            <a:endParaRPr lang="en-US" sz="1200" dirty="0"/>
          </a:p>
        </p:txBody>
      </p:sp>
      <p:sp>
        <p:nvSpPr>
          <p:cNvPr id="8" name="Text 6"/>
          <p:cNvSpPr/>
          <p:nvPr/>
        </p:nvSpPr>
        <p:spPr>
          <a:xfrm>
            <a:off x="1097280" y="3749040"/>
            <a:ext cx="2423160" cy="950976"/>
          </a:xfrm>
          <a:prstGeom prst="rect">
            <a:avLst/>
          </a:prstGeom>
          <a:noFill/>
          <a:ln/>
        </p:spPr>
        <p:txBody>
          <a:bodyPr wrap="square" lIns="0" tIns="0" rIns="0" bIns="0" rtlCol="0" anchor="t">
            <a:normAutofit/>
          </a:bodyPr>
          <a:lstStyle/>
          <a:p>
            <a:pPr indent="0" marL="0">
              <a:buNone/>
            </a:pPr>
            <a:r>
              <a:rPr lang="en-US" sz="1220" dirty="0">
                <a:solidFill>
                  <a:srgbClr val="F4F7F6"/>
                </a:solidFill>
                <a:latin typeface="Avenir Next" pitchFamily="34" charset="0"/>
                <a:ea typeface="Avenir Next" pitchFamily="34" charset="-122"/>
                <a:cs typeface="Avenir Next" pitchFamily="34" charset="-120"/>
              </a:rPr>
              <a:t>342 municipalities</a:t>
            </a:r>
            <a:endParaRPr lang="en-US" sz="1220" dirty="0"/>
          </a:p>
          <a:p>
            <a:pPr indent="0" marL="0">
              <a:buNone/>
            </a:pPr>
            <a:r>
              <a:rPr lang="en-US" sz="1220" dirty="0">
                <a:solidFill>
                  <a:srgbClr val="F4F7F6"/>
                </a:solidFill>
                <a:latin typeface="Avenir Next" pitchFamily="34" charset="0"/>
                <a:ea typeface="Avenir Next" pitchFamily="34" charset="-122"/>
                <a:cs typeface="Avenir Next" pitchFamily="34" charset="-120"/>
              </a:rPr>
              <a:t>National service balancing</a:t>
            </a:r>
            <a:endParaRPr lang="en-US" sz="1220" dirty="0"/>
          </a:p>
          <a:p>
            <a:pPr indent="0" marL="0">
              <a:buNone/>
            </a:pPr>
            <a:r>
              <a:rPr lang="en-US" sz="1220" dirty="0">
                <a:solidFill>
                  <a:srgbClr val="F4F7F6"/>
                </a:solidFill>
                <a:latin typeface="Avenir Next" pitchFamily="34" charset="0"/>
                <a:ea typeface="Avenir Next" pitchFamily="34" charset="-122"/>
                <a:cs typeface="Avenir Next" pitchFamily="34" charset="-120"/>
              </a:rPr>
              <a:t>Affected-region footprint</a:t>
            </a:r>
            <a:endParaRPr lang="en-US" sz="1220" dirty="0"/>
          </a:p>
        </p:txBody>
      </p:sp>
      <p:sp>
        <p:nvSpPr>
          <p:cNvPr id="9" name="Shape 7"/>
          <p:cNvSpPr/>
          <p:nvPr/>
        </p:nvSpPr>
        <p:spPr>
          <a:xfrm>
            <a:off x="3931920" y="3703320"/>
            <a:ext cx="484632" cy="0"/>
          </a:xfrm>
          <a:prstGeom prst="line">
            <a:avLst/>
          </a:prstGeom>
          <a:noFill/>
          <a:ln w="20320">
            <a:solidFill>
              <a:srgbClr val="65E2CB"/>
            </a:solidFill>
            <a:prstDash val="solid"/>
            <a:headEnd type="none"/>
            <a:tailEnd type="triangle"/>
          </a:ln>
        </p:spPr>
      </p:sp>
      <p:sp>
        <p:nvSpPr>
          <p:cNvPr id="10" name="Shape 8"/>
          <p:cNvSpPr/>
          <p:nvPr/>
        </p:nvSpPr>
        <p:spPr>
          <a:xfrm>
            <a:off x="4553712" y="2450592"/>
            <a:ext cx="3072384" cy="2615184"/>
          </a:xfrm>
          <a:prstGeom prst="roundRect">
            <a:avLst>
              <a:gd name="adj" fmla="val 5594"/>
            </a:avLst>
          </a:prstGeom>
          <a:solidFill>
            <a:srgbClr val="0D1C21"/>
          </a:solidFill>
          <a:ln w="12700">
            <a:solidFill>
              <a:srgbClr val="65E2CB"/>
            </a:solidFill>
            <a:prstDash val="solid"/>
          </a:ln>
        </p:spPr>
      </p:sp>
      <p:sp>
        <p:nvSpPr>
          <p:cNvPr id="11" name="Text 9"/>
          <p:cNvSpPr/>
          <p:nvPr/>
        </p:nvSpPr>
        <p:spPr>
          <a:xfrm>
            <a:off x="4828032" y="2660904"/>
            <a:ext cx="475488" cy="274320"/>
          </a:xfrm>
          <a:prstGeom prst="rect">
            <a:avLst/>
          </a:prstGeom>
          <a:noFill/>
          <a:ln/>
        </p:spPr>
        <p:txBody>
          <a:bodyPr wrap="square" lIns="0" tIns="0" rIns="0" bIns="0" rtlCol="0" anchor="ctr">
            <a:normAutofit/>
          </a:bodyPr>
          <a:lstStyle/>
          <a:p>
            <a:pPr indent="0" marL="0">
              <a:buNone/>
            </a:pPr>
            <a:r>
              <a:rPr lang="en-US" sz="1600" b="1" dirty="0">
                <a:solidFill>
                  <a:srgbClr val="65E2CB"/>
                </a:solidFill>
                <a:latin typeface="Avenir Next" pitchFamily="34" charset="0"/>
                <a:ea typeface="Avenir Next" pitchFamily="34" charset="-122"/>
                <a:cs typeface="Avenir Next" pitchFamily="34" charset="-120"/>
              </a:rPr>
              <a:t>02</a:t>
            </a:r>
            <a:endParaRPr lang="en-US" sz="1600" dirty="0"/>
          </a:p>
        </p:txBody>
      </p:sp>
      <p:sp>
        <p:nvSpPr>
          <p:cNvPr id="12" name="Text 10"/>
          <p:cNvSpPr/>
          <p:nvPr/>
        </p:nvSpPr>
        <p:spPr>
          <a:xfrm>
            <a:off x="4828032" y="3108960"/>
            <a:ext cx="2523744" cy="310896"/>
          </a:xfrm>
          <a:prstGeom prst="rect">
            <a:avLst/>
          </a:prstGeom>
          <a:noFill/>
          <a:ln/>
        </p:spPr>
        <p:txBody>
          <a:bodyPr wrap="square" lIns="0" tIns="0" rIns="0" bIns="0" rtlCol="0" anchor="ctr">
            <a:normAutofit/>
          </a:bodyPr>
          <a:lstStyle/>
          <a:p>
            <a:pPr indent="0" marL="0">
              <a:buNone/>
            </a:pPr>
            <a:r>
              <a:rPr lang="en-US" sz="1200" b="1" spc="90" kern="0" dirty="0">
                <a:solidFill>
                  <a:srgbClr val="65E2CB"/>
                </a:solidFill>
                <a:latin typeface="Avenir Next" pitchFamily="34" charset="0"/>
                <a:ea typeface="Avenir Next" pitchFamily="34" charset="-122"/>
                <a:cs typeface="Avenir Next" pitchFamily="34" charset="-120"/>
              </a:rPr>
              <a:t>MUNICIPALITY</a:t>
            </a:r>
            <a:endParaRPr lang="en-US" sz="1200" dirty="0"/>
          </a:p>
        </p:txBody>
      </p:sp>
      <p:sp>
        <p:nvSpPr>
          <p:cNvPr id="13" name="Text 11"/>
          <p:cNvSpPr/>
          <p:nvPr/>
        </p:nvSpPr>
        <p:spPr>
          <a:xfrm>
            <a:off x="4828032" y="3566160"/>
            <a:ext cx="2523744" cy="1316736"/>
          </a:xfrm>
          <a:prstGeom prst="rect">
            <a:avLst/>
          </a:prstGeom>
          <a:noFill/>
          <a:ln/>
        </p:spPr>
        <p:txBody>
          <a:bodyPr wrap="square" lIns="0" tIns="0" rIns="0" bIns="0" rtlCol="0" anchor="t">
            <a:normAutofit/>
          </a:bodyPr>
          <a:lstStyle/>
          <a:p>
            <a:pPr indent="0" marL="0">
              <a:buNone/>
            </a:pPr>
            <a:r>
              <a:rPr lang="en-US" sz="1220" dirty="0">
                <a:solidFill>
                  <a:srgbClr val="F4F7F6"/>
                </a:solidFill>
                <a:latin typeface="Avenir Next" pitchFamily="34" charset="0"/>
                <a:ea typeface="Avenir Next" pitchFamily="34" charset="-122"/>
                <a:cs typeface="Avenir Next" pitchFamily="34" charset="-120"/>
              </a:rPr>
              <a:t>One stable gateway</a:t>
            </a:r>
            <a:endParaRPr lang="en-US" sz="1220" dirty="0"/>
          </a:p>
          <a:p>
            <a:pPr indent="0" marL="0">
              <a:buNone/>
            </a:pPr>
            <a:r>
              <a:rPr lang="en-US" sz="1220" dirty="0">
                <a:solidFill>
                  <a:srgbClr val="F4F7F6"/>
                </a:solidFill>
                <a:latin typeface="Avenir Next" pitchFamily="34" charset="0"/>
                <a:ea typeface="Avenir Next" pitchFamily="34" charset="-122"/>
                <a:cs typeface="Avenir Next" pitchFamily="34" charset="-120"/>
              </a:rPr>
              <a:t>Demand, delivery and reserve</a:t>
            </a:r>
            <a:endParaRPr lang="en-US" sz="1220" dirty="0"/>
          </a:p>
          <a:p>
            <a:pPr indent="0" marL="0">
              <a:buNone/>
            </a:pPr>
            <a:r>
              <a:rPr lang="en-US" sz="1220" dirty="0">
                <a:solidFill>
                  <a:srgbClr val="F4F7F6"/>
                </a:solidFill>
                <a:latin typeface="Avenir Next" pitchFamily="34" charset="0"/>
                <a:ea typeface="Avenir Next" pitchFamily="34" charset="-122"/>
                <a:cs typeface="Avenir Next" pitchFamily="34" charset="-120"/>
              </a:rPr>
              <a:t>Local causal trace</a:t>
            </a:r>
            <a:endParaRPr lang="en-US" sz="1220" dirty="0"/>
          </a:p>
        </p:txBody>
      </p:sp>
      <p:sp>
        <p:nvSpPr>
          <p:cNvPr id="14" name="Shape 12"/>
          <p:cNvSpPr/>
          <p:nvPr/>
        </p:nvSpPr>
        <p:spPr>
          <a:xfrm>
            <a:off x="7763256" y="3703320"/>
            <a:ext cx="475488" cy="0"/>
          </a:xfrm>
          <a:prstGeom prst="line">
            <a:avLst/>
          </a:prstGeom>
          <a:noFill/>
          <a:ln w="20320">
            <a:solidFill>
              <a:srgbClr val="65E2CB"/>
            </a:solidFill>
            <a:prstDash val="solid"/>
            <a:headEnd type="none"/>
            <a:tailEnd type="triangle"/>
          </a:ln>
        </p:spPr>
      </p:sp>
      <p:sp>
        <p:nvSpPr>
          <p:cNvPr id="15" name="Shape 13"/>
          <p:cNvSpPr/>
          <p:nvPr/>
        </p:nvSpPr>
        <p:spPr>
          <a:xfrm>
            <a:off x="8375904" y="2267712"/>
            <a:ext cx="2880360" cy="2980944"/>
          </a:xfrm>
          <a:prstGeom prst="roundRect">
            <a:avLst>
              <a:gd name="adj" fmla="val 5079"/>
            </a:avLst>
          </a:prstGeom>
          <a:solidFill>
            <a:srgbClr val="0D1C21"/>
          </a:solidFill>
          <a:ln w="12700">
            <a:solidFill>
              <a:srgbClr val="B784F5"/>
            </a:solidFill>
            <a:prstDash val="solid"/>
          </a:ln>
        </p:spPr>
      </p:sp>
      <p:sp>
        <p:nvSpPr>
          <p:cNvPr id="16" name="Text 14"/>
          <p:cNvSpPr/>
          <p:nvPr/>
        </p:nvSpPr>
        <p:spPr>
          <a:xfrm>
            <a:off x="8650224" y="2478024"/>
            <a:ext cx="475488" cy="274320"/>
          </a:xfrm>
          <a:prstGeom prst="rect">
            <a:avLst/>
          </a:prstGeom>
          <a:noFill/>
          <a:ln/>
        </p:spPr>
        <p:txBody>
          <a:bodyPr wrap="square" lIns="0" tIns="0" rIns="0" bIns="0" rtlCol="0" anchor="ctr">
            <a:normAutofit/>
          </a:bodyPr>
          <a:lstStyle/>
          <a:p>
            <a:pPr indent="0" marL="0">
              <a:buNone/>
            </a:pPr>
            <a:r>
              <a:rPr lang="en-US" sz="1600" b="1" dirty="0">
                <a:solidFill>
                  <a:srgbClr val="B784F5"/>
                </a:solidFill>
                <a:latin typeface="Avenir Next" pitchFamily="34" charset="0"/>
                <a:ea typeface="Avenir Next" pitchFamily="34" charset="-122"/>
                <a:cs typeface="Avenir Next" pitchFamily="34" charset="-120"/>
              </a:rPr>
              <a:t>03</a:t>
            </a:r>
            <a:endParaRPr lang="en-US" sz="1600" dirty="0"/>
          </a:p>
        </p:txBody>
      </p:sp>
      <p:sp>
        <p:nvSpPr>
          <p:cNvPr id="17" name="Text 15"/>
          <p:cNvSpPr/>
          <p:nvPr/>
        </p:nvSpPr>
        <p:spPr>
          <a:xfrm>
            <a:off x="8650224" y="2926080"/>
            <a:ext cx="2331720" cy="310896"/>
          </a:xfrm>
          <a:prstGeom prst="rect">
            <a:avLst/>
          </a:prstGeom>
          <a:noFill/>
          <a:ln/>
        </p:spPr>
        <p:txBody>
          <a:bodyPr wrap="square" lIns="0" tIns="0" rIns="0" bIns="0" rtlCol="0" anchor="ctr">
            <a:normAutofit/>
          </a:bodyPr>
          <a:lstStyle/>
          <a:p>
            <a:pPr indent="0" marL="0">
              <a:buNone/>
            </a:pPr>
            <a:r>
              <a:rPr lang="en-US" sz="1200" b="1" spc="90" kern="0" dirty="0">
                <a:solidFill>
                  <a:srgbClr val="B784F5"/>
                </a:solidFill>
                <a:latin typeface="Avenir Next" pitchFamily="34" charset="0"/>
                <a:ea typeface="Avenir Next" pitchFamily="34" charset="-122"/>
                <a:cs typeface="Avenir Next" pitchFamily="34" charset="-120"/>
              </a:rPr>
              <a:t>CBS BUURT</a:t>
            </a:r>
            <a:endParaRPr lang="en-US" sz="1200" dirty="0"/>
          </a:p>
        </p:txBody>
      </p:sp>
      <p:sp>
        <p:nvSpPr>
          <p:cNvPr id="18" name="Text 16"/>
          <p:cNvSpPr/>
          <p:nvPr/>
        </p:nvSpPr>
        <p:spPr>
          <a:xfrm>
            <a:off x="8650224" y="3383280"/>
            <a:ext cx="2331720" cy="1682496"/>
          </a:xfrm>
          <a:prstGeom prst="rect">
            <a:avLst/>
          </a:prstGeom>
          <a:noFill/>
          <a:ln/>
        </p:spPr>
        <p:txBody>
          <a:bodyPr wrap="square" lIns="0" tIns="0" rIns="0" bIns="0" rtlCol="0" anchor="t">
            <a:normAutofit/>
          </a:bodyPr>
          <a:lstStyle/>
          <a:p>
            <a:pPr indent="0" marL="0">
              <a:buNone/>
            </a:pPr>
            <a:r>
              <a:rPr lang="en-US" sz="1220" dirty="0">
                <a:solidFill>
                  <a:srgbClr val="F4F7F6"/>
                </a:solidFill>
                <a:latin typeface="Avenir Next" pitchFamily="34" charset="0"/>
                <a:ea typeface="Avenir Next" pitchFamily="34" charset="-122"/>
                <a:cs typeface="Avenir Next" pitchFamily="34" charset="-120"/>
              </a:rPr>
              <a:t>Population + vulnerability weights</a:t>
            </a:r>
            <a:endParaRPr lang="en-US" sz="1220" dirty="0"/>
          </a:p>
          <a:p>
            <a:pPr indent="0" marL="0">
              <a:buNone/>
            </a:pPr>
            <a:r>
              <a:rPr lang="en-US" sz="1220" dirty="0">
                <a:solidFill>
                  <a:srgbClr val="F4F7F6"/>
                </a:solidFill>
                <a:latin typeface="Avenir Next" pitchFamily="34" charset="0"/>
                <a:ea typeface="Avenir Next" pitchFamily="34" charset="-122"/>
                <a:cs typeface="Avenir Next" pitchFamily="34" charset="-120"/>
              </a:rPr>
              <a:t>Local impact allocation</a:t>
            </a:r>
            <a:endParaRPr lang="en-US" sz="1220" dirty="0"/>
          </a:p>
          <a:p>
            <a:pPr indent="0" marL="0">
              <a:buNone/>
            </a:pPr>
            <a:r>
              <a:rPr lang="en-US" sz="1220" dirty="0">
                <a:solidFill>
                  <a:srgbClr val="F4F7F6"/>
                </a:solidFill>
                <a:latin typeface="Avenir Next" pitchFamily="34" charset="0"/>
                <a:ea typeface="Avenir Next" pitchFamily="34" charset="-122"/>
                <a:cs typeface="Avenir Next" pitchFamily="34" charset="-120"/>
              </a:rPr>
              <a:t>Official regional context</a:t>
            </a:r>
            <a:endParaRPr lang="en-US" sz="1220" dirty="0"/>
          </a:p>
        </p:txBody>
      </p:sp>
      <p:sp>
        <p:nvSpPr>
          <p:cNvPr id="19" name="Shape 17"/>
          <p:cNvSpPr/>
          <p:nvPr/>
        </p:nvSpPr>
        <p:spPr>
          <a:xfrm>
            <a:off x="1463040" y="5669280"/>
            <a:ext cx="9326880" cy="420624"/>
          </a:xfrm>
          <a:prstGeom prst="roundRect">
            <a:avLst>
              <a:gd name="adj" fmla="val 26087"/>
            </a:avLst>
          </a:prstGeom>
          <a:solidFill>
            <a:srgbClr val="12272D"/>
          </a:solidFill>
          <a:ln w="12700">
            <a:solidFill>
              <a:srgbClr val="294047"/>
            </a:solidFill>
            <a:prstDash val="solid"/>
          </a:ln>
        </p:spPr>
      </p:sp>
      <p:sp>
        <p:nvSpPr>
          <p:cNvPr id="20" name="Text 18"/>
          <p:cNvSpPr/>
          <p:nvPr/>
        </p:nvSpPr>
        <p:spPr>
          <a:xfrm>
            <a:off x="1700784" y="5769864"/>
            <a:ext cx="1481328" cy="182880"/>
          </a:xfrm>
          <a:prstGeom prst="rect">
            <a:avLst/>
          </a:prstGeom>
          <a:noFill/>
          <a:ln/>
        </p:spPr>
        <p:txBody>
          <a:bodyPr wrap="square" lIns="0" tIns="0" rIns="0" bIns="0" rtlCol="0" anchor="ctr">
            <a:normAutofit/>
          </a:bodyPr>
          <a:lstStyle/>
          <a:p>
            <a:pPr indent="0" marL="0">
              <a:buNone/>
            </a:pPr>
            <a:r>
              <a:rPr lang="en-US" sz="850" b="1" spc="100" kern="0" dirty="0">
                <a:solidFill>
                  <a:srgbClr val="F4B85D"/>
                </a:solidFill>
                <a:latin typeface="Avenir Next" pitchFamily="34" charset="0"/>
                <a:ea typeface="Avenir Next" pitchFamily="34" charset="-122"/>
                <a:cs typeface="Avenir Next" pitchFamily="34" charset="-120"/>
              </a:rPr>
              <a:t>CONSERVATION RULE</a:t>
            </a:r>
            <a:endParaRPr lang="en-US" sz="850" dirty="0"/>
          </a:p>
        </p:txBody>
      </p:sp>
      <p:sp>
        <p:nvSpPr>
          <p:cNvPr id="21" name="Text 19"/>
          <p:cNvSpPr/>
          <p:nvPr/>
        </p:nvSpPr>
        <p:spPr>
          <a:xfrm>
            <a:off x="3310128" y="5715000"/>
            <a:ext cx="7132320" cy="256032"/>
          </a:xfrm>
          <a:prstGeom prst="rect">
            <a:avLst/>
          </a:prstGeom>
          <a:noFill/>
          <a:ln/>
        </p:spPr>
        <p:txBody>
          <a:bodyPr wrap="square" lIns="0" tIns="0" rIns="0" bIns="0" rtlCol="0" anchor="ctr">
            <a:normAutofit/>
          </a:bodyPr>
          <a:lstStyle/>
          <a:p>
            <a:pPr indent="0" marL="0">
              <a:buNone/>
            </a:pPr>
            <a:r>
              <a:rPr lang="en-US" sz="1250" b="1" dirty="0">
                <a:solidFill>
                  <a:srgbClr val="F4F7F6"/>
                </a:solidFill>
                <a:latin typeface="Avenir Next" pitchFamily="34" charset="0"/>
                <a:ea typeface="Avenir Next" pitchFamily="34" charset="-122"/>
                <a:cs typeface="Avenir Next" pitchFamily="34" charset="-120"/>
              </a:rPr>
              <a:t>Local allocation redistributes municipal inflow; it never creates supply.</a:t>
            </a:r>
            <a:endParaRPr lang="en-US" sz="1250" dirty="0"/>
          </a:p>
        </p:txBody>
      </p:sp>
      <p:sp>
        <p:nvSpPr>
          <p:cNvPr id="23" name="Shape 20"/>
          <p:cNvSpPr/>
          <p:nvPr/>
        </p:nvSpPr>
        <p:spPr>
          <a:xfrm>
            <a:off x="502920" y="292608"/>
            <a:ext cx="310896" cy="310896"/>
          </a:xfrm>
          <a:prstGeom prst="ellipse">
            <a:avLst/>
          </a:prstGeom>
          <a:solidFill>
            <a:srgbClr val="12272D"/>
          </a:solidFill>
          <a:ln w="12700">
            <a:solidFill>
              <a:srgbClr val="65E2CB"/>
            </a:solidFill>
            <a:prstDash val="solid"/>
          </a:ln>
        </p:spPr>
      </p:sp>
      <p:sp>
        <p:nvSpPr>
          <p:cNvPr id="24" name="Shape 21"/>
          <p:cNvSpPr/>
          <p:nvPr/>
        </p:nvSpPr>
        <p:spPr>
          <a:xfrm>
            <a:off x="597103" y="374904"/>
            <a:ext cx="118872" cy="118872"/>
          </a:xfrm>
          <a:prstGeom prst="ellipse">
            <a:avLst/>
          </a:prstGeom>
          <a:solidFill>
            <a:srgbClr val="071216"/>
          </a:solidFill>
          <a:ln w="12700">
            <a:solidFill>
              <a:srgbClr val="65E2CB"/>
            </a:solidFill>
            <a:prstDash val="solid"/>
          </a:ln>
        </p:spPr>
      </p:sp>
      <p:sp>
        <p:nvSpPr>
          <p:cNvPr id="25" name="Shape 22"/>
          <p:cNvSpPr/>
          <p:nvPr/>
        </p:nvSpPr>
        <p:spPr>
          <a:xfrm>
            <a:off x="658368" y="356616"/>
            <a:ext cx="0" cy="182880"/>
          </a:xfrm>
          <a:prstGeom prst="line">
            <a:avLst/>
          </a:prstGeom>
          <a:noFill/>
          <a:ln w="15240">
            <a:solidFill>
              <a:srgbClr val="65E2CB"/>
            </a:solidFill>
            <a:prstDash val="solid"/>
            <a:headEnd type="none"/>
            <a:tailEnd type="none"/>
          </a:ln>
        </p:spPr>
      </p:sp>
      <p:sp>
        <p:nvSpPr>
          <p:cNvPr id="26" name="Text 23"/>
          <p:cNvSpPr/>
          <p:nvPr/>
        </p:nvSpPr>
        <p:spPr>
          <a:xfrm>
            <a:off x="896112" y="310896"/>
            <a:ext cx="2011680" cy="201168"/>
          </a:xfrm>
          <a:prstGeom prst="rect">
            <a:avLst/>
          </a:prstGeom>
          <a:noFill/>
          <a:ln/>
        </p:spPr>
        <p:txBody>
          <a:bodyPr wrap="square" lIns="0" tIns="0" rIns="0" bIns="0" rtlCol="0" anchor="ctr">
            <a:normAutofit/>
          </a:bodyPr>
          <a:lstStyle/>
          <a:p>
            <a:pPr indent="0" marL="0">
              <a:buNone/>
            </a:pPr>
            <a:r>
              <a:rPr lang="en-US" sz="900" b="1" spc="140" kern="0" dirty="0">
                <a:solidFill>
                  <a:srgbClr val="9BB0B5"/>
                </a:solidFill>
                <a:latin typeface="Avenir Next" pitchFamily="34" charset="0"/>
                <a:ea typeface="Avenir Next" pitchFamily="34" charset="-122"/>
                <a:cs typeface="Avenir Next" pitchFamily="34" charset="-120"/>
              </a:rPr>
              <a:t>NL RESILIENCE LAB</a:t>
            </a:r>
            <a:endParaRPr lang="en-US" sz="900" dirty="0"/>
          </a:p>
        </p:txBody>
      </p:sp>
      <p:sp>
        <p:nvSpPr>
          <p:cNvPr id="27" name="Text 24"/>
          <p:cNvSpPr/>
          <p:nvPr/>
        </p:nvSpPr>
        <p:spPr>
          <a:xfrm>
            <a:off x="9052560" y="310896"/>
            <a:ext cx="2514600" cy="201168"/>
          </a:xfrm>
          <a:prstGeom prst="rect">
            <a:avLst/>
          </a:prstGeom>
          <a:noFill/>
          <a:ln/>
        </p:spPr>
        <p:txBody>
          <a:bodyPr wrap="square" lIns="0" tIns="0" rIns="0" bIns="0" rtlCol="0" anchor="ctr">
            <a:normAutofit/>
          </a:bodyPr>
          <a:lstStyle/>
          <a:p>
            <a:pPr algn="r" indent="0" marL="0">
              <a:buNone/>
            </a:pPr>
            <a:r>
              <a:rPr lang="en-US" sz="850" b="1" spc="125" kern="0" dirty="0">
                <a:solidFill>
                  <a:srgbClr val="688087"/>
                </a:solidFill>
                <a:latin typeface="Avenir Next" pitchFamily="34" charset="0"/>
                <a:ea typeface="Avenir Next" pitchFamily="34" charset="-122"/>
                <a:cs typeface="Avenir Next" pitchFamily="34" charset="-120"/>
              </a:rPr>
              <a:t>SYSTEM DESIGN</a:t>
            </a:r>
            <a:endParaRPr lang="en-US" sz="850" dirty="0"/>
          </a:p>
        </p:txBody>
      </p:sp>
      <p:sp>
        <p:nvSpPr>
          <p:cNvPr id="28" name="Shape 25"/>
          <p:cNvSpPr/>
          <p:nvPr/>
        </p:nvSpPr>
        <p:spPr>
          <a:xfrm>
            <a:off x="502920" y="749808"/>
            <a:ext cx="10680192" cy="0"/>
          </a:xfrm>
          <a:prstGeom prst="line">
            <a:avLst/>
          </a:prstGeom>
          <a:noFill/>
          <a:ln w="8890">
            <a:solidFill>
              <a:srgbClr val="294047"/>
            </a:solidFill>
            <a:prstDash val="solid"/>
            <a:headEnd type="none"/>
            <a:tailEnd type="none"/>
          </a:ln>
        </p:spPr>
      </p:sp>
      <p:sp>
        <p:nvSpPr>
          <p:cNvPr id="25" name="Slide Number Placeholder 0"/>
          <p:cNvSpPr>
            <a:spLocks noGrp="1"/>
          </p:cNvSpPr>
          <p:nvPr>
            <p:ph type="sldNum" sz="quarter" idx="4294967295"/>
          </p:nvPr>
        </p:nvSpPr>
        <p:spPr>
          <a:xfrm>
            <a:off x="11119104" y="6446520"/>
            <a:ext cx="475488"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8087"/>
                </a:solidFill>
                <a:latin typeface="Avenir Next"/>
                <a:ea typeface="Avenir Next"/>
                <a:cs typeface="Avenir Next"/>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216"/>
        </a:solidFill>
      </p:bgPr>
    </p:bg>
    <p:spTree>
      <p:nvGrpSpPr>
        <p:cNvPr id="1" name=""/>
        <p:cNvGrpSpPr/>
        <p:nvPr/>
      </p:nvGrpSpPr>
      <p:grpSpPr>
        <a:xfrm>
          <a:off x="0" y="0"/>
          <a:ext cx="0" cy="0"/>
          <a:chOff x="0" y="0"/>
          <a:chExt cx="0" cy="0"/>
        </a:xfrm>
      </p:grpSpPr>
      <p:sp>
        <p:nvSpPr>
          <p:cNvPr id="2" name="Text 0"/>
          <p:cNvSpPr/>
          <p:nvPr/>
        </p:nvSpPr>
        <p:spPr>
          <a:xfrm>
            <a:off x="594360" y="950976"/>
            <a:ext cx="2377440" cy="201168"/>
          </a:xfrm>
          <a:prstGeom prst="rect">
            <a:avLst/>
          </a:prstGeom>
          <a:noFill/>
          <a:ln/>
        </p:spPr>
        <p:txBody>
          <a:bodyPr wrap="square" lIns="0" tIns="0" rIns="0" bIns="0" rtlCol="0" anchor="ctr">
            <a:normAutofit/>
          </a:bodyPr>
          <a:lstStyle/>
          <a:p>
            <a:pPr indent="0" marL="0">
              <a:buNone/>
            </a:pPr>
            <a:r>
              <a:rPr lang="en-US" sz="900" b="1" spc="165" kern="0" dirty="0">
                <a:solidFill>
                  <a:srgbClr val="65E2CB"/>
                </a:solidFill>
                <a:latin typeface="Avenir Next" pitchFamily="34" charset="0"/>
                <a:ea typeface="Avenir Next" pitchFamily="34" charset="-122"/>
                <a:cs typeface="Avenir Next" pitchFamily="34" charset="-120"/>
              </a:rPr>
              <a:t>ENGINE</a:t>
            </a:r>
            <a:endParaRPr lang="en-US" sz="900" dirty="0"/>
          </a:p>
        </p:txBody>
      </p:sp>
      <p:sp>
        <p:nvSpPr>
          <p:cNvPr id="3" name="Text 1"/>
          <p:cNvSpPr/>
          <p:nvPr/>
        </p:nvSpPr>
        <p:spPr>
          <a:xfrm>
            <a:off x="594360" y="1188720"/>
            <a:ext cx="10972800" cy="566928"/>
          </a:xfrm>
          <a:prstGeom prst="rect">
            <a:avLst/>
          </a:prstGeom>
          <a:noFill/>
          <a:ln/>
        </p:spPr>
        <p:txBody>
          <a:bodyPr wrap="square" lIns="0" tIns="0" rIns="0" bIns="0" rtlCol="0" anchor="ctr">
            <a:normAutofit/>
          </a:bodyPr>
          <a:lstStyle/>
          <a:p>
            <a:pPr indent="0" marL="0">
              <a:buNone/>
            </a:pPr>
            <a:r>
              <a:rPr lang="en-US" sz="2900" b="1" dirty="0">
                <a:solidFill>
                  <a:srgbClr val="F4F7F6"/>
                </a:solidFill>
                <a:latin typeface="Avenir Next" pitchFamily="34" charset="0"/>
                <a:ea typeface="Avenir Next" pitchFamily="34" charset="-122"/>
                <a:cs typeface="Avenir Next" pitchFamily="34" charset="-120"/>
              </a:rPr>
              <a:t>How a simulation is produced</a:t>
            </a:r>
            <a:endParaRPr lang="en-US" sz="2900" dirty="0"/>
          </a:p>
        </p:txBody>
      </p:sp>
      <p:sp>
        <p:nvSpPr>
          <p:cNvPr id="4" name="Text 2"/>
          <p:cNvSpPr/>
          <p:nvPr/>
        </p:nvSpPr>
        <p:spPr>
          <a:xfrm>
            <a:off x="594360" y="1746504"/>
            <a:ext cx="10789920" cy="393192"/>
          </a:xfrm>
          <a:prstGeom prst="rect">
            <a:avLst/>
          </a:prstGeom>
          <a:noFill/>
          <a:ln/>
        </p:spPr>
        <p:txBody>
          <a:bodyPr wrap="square" lIns="0" tIns="0" rIns="0" bIns="0" rtlCol="0" anchor="ctr">
            <a:normAutofit/>
          </a:bodyPr>
          <a:lstStyle/>
          <a:p>
            <a:pPr indent="0" marL="0">
              <a:buNone/>
            </a:pPr>
            <a:r>
              <a:rPr lang="en-US" sz="1250" dirty="0">
                <a:solidFill>
                  <a:srgbClr val="9BB0B5"/>
                </a:solidFill>
                <a:latin typeface="Avenir Next" pitchFamily="34" charset="0"/>
                <a:ea typeface="Avenir Next" pitchFamily="34" charset="-122"/>
                <a:cs typeface="Avenir Next" pitchFamily="34" charset="-120"/>
              </a:rPr>
              <a:t>Each quarter-hour frame is a deterministic sequence of visible model stages.</a:t>
            </a:r>
            <a:endParaRPr lang="en-US" sz="1250" dirty="0"/>
          </a:p>
        </p:txBody>
      </p:sp>
      <p:sp>
        <p:nvSpPr>
          <p:cNvPr id="5" name="Shape 3"/>
          <p:cNvSpPr/>
          <p:nvPr/>
        </p:nvSpPr>
        <p:spPr>
          <a:xfrm>
            <a:off x="1143000" y="2468880"/>
            <a:ext cx="530352" cy="530352"/>
          </a:xfrm>
          <a:prstGeom prst="ellipse">
            <a:avLst/>
          </a:prstGeom>
          <a:solidFill>
            <a:srgbClr val="12272D"/>
          </a:solidFill>
          <a:ln w="15240">
            <a:solidFill>
              <a:srgbClr val="59D5F6"/>
            </a:solidFill>
            <a:prstDash val="solid"/>
          </a:ln>
        </p:spPr>
      </p:sp>
      <p:sp>
        <p:nvSpPr>
          <p:cNvPr id="6" name="Text 4"/>
          <p:cNvSpPr/>
          <p:nvPr/>
        </p:nvSpPr>
        <p:spPr>
          <a:xfrm>
            <a:off x="1143000" y="2578608"/>
            <a:ext cx="530352" cy="256032"/>
          </a:xfrm>
          <a:prstGeom prst="rect">
            <a:avLst/>
          </a:prstGeom>
          <a:noFill/>
          <a:ln/>
        </p:spPr>
        <p:txBody>
          <a:bodyPr wrap="square" lIns="0" tIns="0" rIns="0" bIns="0" rtlCol="0" anchor="ctr">
            <a:normAutofit/>
          </a:bodyPr>
          <a:lstStyle/>
          <a:p>
            <a:pPr algn="ctr" indent="0" marL="0">
              <a:buNone/>
            </a:pPr>
            <a:r>
              <a:rPr lang="en-US" sz="1100" b="1" dirty="0">
                <a:solidFill>
                  <a:srgbClr val="59D5F6"/>
                </a:solidFill>
                <a:latin typeface="Avenir Next" pitchFamily="34" charset="0"/>
                <a:ea typeface="Avenir Next" pitchFamily="34" charset="-122"/>
                <a:cs typeface="Avenir Next" pitchFamily="34" charset="-120"/>
              </a:rPr>
              <a:t>01</a:t>
            </a:r>
            <a:endParaRPr lang="en-US" sz="1100" dirty="0"/>
          </a:p>
        </p:txBody>
      </p:sp>
      <p:sp>
        <p:nvSpPr>
          <p:cNvPr id="7" name="Text 5"/>
          <p:cNvSpPr/>
          <p:nvPr/>
        </p:nvSpPr>
        <p:spPr>
          <a:xfrm>
            <a:off x="566928" y="3200400"/>
            <a:ext cx="1682496" cy="246888"/>
          </a:xfrm>
          <a:prstGeom prst="rect">
            <a:avLst/>
          </a:prstGeom>
          <a:noFill/>
          <a:ln/>
        </p:spPr>
        <p:txBody>
          <a:bodyPr wrap="square" lIns="0" tIns="0" rIns="0" bIns="0" rtlCol="0" anchor="ctr">
            <a:normAutofit/>
          </a:bodyPr>
          <a:lstStyle/>
          <a:p>
            <a:pPr algn="ctr" indent="0" marL="0">
              <a:buNone/>
            </a:pPr>
            <a:r>
              <a:rPr lang="en-US" sz="900" b="1" spc="110" kern="0" dirty="0">
                <a:solidFill>
                  <a:srgbClr val="59D5F6"/>
                </a:solidFill>
                <a:latin typeface="Avenir Next" pitchFamily="34" charset="0"/>
                <a:ea typeface="Avenir Next" pitchFamily="34" charset="-122"/>
                <a:cs typeface="Avenir Next" pitchFamily="34" charset="-120"/>
              </a:rPr>
              <a:t>SCENARIO</a:t>
            </a:r>
            <a:endParaRPr lang="en-US" sz="900" dirty="0"/>
          </a:p>
        </p:txBody>
      </p:sp>
      <p:sp>
        <p:nvSpPr>
          <p:cNvPr id="8" name="Text 6"/>
          <p:cNvSpPr/>
          <p:nvPr/>
        </p:nvSpPr>
        <p:spPr>
          <a:xfrm>
            <a:off x="566928" y="3547872"/>
            <a:ext cx="1682496" cy="1005840"/>
          </a:xfrm>
          <a:prstGeom prst="rect">
            <a:avLst/>
          </a:prstGeom>
          <a:noFill/>
          <a:ln/>
        </p:spPr>
        <p:txBody>
          <a:bodyPr wrap="square" lIns="0" tIns="0" rIns="0" bIns="0" rtlCol="0" anchor="t">
            <a:normAutofit/>
          </a:bodyPr>
          <a:lstStyle/>
          <a:p>
            <a:pPr algn="ctr" indent="0" marL="0">
              <a:buNone/>
            </a:pPr>
            <a:r>
              <a:rPr lang="en-US" sz="1010" dirty="0">
                <a:solidFill>
                  <a:srgbClr val="9BB0B5"/>
                </a:solidFill>
                <a:latin typeface="Avenir Next" pitchFamily="34" charset="0"/>
                <a:ea typeface="Avenir Next" pitchFamily="34" charset="-122"/>
                <a:cs typeface="Avenir Next" pitchFamily="34" charset="-120"/>
              </a:rPr>
              <a:t>Hazard, season, climate, intensity, start and duration</a:t>
            </a:r>
            <a:endParaRPr lang="en-US" sz="1010" dirty="0"/>
          </a:p>
        </p:txBody>
      </p:sp>
      <p:sp>
        <p:nvSpPr>
          <p:cNvPr id="9" name="Shape 7"/>
          <p:cNvSpPr/>
          <p:nvPr/>
        </p:nvSpPr>
        <p:spPr>
          <a:xfrm>
            <a:off x="1920240" y="2734056"/>
            <a:ext cx="475488" cy="0"/>
          </a:xfrm>
          <a:prstGeom prst="line">
            <a:avLst/>
          </a:prstGeom>
          <a:noFill/>
          <a:ln w="15875">
            <a:solidFill>
              <a:srgbClr val="294047"/>
            </a:solidFill>
            <a:prstDash val="solid"/>
            <a:headEnd type="none"/>
            <a:tailEnd type="triangle"/>
          </a:ln>
        </p:spPr>
      </p:sp>
      <p:sp>
        <p:nvSpPr>
          <p:cNvPr id="10" name="Shape 8"/>
          <p:cNvSpPr/>
          <p:nvPr/>
        </p:nvSpPr>
        <p:spPr>
          <a:xfrm>
            <a:off x="3054096" y="2468880"/>
            <a:ext cx="530352" cy="530352"/>
          </a:xfrm>
          <a:prstGeom prst="ellipse">
            <a:avLst/>
          </a:prstGeom>
          <a:solidFill>
            <a:srgbClr val="12272D"/>
          </a:solidFill>
          <a:ln w="15240">
            <a:solidFill>
              <a:srgbClr val="B784F5"/>
            </a:solidFill>
            <a:prstDash val="solid"/>
          </a:ln>
        </p:spPr>
      </p:sp>
      <p:sp>
        <p:nvSpPr>
          <p:cNvPr id="11" name="Text 9"/>
          <p:cNvSpPr/>
          <p:nvPr/>
        </p:nvSpPr>
        <p:spPr>
          <a:xfrm>
            <a:off x="3054096" y="2578608"/>
            <a:ext cx="530352" cy="256032"/>
          </a:xfrm>
          <a:prstGeom prst="rect">
            <a:avLst/>
          </a:prstGeom>
          <a:noFill/>
          <a:ln/>
        </p:spPr>
        <p:txBody>
          <a:bodyPr wrap="square" lIns="0" tIns="0" rIns="0" bIns="0" rtlCol="0" anchor="ctr">
            <a:normAutofit/>
          </a:bodyPr>
          <a:lstStyle/>
          <a:p>
            <a:pPr algn="ctr" indent="0" marL="0">
              <a:buNone/>
            </a:pPr>
            <a:r>
              <a:rPr lang="en-US" sz="1100" b="1" dirty="0">
                <a:solidFill>
                  <a:srgbClr val="B784F5"/>
                </a:solidFill>
                <a:latin typeface="Avenir Next" pitchFamily="34" charset="0"/>
                <a:ea typeface="Avenir Next" pitchFamily="34" charset="-122"/>
                <a:cs typeface="Avenir Next" pitchFamily="34" charset="-120"/>
              </a:rPr>
              <a:t>02</a:t>
            </a:r>
            <a:endParaRPr lang="en-US" sz="1100" dirty="0"/>
          </a:p>
        </p:txBody>
      </p:sp>
      <p:sp>
        <p:nvSpPr>
          <p:cNvPr id="12" name="Text 10"/>
          <p:cNvSpPr/>
          <p:nvPr/>
        </p:nvSpPr>
        <p:spPr>
          <a:xfrm>
            <a:off x="2478024" y="3200400"/>
            <a:ext cx="1682496" cy="246888"/>
          </a:xfrm>
          <a:prstGeom prst="rect">
            <a:avLst/>
          </a:prstGeom>
          <a:noFill/>
          <a:ln/>
        </p:spPr>
        <p:txBody>
          <a:bodyPr wrap="square" lIns="0" tIns="0" rIns="0" bIns="0" rtlCol="0" anchor="ctr">
            <a:normAutofit/>
          </a:bodyPr>
          <a:lstStyle/>
          <a:p>
            <a:pPr algn="ctr" indent="0" marL="0">
              <a:buNone/>
            </a:pPr>
            <a:r>
              <a:rPr lang="en-US" sz="900" b="1" spc="110" kern="0" dirty="0">
                <a:solidFill>
                  <a:srgbClr val="B784F5"/>
                </a:solidFill>
                <a:latin typeface="Avenir Next" pitchFamily="34" charset="0"/>
                <a:ea typeface="Avenir Next" pitchFamily="34" charset="-122"/>
                <a:cs typeface="Avenir Next" pitchFamily="34" charset="-120"/>
              </a:rPr>
              <a:t>HAZARD</a:t>
            </a:r>
            <a:endParaRPr lang="en-US" sz="900" dirty="0"/>
          </a:p>
        </p:txBody>
      </p:sp>
      <p:sp>
        <p:nvSpPr>
          <p:cNvPr id="13" name="Text 11"/>
          <p:cNvSpPr/>
          <p:nvPr/>
        </p:nvSpPr>
        <p:spPr>
          <a:xfrm>
            <a:off x="2478024" y="3547872"/>
            <a:ext cx="1682496" cy="1005840"/>
          </a:xfrm>
          <a:prstGeom prst="rect">
            <a:avLst/>
          </a:prstGeom>
          <a:noFill/>
          <a:ln/>
        </p:spPr>
        <p:txBody>
          <a:bodyPr wrap="square" lIns="0" tIns="0" rIns="0" bIns="0" rtlCol="0" anchor="t">
            <a:normAutofit/>
          </a:bodyPr>
          <a:lstStyle/>
          <a:p>
            <a:pPr algn="ctr" indent="0" marL="0">
              <a:buNone/>
            </a:pPr>
            <a:r>
              <a:rPr lang="en-US" sz="1010" dirty="0">
                <a:solidFill>
                  <a:srgbClr val="9BB0B5"/>
                </a:solidFill>
                <a:latin typeface="Avenir Next" pitchFamily="34" charset="0"/>
                <a:ea typeface="Avenir Next" pitchFamily="34" charset="-122"/>
                <a:cs typeface="Avenir Next" pitchFamily="34" charset="-120"/>
              </a:rPr>
              <a:t>Time envelope + spatial eligibility + audited guards</a:t>
            </a:r>
            <a:endParaRPr lang="en-US" sz="1010" dirty="0"/>
          </a:p>
        </p:txBody>
      </p:sp>
      <p:sp>
        <p:nvSpPr>
          <p:cNvPr id="14" name="Shape 12"/>
          <p:cNvSpPr/>
          <p:nvPr/>
        </p:nvSpPr>
        <p:spPr>
          <a:xfrm>
            <a:off x="3831336" y="2734056"/>
            <a:ext cx="475488" cy="0"/>
          </a:xfrm>
          <a:prstGeom prst="line">
            <a:avLst/>
          </a:prstGeom>
          <a:noFill/>
          <a:ln w="15875">
            <a:solidFill>
              <a:srgbClr val="294047"/>
            </a:solidFill>
            <a:prstDash val="solid"/>
            <a:headEnd type="none"/>
            <a:tailEnd type="triangle"/>
          </a:ln>
        </p:spPr>
      </p:sp>
      <p:sp>
        <p:nvSpPr>
          <p:cNvPr id="15" name="Shape 13"/>
          <p:cNvSpPr/>
          <p:nvPr/>
        </p:nvSpPr>
        <p:spPr>
          <a:xfrm>
            <a:off x="4965192" y="2468880"/>
            <a:ext cx="530352" cy="530352"/>
          </a:xfrm>
          <a:prstGeom prst="ellipse">
            <a:avLst/>
          </a:prstGeom>
          <a:solidFill>
            <a:srgbClr val="12272D"/>
          </a:solidFill>
          <a:ln w="15240">
            <a:solidFill>
              <a:srgbClr val="F56F7C"/>
            </a:solidFill>
            <a:prstDash val="solid"/>
          </a:ln>
        </p:spPr>
      </p:sp>
      <p:sp>
        <p:nvSpPr>
          <p:cNvPr id="16" name="Text 14"/>
          <p:cNvSpPr/>
          <p:nvPr/>
        </p:nvSpPr>
        <p:spPr>
          <a:xfrm>
            <a:off x="4965192" y="2578608"/>
            <a:ext cx="530352" cy="256032"/>
          </a:xfrm>
          <a:prstGeom prst="rect">
            <a:avLst/>
          </a:prstGeom>
          <a:noFill/>
          <a:ln/>
        </p:spPr>
        <p:txBody>
          <a:bodyPr wrap="square" lIns="0" tIns="0" rIns="0" bIns="0" rtlCol="0" anchor="ctr">
            <a:normAutofit/>
          </a:bodyPr>
          <a:lstStyle/>
          <a:p>
            <a:pPr algn="ctr" indent="0" marL="0">
              <a:buNone/>
            </a:pPr>
            <a:r>
              <a:rPr lang="en-US" sz="1100" b="1" dirty="0">
                <a:solidFill>
                  <a:srgbClr val="F56F7C"/>
                </a:solidFill>
                <a:latin typeface="Avenir Next" pitchFamily="34" charset="0"/>
                <a:ea typeface="Avenir Next" pitchFamily="34" charset="-122"/>
                <a:cs typeface="Avenir Next" pitchFamily="34" charset="-120"/>
              </a:rPr>
              <a:t>03</a:t>
            </a:r>
            <a:endParaRPr lang="en-US" sz="1100" dirty="0"/>
          </a:p>
        </p:txBody>
      </p:sp>
      <p:sp>
        <p:nvSpPr>
          <p:cNvPr id="17" name="Text 15"/>
          <p:cNvSpPr/>
          <p:nvPr/>
        </p:nvSpPr>
        <p:spPr>
          <a:xfrm>
            <a:off x="4389120" y="3200400"/>
            <a:ext cx="1682496" cy="246888"/>
          </a:xfrm>
          <a:prstGeom prst="rect">
            <a:avLst/>
          </a:prstGeom>
          <a:noFill/>
          <a:ln/>
        </p:spPr>
        <p:txBody>
          <a:bodyPr wrap="square" lIns="0" tIns="0" rIns="0" bIns="0" rtlCol="0" anchor="ctr">
            <a:normAutofit/>
          </a:bodyPr>
          <a:lstStyle/>
          <a:p>
            <a:pPr algn="ctr" indent="0" marL="0">
              <a:buNone/>
            </a:pPr>
            <a:r>
              <a:rPr lang="en-US" sz="900" b="1" spc="110" kern="0" dirty="0">
                <a:solidFill>
                  <a:srgbClr val="F56F7C"/>
                </a:solidFill>
                <a:latin typeface="Avenir Next" pitchFamily="34" charset="0"/>
                <a:ea typeface="Avenir Next" pitchFamily="34" charset="-122"/>
                <a:cs typeface="Avenir Next" pitchFamily="34" charset="-120"/>
              </a:rPr>
              <a:t>DAMAGE</a:t>
            </a:r>
            <a:endParaRPr lang="en-US" sz="900" dirty="0"/>
          </a:p>
        </p:txBody>
      </p:sp>
      <p:sp>
        <p:nvSpPr>
          <p:cNvPr id="18" name="Text 16"/>
          <p:cNvSpPr/>
          <p:nvPr/>
        </p:nvSpPr>
        <p:spPr>
          <a:xfrm>
            <a:off x="4389120" y="3547872"/>
            <a:ext cx="1682496" cy="1005840"/>
          </a:xfrm>
          <a:prstGeom prst="rect">
            <a:avLst/>
          </a:prstGeom>
          <a:noFill/>
          <a:ln/>
        </p:spPr>
        <p:txBody>
          <a:bodyPr wrap="square" lIns="0" tIns="0" rIns="0" bIns="0" rtlCol="0" anchor="t">
            <a:normAutofit/>
          </a:bodyPr>
          <a:lstStyle/>
          <a:p>
            <a:pPr algn="ctr" indent="0" marL="0">
              <a:buNone/>
            </a:pPr>
            <a:r>
              <a:rPr lang="en-US" sz="1010" dirty="0">
                <a:solidFill>
                  <a:srgbClr val="9BB0B5"/>
                </a:solidFill>
                <a:latin typeface="Avenir Next" pitchFamily="34" charset="0"/>
                <a:ea typeface="Avenir Next" pitchFamily="34" charset="-122"/>
                <a:cs typeface="Avenir Next" pitchFamily="34" charset="-120"/>
              </a:rPr>
              <a:t>Service-specific pressure × resilience and preparedness</a:t>
            </a:r>
            <a:endParaRPr lang="en-US" sz="1010" dirty="0"/>
          </a:p>
        </p:txBody>
      </p:sp>
      <p:sp>
        <p:nvSpPr>
          <p:cNvPr id="19" name="Shape 17"/>
          <p:cNvSpPr/>
          <p:nvPr/>
        </p:nvSpPr>
        <p:spPr>
          <a:xfrm>
            <a:off x="5742432" y="2734056"/>
            <a:ext cx="475488" cy="0"/>
          </a:xfrm>
          <a:prstGeom prst="line">
            <a:avLst/>
          </a:prstGeom>
          <a:noFill/>
          <a:ln w="15875">
            <a:solidFill>
              <a:srgbClr val="294047"/>
            </a:solidFill>
            <a:prstDash val="solid"/>
            <a:headEnd type="none"/>
            <a:tailEnd type="triangle"/>
          </a:ln>
        </p:spPr>
      </p:sp>
      <p:sp>
        <p:nvSpPr>
          <p:cNvPr id="20" name="Shape 18"/>
          <p:cNvSpPr/>
          <p:nvPr/>
        </p:nvSpPr>
        <p:spPr>
          <a:xfrm>
            <a:off x="6876288" y="2468880"/>
            <a:ext cx="530352" cy="530352"/>
          </a:xfrm>
          <a:prstGeom prst="ellipse">
            <a:avLst/>
          </a:prstGeom>
          <a:solidFill>
            <a:srgbClr val="12272D"/>
          </a:solidFill>
          <a:ln w="15240">
            <a:solidFill>
              <a:srgbClr val="F4B85D"/>
            </a:solidFill>
            <a:prstDash val="solid"/>
          </a:ln>
        </p:spPr>
      </p:sp>
      <p:sp>
        <p:nvSpPr>
          <p:cNvPr id="21" name="Text 19"/>
          <p:cNvSpPr/>
          <p:nvPr/>
        </p:nvSpPr>
        <p:spPr>
          <a:xfrm>
            <a:off x="6876288" y="2578608"/>
            <a:ext cx="530352" cy="256032"/>
          </a:xfrm>
          <a:prstGeom prst="rect">
            <a:avLst/>
          </a:prstGeom>
          <a:noFill/>
          <a:ln/>
        </p:spPr>
        <p:txBody>
          <a:bodyPr wrap="square" lIns="0" tIns="0" rIns="0" bIns="0" rtlCol="0" anchor="ctr">
            <a:normAutofit/>
          </a:bodyPr>
          <a:lstStyle/>
          <a:p>
            <a:pPr algn="ctr" indent="0" marL="0">
              <a:buNone/>
            </a:pPr>
            <a:r>
              <a:rPr lang="en-US" sz="1100" b="1" dirty="0">
                <a:solidFill>
                  <a:srgbClr val="F4B85D"/>
                </a:solidFill>
                <a:latin typeface="Avenir Next" pitchFamily="34" charset="0"/>
                <a:ea typeface="Avenir Next" pitchFamily="34" charset="-122"/>
                <a:cs typeface="Avenir Next" pitchFamily="34" charset="-120"/>
              </a:rPr>
              <a:t>04</a:t>
            </a:r>
            <a:endParaRPr lang="en-US" sz="1100" dirty="0"/>
          </a:p>
        </p:txBody>
      </p:sp>
      <p:sp>
        <p:nvSpPr>
          <p:cNvPr id="22" name="Text 20"/>
          <p:cNvSpPr/>
          <p:nvPr/>
        </p:nvSpPr>
        <p:spPr>
          <a:xfrm>
            <a:off x="6300216" y="3200400"/>
            <a:ext cx="1682496" cy="246888"/>
          </a:xfrm>
          <a:prstGeom prst="rect">
            <a:avLst/>
          </a:prstGeom>
          <a:noFill/>
          <a:ln/>
        </p:spPr>
        <p:txBody>
          <a:bodyPr wrap="square" lIns="0" tIns="0" rIns="0" bIns="0" rtlCol="0" anchor="ctr">
            <a:normAutofit/>
          </a:bodyPr>
          <a:lstStyle/>
          <a:p>
            <a:pPr algn="ctr" indent="0" marL="0">
              <a:buNone/>
            </a:pPr>
            <a:r>
              <a:rPr lang="en-US" sz="900" b="1" spc="110" kern="0" dirty="0">
                <a:solidFill>
                  <a:srgbClr val="F4B85D"/>
                </a:solidFill>
                <a:latin typeface="Avenir Next" pitchFamily="34" charset="0"/>
                <a:ea typeface="Avenir Next" pitchFamily="34" charset="-122"/>
                <a:cs typeface="Avenir Next" pitchFamily="34" charset="-120"/>
              </a:rPr>
              <a:t>CASCADE</a:t>
            </a:r>
            <a:endParaRPr lang="en-US" sz="900" dirty="0"/>
          </a:p>
        </p:txBody>
      </p:sp>
      <p:sp>
        <p:nvSpPr>
          <p:cNvPr id="23" name="Text 21"/>
          <p:cNvSpPr/>
          <p:nvPr/>
        </p:nvSpPr>
        <p:spPr>
          <a:xfrm>
            <a:off x="6300216" y="3547872"/>
            <a:ext cx="1682496" cy="1005840"/>
          </a:xfrm>
          <a:prstGeom prst="rect">
            <a:avLst/>
          </a:prstGeom>
          <a:noFill/>
          <a:ln/>
        </p:spPr>
        <p:txBody>
          <a:bodyPr wrap="square" lIns="0" tIns="0" rIns="0" bIns="0" rtlCol="0" anchor="t">
            <a:normAutofit/>
          </a:bodyPr>
          <a:lstStyle/>
          <a:p>
            <a:pPr algn="ctr" indent="0" marL="0">
              <a:buNone/>
            </a:pPr>
            <a:r>
              <a:rPr lang="en-US" sz="1010" dirty="0">
                <a:solidFill>
                  <a:srgbClr val="9BB0B5"/>
                </a:solidFill>
                <a:latin typeface="Avenir Next" pitchFamily="34" charset="0"/>
                <a:ea typeface="Avenir Next" pitchFamily="34" charset="-122"/>
                <a:cs typeface="Avenir Next" pitchFamily="34" charset="-120"/>
              </a:rPr>
              <a:t>Power and mobility propagate into dependent services</a:t>
            </a:r>
            <a:endParaRPr lang="en-US" sz="1010" dirty="0"/>
          </a:p>
        </p:txBody>
      </p:sp>
      <p:sp>
        <p:nvSpPr>
          <p:cNvPr id="24" name="Shape 22"/>
          <p:cNvSpPr/>
          <p:nvPr/>
        </p:nvSpPr>
        <p:spPr>
          <a:xfrm>
            <a:off x="7653528" y="2734056"/>
            <a:ext cx="475488" cy="0"/>
          </a:xfrm>
          <a:prstGeom prst="line">
            <a:avLst/>
          </a:prstGeom>
          <a:noFill/>
          <a:ln w="15875">
            <a:solidFill>
              <a:srgbClr val="294047"/>
            </a:solidFill>
            <a:prstDash val="solid"/>
            <a:headEnd type="none"/>
            <a:tailEnd type="triangle"/>
          </a:ln>
        </p:spPr>
      </p:sp>
      <p:sp>
        <p:nvSpPr>
          <p:cNvPr id="25" name="Shape 23"/>
          <p:cNvSpPr/>
          <p:nvPr/>
        </p:nvSpPr>
        <p:spPr>
          <a:xfrm>
            <a:off x="8787384" y="2468880"/>
            <a:ext cx="530352" cy="530352"/>
          </a:xfrm>
          <a:prstGeom prst="ellipse">
            <a:avLst/>
          </a:prstGeom>
          <a:solidFill>
            <a:srgbClr val="12272D"/>
          </a:solidFill>
          <a:ln w="15240">
            <a:solidFill>
              <a:srgbClr val="65E2CB"/>
            </a:solidFill>
            <a:prstDash val="solid"/>
          </a:ln>
        </p:spPr>
      </p:sp>
      <p:sp>
        <p:nvSpPr>
          <p:cNvPr id="26" name="Text 24"/>
          <p:cNvSpPr/>
          <p:nvPr/>
        </p:nvSpPr>
        <p:spPr>
          <a:xfrm>
            <a:off x="8787384" y="2578608"/>
            <a:ext cx="530352" cy="256032"/>
          </a:xfrm>
          <a:prstGeom prst="rect">
            <a:avLst/>
          </a:prstGeom>
          <a:noFill/>
          <a:ln/>
        </p:spPr>
        <p:txBody>
          <a:bodyPr wrap="square" lIns="0" tIns="0" rIns="0" bIns="0" rtlCol="0" anchor="ctr">
            <a:normAutofit/>
          </a:bodyPr>
          <a:lstStyle/>
          <a:p>
            <a:pPr algn="ctr" indent="0" marL="0">
              <a:buNone/>
            </a:pPr>
            <a:r>
              <a:rPr lang="en-US" sz="1100" b="1" dirty="0">
                <a:solidFill>
                  <a:srgbClr val="65E2CB"/>
                </a:solidFill>
                <a:latin typeface="Avenir Next" pitchFamily="34" charset="0"/>
                <a:ea typeface="Avenir Next" pitchFamily="34" charset="-122"/>
                <a:cs typeface="Avenir Next" pitchFamily="34" charset="-120"/>
              </a:rPr>
              <a:t>05</a:t>
            </a:r>
            <a:endParaRPr lang="en-US" sz="1100" dirty="0"/>
          </a:p>
        </p:txBody>
      </p:sp>
      <p:sp>
        <p:nvSpPr>
          <p:cNvPr id="27" name="Text 25"/>
          <p:cNvSpPr/>
          <p:nvPr/>
        </p:nvSpPr>
        <p:spPr>
          <a:xfrm>
            <a:off x="8211312" y="3200400"/>
            <a:ext cx="1682496" cy="246888"/>
          </a:xfrm>
          <a:prstGeom prst="rect">
            <a:avLst/>
          </a:prstGeom>
          <a:noFill/>
          <a:ln/>
        </p:spPr>
        <p:txBody>
          <a:bodyPr wrap="square" lIns="0" tIns="0" rIns="0" bIns="0" rtlCol="0" anchor="ctr">
            <a:normAutofit/>
          </a:bodyPr>
          <a:lstStyle/>
          <a:p>
            <a:pPr algn="ctr" indent="0" marL="0">
              <a:buNone/>
            </a:pPr>
            <a:r>
              <a:rPr lang="en-US" sz="900" b="1" spc="110" kern="0" dirty="0">
                <a:solidFill>
                  <a:srgbClr val="65E2CB"/>
                </a:solidFill>
                <a:latin typeface="Avenir Next" pitchFamily="34" charset="0"/>
                <a:ea typeface="Avenir Next" pitchFamily="34" charset="-122"/>
                <a:cs typeface="Avenir Next" pitchFamily="34" charset="-120"/>
              </a:rPr>
              <a:t>BALANCE</a:t>
            </a:r>
            <a:endParaRPr lang="en-US" sz="900" dirty="0"/>
          </a:p>
        </p:txBody>
      </p:sp>
      <p:sp>
        <p:nvSpPr>
          <p:cNvPr id="28" name="Text 26"/>
          <p:cNvSpPr/>
          <p:nvPr/>
        </p:nvSpPr>
        <p:spPr>
          <a:xfrm>
            <a:off x="8211312" y="3547872"/>
            <a:ext cx="1682496" cy="1005840"/>
          </a:xfrm>
          <a:prstGeom prst="rect">
            <a:avLst/>
          </a:prstGeom>
          <a:noFill/>
          <a:ln/>
        </p:spPr>
        <p:txBody>
          <a:bodyPr wrap="square" lIns="0" tIns="0" rIns="0" bIns="0" rtlCol="0" anchor="t">
            <a:normAutofit/>
          </a:bodyPr>
          <a:lstStyle/>
          <a:p>
            <a:pPr algn="ctr" indent="0" marL="0">
              <a:buNone/>
            </a:pPr>
            <a:r>
              <a:rPr lang="en-US" sz="1010" dirty="0">
                <a:solidFill>
                  <a:srgbClr val="9BB0B5"/>
                </a:solidFill>
                <a:latin typeface="Avenir Next" pitchFamily="34" charset="0"/>
                <a:ea typeface="Avenir Next" pitchFamily="34" charset="-122"/>
                <a:cs typeface="Avenir Next" pitchFamily="34" charset="-120"/>
              </a:rPr>
              <a:t>Conservative route transfers reduce local shortfalls</a:t>
            </a:r>
            <a:endParaRPr lang="en-US" sz="1010" dirty="0"/>
          </a:p>
        </p:txBody>
      </p:sp>
      <p:sp>
        <p:nvSpPr>
          <p:cNvPr id="29" name="Shape 27"/>
          <p:cNvSpPr/>
          <p:nvPr/>
        </p:nvSpPr>
        <p:spPr>
          <a:xfrm>
            <a:off x="9564624" y="2734056"/>
            <a:ext cx="475488" cy="0"/>
          </a:xfrm>
          <a:prstGeom prst="line">
            <a:avLst/>
          </a:prstGeom>
          <a:noFill/>
          <a:ln w="15875">
            <a:solidFill>
              <a:srgbClr val="294047"/>
            </a:solidFill>
            <a:prstDash val="solid"/>
            <a:headEnd type="none"/>
            <a:tailEnd type="triangle"/>
          </a:ln>
        </p:spPr>
      </p:sp>
      <p:sp>
        <p:nvSpPr>
          <p:cNvPr id="30" name="Shape 28"/>
          <p:cNvSpPr/>
          <p:nvPr/>
        </p:nvSpPr>
        <p:spPr>
          <a:xfrm>
            <a:off x="10698480" y="2468880"/>
            <a:ext cx="530352" cy="530352"/>
          </a:xfrm>
          <a:prstGeom prst="ellipse">
            <a:avLst/>
          </a:prstGeom>
          <a:solidFill>
            <a:srgbClr val="12272D"/>
          </a:solidFill>
          <a:ln w="15240">
            <a:solidFill>
              <a:srgbClr val="89D49A"/>
            </a:solidFill>
            <a:prstDash val="solid"/>
          </a:ln>
        </p:spPr>
      </p:sp>
      <p:sp>
        <p:nvSpPr>
          <p:cNvPr id="31" name="Text 29"/>
          <p:cNvSpPr/>
          <p:nvPr/>
        </p:nvSpPr>
        <p:spPr>
          <a:xfrm>
            <a:off x="10698480" y="2578608"/>
            <a:ext cx="530352" cy="256032"/>
          </a:xfrm>
          <a:prstGeom prst="rect">
            <a:avLst/>
          </a:prstGeom>
          <a:noFill/>
          <a:ln/>
        </p:spPr>
        <p:txBody>
          <a:bodyPr wrap="square" lIns="0" tIns="0" rIns="0" bIns="0" rtlCol="0" anchor="ctr">
            <a:normAutofit/>
          </a:bodyPr>
          <a:lstStyle/>
          <a:p>
            <a:pPr algn="ctr" indent="0" marL="0">
              <a:buNone/>
            </a:pPr>
            <a:r>
              <a:rPr lang="en-US" sz="1100" b="1" dirty="0">
                <a:solidFill>
                  <a:srgbClr val="89D49A"/>
                </a:solidFill>
                <a:latin typeface="Avenir Next" pitchFamily="34" charset="0"/>
                <a:ea typeface="Avenir Next" pitchFamily="34" charset="-122"/>
                <a:cs typeface="Avenir Next" pitchFamily="34" charset="-120"/>
              </a:rPr>
              <a:t>06</a:t>
            </a:r>
            <a:endParaRPr lang="en-US" sz="1100" dirty="0"/>
          </a:p>
        </p:txBody>
      </p:sp>
      <p:sp>
        <p:nvSpPr>
          <p:cNvPr id="32" name="Text 30"/>
          <p:cNvSpPr/>
          <p:nvPr/>
        </p:nvSpPr>
        <p:spPr>
          <a:xfrm>
            <a:off x="10122408" y="3200400"/>
            <a:ext cx="1682496" cy="246888"/>
          </a:xfrm>
          <a:prstGeom prst="rect">
            <a:avLst/>
          </a:prstGeom>
          <a:noFill/>
          <a:ln/>
        </p:spPr>
        <p:txBody>
          <a:bodyPr wrap="square" lIns="0" tIns="0" rIns="0" bIns="0" rtlCol="0" anchor="ctr">
            <a:normAutofit/>
          </a:bodyPr>
          <a:lstStyle/>
          <a:p>
            <a:pPr algn="ctr" indent="0" marL="0">
              <a:buNone/>
            </a:pPr>
            <a:r>
              <a:rPr lang="en-US" sz="900" b="1" spc="110" kern="0" dirty="0">
                <a:solidFill>
                  <a:srgbClr val="89D49A"/>
                </a:solidFill>
                <a:latin typeface="Avenir Next" pitchFamily="34" charset="0"/>
                <a:ea typeface="Avenir Next" pitchFamily="34" charset="-122"/>
                <a:cs typeface="Avenir Next" pitchFamily="34" charset="-120"/>
              </a:rPr>
              <a:t>EXPLAIN</a:t>
            </a:r>
            <a:endParaRPr lang="en-US" sz="900" dirty="0"/>
          </a:p>
        </p:txBody>
      </p:sp>
      <p:sp>
        <p:nvSpPr>
          <p:cNvPr id="33" name="Text 31"/>
          <p:cNvSpPr/>
          <p:nvPr/>
        </p:nvSpPr>
        <p:spPr>
          <a:xfrm>
            <a:off x="10122408" y="3547872"/>
            <a:ext cx="1682496" cy="1005840"/>
          </a:xfrm>
          <a:prstGeom prst="rect">
            <a:avLst/>
          </a:prstGeom>
          <a:noFill/>
          <a:ln/>
        </p:spPr>
        <p:txBody>
          <a:bodyPr wrap="square" lIns="0" tIns="0" rIns="0" bIns="0" rtlCol="0" anchor="t">
            <a:normAutofit/>
          </a:bodyPr>
          <a:lstStyle/>
          <a:p>
            <a:pPr algn="ctr" indent="0" marL="0">
              <a:buNone/>
            </a:pPr>
            <a:r>
              <a:rPr lang="en-US" sz="1010" dirty="0">
                <a:solidFill>
                  <a:srgbClr val="9BB0B5"/>
                </a:solidFill>
                <a:latin typeface="Avenir Next" pitchFamily="34" charset="0"/>
                <a:ea typeface="Avenir Next" pitchFamily="34" charset="-122"/>
                <a:cs typeface="Avenir Next" pitchFamily="34" charset="-120"/>
              </a:rPr>
              <a:t>Impacts, status, causes and counterfactuals</a:t>
            </a:r>
            <a:endParaRPr lang="en-US" sz="1010" dirty="0"/>
          </a:p>
        </p:txBody>
      </p:sp>
      <p:sp>
        <p:nvSpPr>
          <p:cNvPr id="34" name="Shape 32"/>
          <p:cNvSpPr/>
          <p:nvPr/>
        </p:nvSpPr>
        <p:spPr>
          <a:xfrm>
            <a:off x="1115568" y="5010912"/>
            <a:ext cx="9966960" cy="868680"/>
          </a:xfrm>
          <a:prstGeom prst="roundRect">
            <a:avLst>
              <a:gd name="adj" fmla="val 14737"/>
            </a:avLst>
          </a:prstGeom>
          <a:solidFill>
            <a:srgbClr val="0D1C21"/>
          </a:solidFill>
          <a:ln w="12700">
            <a:solidFill>
              <a:srgbClr val="294047"/>
            </a:solidFill>
            <a:prstDash val="solid"/>
          </a:ln>
        </p:spPr>
      </p:sp>
      <p:sp>
        <p:nvSpPr>
          <p:cNvPr id="35" name="Text 33"/>
          <p:cNvSpPr/>
          <p:nvPr/>
        </p:nvSpPr>
        <p:spPr>
          <a:xfrm>
            <a:off x="1389888" y="5193792"/>
            <a:ext cx="1463040" cy="182880"/>
          </a:xfrm>
          <a:prstGeom prst="rect">
            <a:avLst/>
          </a:prstGeom>
          <a:noFill/>
          <a:ln/>
        </p:spPr>
        <p:txBody>
          <a:bodyPr wrap="square" lIns="0" tIns="0" rIns="0" bIns="0" rtlCol="0" anchor="ctr">
            <a:normAutofit/>
          </a:bodyPr>
          <a:lstStyle/>
          <a:p>
            <a:pPr indent="0" marL="0">
              <a:buNone/>
            </a:pPr>
            <a:r>
              <a:rPr lang="en-US" sz="880" b="1" spc="110" kern="0" dirty="0">
                <a:solidFill>
                  <a:srgbClr val="65E2CB"/>
                </a:solidFill>
                <a:latin typeface="Avenir Next" pitchFamily="34" charset="0"/>
                <a:ea typeface="Avenir Next" pitchFamily="34" charset="-122"/>
                <a:cs typeface="Avenir Next" pitchFamily="34" charset="-120"/>
              </a:rPr>
              <a:t>REPRODUCIBILITY</a:t>
            </a:r>
            <a:endParaRPr lang="en-US" sz="880" dirty="0"/>
          </a:p>
        </p:txBody>
      </p:sp>
      <p:sp>
        <p:nvSpPr>
          <p:cNvPr id="36" name="Text 34"/>
          <p:cNvSpPr/>
          <p:nvPr/>
        </p:nvSpPr>
        <p:spPr>
          <a:xfrm>
            <a:off x="2907792" y="5111496"/>
            <a:ext cx="7635240" cy="329184"/>
          </a:xfrm>
          <a:prstGeom prst="rect">
            <a:avLst/>
          </a:prstGeom>
          <a:noFill/>
          <a:ln/>
        </p:spPr>
        <p:txBody>
          <a:bodyPr wrap="square" lIns="0" tIns="0" rIns="0" bIns="0" rtlCol="0" anchor="ctr">
            <a:normAutofit/>
          </a:bodyPr>
          <a:lstStyle/>
          <a:p>
            <a:pPr indent="0" marL="0">
              <a:buNone/>
            </a:pPr>
            <a:r>
              <a:rPr lang="en-US" sz="1550" b="1" dirty="0">
                <a:solidFill>
                  <a:srgbClr val="F4F7F6"/>
                </a:solidFill>
                <a:latin typeface="Avenir Next" pitchFamily="34" charset="0"/>
                <a:ea typeface="Avenir Next" pitchFamily="34" charset="-122"/>
                <a:cs typeface="Avenir Next" pitchFamily="34" charset="-120"/>
              </a:rPr>
              <a:t>same configuration + same stable seed  →  same state and same explanation</a:t>
            </a:r>
            <a:endParaRPr lang="en-US" sz="1550" dirty="0"/>
          </a:p>
        </p:txBody>
      </p:sp>
      <p:sp>
        <p:nvSpPr>
          <p:cNvPr id="37" name="Text 35"/>
          <p:cNvSpPr/>
          <p:nvPr/>
        </p:nvSpPr>
        <p:spPr>
          <a:xfrm>
            <a:off x="2907792" y="5504688"/>
            <a:ext cx="7223760" cy="182880"/>
          </a:xfrm>
          <a:prstGeom prst="rect">
            <a:avLst/>
          </a:prstGeom>
          <a:noFill/>
          <a:ln/>
        </p:spPr>
        <p:txBody>
          <a:bodyPr wrap="square" lIns="0" tIns="0" rIns="0" bIns="0" rtlCol="0" anchor="ctr">
            <a:normAutofit/>
          </a:bodyPr>
          <a:lstStyle/>
          <a:p>
            <a:pPr indent="0" marL="0">
              <a:buNone/>
            </a:pPr>
            <a:r>
              <a:rPr lang="en-US" sz="900" dirty="0">
                <a:solidFill>
                  <a:srgbClr val="9BB0B5"/>
                </a:solidFill>
                <a:latin typeface="Avenir Next" pitchFamily="34" charset="0"/>
                <a:ea typeface="Avenir Next" pitchFamily="34" charset="-122"/>
                <a:cs typeface="Avenir Next" pitchFamily="34" charset="-120"/>
              </a:rPr>
              <a:t>Deterministic means repeatable—not calibrated or forecast-certain.</a:t>
            </a:r>
            <a:endParaRPr lang="en-US" sz="900" dirty="0"/>
          </a:p>
        </p:txBody>
      </p:sp>
      <p:sp>
        <p:nvSpPr>
          <p:cNvPr id="39" name="Shape 36"/>
          <p:cNvSpPr/>
          <p:nvPr/>
        </p:nvSpPr>
        <p:spPr>
          <a:xfrm>
            <a:off x="502920" y="292608"/>
            <a:ext cx="310896" cy="310896"/>
          </a:xfrm>
          <a:prstGeom prst="ellipse">
            <a:avLst/>
          </a:prstGeom>
          <a:solidFill>
            <a:srgbClr val="12272D"/>
          </a:solidFill>
          <a:ln w="12700">
            <a:solidFill>
              <a:srgbClr val="65E2CB"/>
            </a:solidFill>
            <a:prstDash val="solid"/>
          </a:ln>
        </p:spPr>
      </p:sp>
      <p:sp>
        <p:nvSpPr>
          <p:cNvPr id="40" name="Shape 37"/>
          <p:cNvSpPr/>
          <p:nvPr/>
        </p:nvSpPr>
        <p:spPr>
          <a:xfrm>
            <a:off x="597103" y="374904"/>
            <a:ext cx="118872" cy="118872"/>
          </a:xfrm>
          <a:prstGeom prst="ellipse">
            <a:avLst/>
          </a:prstGeom>
          <a:solidFill>
            <a:srgbClr val="071216"/>
          </a:solidFill>
          <a:ln w="12700">
            <a:solidFill>
              <a:srgbClr val="65E2CB"/>
            </a:solidFill>
            <a:prstDash val="solid"/>
          </a:ln>
        </p:spPr>
      </p:sp>
      <p:sp>
        <p:nvSpPr>
          <p:cNvPr id="41" name="Shape 38"/>
          <p:cNvSpPr/>
          <p:nvPr/>
        </p:nvSpPr>
        <p:spPr>
          <a:xfrm>
            <a:off x="658368" y="356616"/>
            <a:ext cx="0" cy="182880"/>
          </a:xfrm>
          <a:prstGeom prst="line">
            <a:avLst/>
          </a:prstGeom>
          <a:noFill/>
          <a:ln w="15240">
            <a:solidFill>
              <a:srgbClr val="65E2CB"/>
            </a:solidFill>
            <a:prstDash val="solid"/>
            <a:headEnd type="none"/>
            <a:tailEnd type="none"/>
          </a:ln>
        </p:spPr>
      </p:sp>
      <p:sp>
        <p:nvSpPr>
          <p:cNvPr id="42" name="Text 39"/>
          <p:cNvSpPr/>
          <p:nvPr/>
        </p:nvSpPr>
        <p:spPr>
          <a:xfrm>
            <a:off x="896112" y="310896"/>
            <a:ext cx="2011680" cy="201168"/>
          </a:xfrm>
          <a:prstGeom prst="rect">
            <a:avLst/>
          </a:prstGeom>
          <a:noFill/>
          <a:ln/>
        </p:spPr>
        <p:txBody>
          <a:bodyPr wrap="square" lIns="0" tIns="0" rIns="0" bIns="0" rtlCol="0" anchor="ctr">
            <a:normAutofit/>
          </a:bodyPr>
          <a:lstStyle/>
          <a:p>
            <a:pPr indent="0" marL="0">
              <a:buNone/>
            </a:pPr>
            <a:r>
              <a:rPr lang="en-US" sz="900" b="1" spc="140" kern="0" dirty="0">
                <a:solidFill>
                  <a:srgbClr val="9BB0B5"/>
                </a:solidFill>
                <a:latin typeface="Avenir Next" pitchFamily="34" charset="0"/>
                <a:ea typeface="Avenir Next" pitchFamily="34" charset="-122"/>
                <a:cs typeface="Avenir Next" pitchFamily="34" charset="-120"/>
              </a:rPr>
              <a:t>NL RESILIENCE LAB</a:t>
            </a:r>
            <a:endParaRPr lang="en-US" sz="900" dirty="0"/>
          </a:p>
        </p:txBody>
      </p:sp>
      <p:sp>
        <p:nvSpPr>
          <p:cNvPr id="43" name="Text 40"/>
          <p:cNvSpPr/>
          <p:nvPr/>
        </p:nvSpPr>
        <p:spPr>
          <a:xfrm>
            <a:off x="9052560" y="310896"/>
            <a:ext cx="2514600" cy="201168"/>
          </a:xfrm>
          <a:prstGeom prst="rect">
            <a:avLst/>
          </a:prstGeom>
          <a:noFill/>
          <a:ln/>
        </p:spPr>
        <p:txBody>
          <a:bodyPr wrap="square" lIns="0" tIns="0" rIns="0" bIns="0" rtlCol="0" anchor="ctr">
            <a:normAutofit/>
          </a:bodyPr>
          <a:lstStyle/>
          <a:p>
            <a:pPr algn="r" indent="0" marL="0">
              <a:buNone/>
            </a:pPr>
            <a:r>
              <a:rPr lang="en-US" sz="850" b="1" spc="125" kern="0" dirty="0">
                <a:solidFill>
                  <a:srgbClr val="688087"/>
                </a:solidFill>
                <a:latin typeface="Avenir Next" pitchFamily="34" charset="0"/>
                <a:ea typeface="Avenir Next" pitchFamily="34" charset="-122"/>
                <a:cs typeface="Avenir Next" pitchFamily="34" charset="-120"/>
              </a:rPr>
              <a:t>SIMULATION MODEL</a:t>
            </a:r>
            <a:endParaRPr lang="en-US" sz="850" dirty="0"/>
          </a:p>
        </p:txBody>
      </p:sp>
      <p:sp>
        <p:nvSpPr>
          <p:cNvPr id="44" name="Shape 41"/>
          <p:cNvSpPr/>
          <p:nvPr/>
        </p:nvSpPr>
        <p:spPr>
          <a:xfrm>
            <a:off x="502920" y="749808"/>
            <a:ext cx="10680192" cy="0"/>
          </a:xfrm>
          <a:prstGeom prst="line">
            <a:avLst/>
          </a:prstGeom>
          <a:noFill/>
          <a:ln w="8890">
            <a:solidFill>
              <a:srgbClr val="294047"/>
            </a:solidFill>
            <a:prstDash val="solid"/>
            <a:headEnd type="none"/>
            <a:tailEnd type="none"/>
          </a:ln>
        </p:spPr>
      </p:sp>
      <p:sp>
        <p:nvSpPr>
          <p:cNvPr id="25" name="Slide Number Placeholder 0"/>
          <p:cNvSpPr>
            <a:spLocks noGrp="1"/>
          </p:cNvSpPr>
          <p:nvPr>
            <p:ph type="sldNum" sz="quarter" idx="4294967295"/>
          </p:nvPr>
        </p:nvSpPr>
        <p:spPr>
          <a:xfrm>
            <a:off x="11119104" y="6446520"/>
            <a:ext cx="475488"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8087"/>
                </a:solidFill>
                <a:latin typeface="Avenir Next"/>
                <a:ea typeface="Avenir Next"/>
                <a:cs typeface="Avenir Next"/>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216"/>
        </a:solidFill>
      </p:bgPr>
    </p:bg>
    <p:spTree>
      <p:nvGrpSpPr>
        <p:cNvPr id="1" name=""/>
        <p:cNvGrpSpPr/>
        <p:nvPr/>
      </p:nvGrpSpPr>
      <p:grpSpPr>
        <a:xfrm>
          <a:off x="0" y="0"/>
          <a:ext cx="0" cy="0"/>
          <a:chOff x="0" y="0"/>
          <a:chExt cx="0" cy="0"/>
        </a:xfrm>
      </p:grpSpPr>
      <p:sp>
        <p:nvSpPr>
          <p:cNvPr id="2" name="Text 0"/>
          <p:cNvSpPr/>
          <p:nvPr/>
        </p:nvSpPr>
        <p:spPr>
          <a:xfrm>
            <a:off x="594360" y="950976"/>
            <a:ext cx="2377440" cy="201168"/>
          </a:xfrm>
          <a:prstGeom prst="rect">
            <a:avLst/>
          </a:prstGeom>
          <a:noFill/>
          <a:ln/>
        </p:spPr>
        <p:txBody>
          <a:bodyPr wrap="square" lIns="0" tIns="0" rIns="0" bIns="0" rtlCol="0" anchor="ctr">
            <a:normAutofit/>
          </a:bodyPr>
          <a:lstStyle/>
          <a:p>
            <a:pPr indent="0" marL="0">
              <a:buNone/>
            </a:pPr>
            <a:r>
              <a:rPr lang="en-US" sz="900" b="1" spc="165" kern="0" dirty="0">
                <a:solidFill>
                  <a:srgbClr val="65E2CB"/>
                </a:solidFill>
                <a:latin typeface="Avenir Next" pitchFamily="34" charset="0"/>
                <a:ea typeface="Avenir Next" pitchFamily="34" charset="-122"/>
                <a:cs typeface="Avenir Next" pitchFamily="34" charset="-120"/>
              </a:rPr>
              <a:t>DEPENDENCIES</a:t>
            </a:r>
            <a:endParaRPr lang="en-US" sz="900" dirty="0"/>
          </a:p>
        </p:txBody>
      </p:sp>
      <p:sp>
        <p:nvSpPr>
          <p:cNvPr id="3" name="Text 1"/>
          <p:cNvSpPr/>
          <p:nvPr/>
        </p:nvSpPr>
        <p:spPr>
          <a:xfrm>
            <a:off x="594360" y="1188720"/>
            <a:ext cx="10972800" cy="566928"/>
          </a:xfrm>
          <a:prstGeom prst="rect">
            <a:avLst/>
          </a:prstGeom>
          <a:noFill/>
          <a:ln/>
        </p:spPr>
        <p:txBody>
          <a:bodyPr wrap="square" lIns="0" tIns="0" rIns="0" bIns="0" rtlCol="0" anchor="ctr">
            <a:normAutofit/>
          </a:bodyPr>
          <a:lstStyle/>
          <a:p>
            <a:pPr indent="0" marL="0">
              <a:buNone/>
            </a:pPr>
            <a:r>
              <a:rPr lang="en-US" sz="2900" b="1" dirty="0">
                <a:solidFill>
                  <a:srgbClr val="F4F7F6"/>
                </a:solidFill>
                <a:latin typeface="Avenir Next" pitchFamily="34" charset="0"/>
                <a:ea typeface="Avenir Next" pitchFamily="34" charset="-122"/>
                <a:cs typeface="Avenir Next" pitchFamily="34" charset="-120"/>
              </a:rPr>
              <a:t>The cascade has two structural hubs</a:t>
            </a:r>
            <a:endParaRPr lang="en-US" sz="2900" dirty="0"/>
          </a:p>
        </p:txBody>
      </p:sp>
      <p:sp>
        <p:nvSpPr>
          <p:cNvPr id="4" name="Text 2"/>
          <p:cNvSpPr/>
          <p:nvPr/>
        </p:nvSpPr>
        <p:spPr>
          <a:xfrm>
            <a:off x="594360" y="1746504"/>
            <a:ext cx="10789920" cy="393192"/>
          </a:xfrm>
          <a:prstGeom prst="rect">
            <a:avLst/>
          </a:prstGeom>
          <a:noFill/>
          <a:ln/>
        </p:spPr>
        <p:txBody>
          <a:bodyPr wrap="square" lIns="0" tIns="0" rIns="0" bIns="0" rtlCol="0" anchor="ctr">
            <a:normAutofit/>
          </a:bodyPr>
          <a:lstStyle/>
          <a:p>
            <a:pPr indent="0" marL="0">
              <a:buNone/>
            </a:pPr>
            <a:r>
              <a:rPr lang="en-US" sz="1250" dirty="0">
                <a:solidFill>
                  <a:srgbClr val="9BB0B5"/>
                </a:solidFill>
                <a:latin typeface="Avenir Next" pitchFamily="34" charset="0"/>
                <a:ea typeface="Avenir Next" pitchFamily="34" charset="-122"/>
                <a:cs typeface="Avenir Next" pitchFamily="34" charset="-120"/>
              </a:rPr>
              <a:t>Power constrains dependent services; mobility constrains emergency supply.</a:t>
            </a:r>
            <a:endParaRPr lang="en-US" sz="1250" dirty="0"/>
          </a:p>
        </p:txBody>
      </p:sp>
      <p:sp>
        <p:nvSpPr>
          <p:cNvPr id="5" name="Shape 3"/>
          <p:cNvSpPr/>
          <p:nvPr/>
        </p:nvSpPr>
        <p:spPr>
          <a:xfrm>
            <a:off x="2286000" y="2880360"/>
            <a:ext cx="1143000" cy="1143000"/>
          </a:xfrm>
          <a:prstGeom prst="ellipse">
            <a:avLst/>
          </a:prstGeom>
          <a:solidFill>
            <a:srgbClr val="12272D"/>
          </a:solidFill>
          <a:ln w="25400">
            <a:solidFill>
              <a:srgbClr val="59D5F6"/>
            </a:solidFill>
            <a:prstDash val="solid"/>
          </a:ln>
        </p:spPr>
      </p:sp>
      <p:sp>
        <p:nvSpPr>
          <p:cNvPr id="6" name="Text 4"/>
          <p:cNvSpPr/>
          <p:nvPr/>
        </p:nvSpPr>
        <p:spPr>
          <a:xfrm>
            <a:off x="2286000" y="3209544"/>
            <a:ext cx="1143000" cy="256032"/>
          </a:xfrm>
          <a:prstGeom prst="rect">
            <a:avLst/>
          </a:prstGeom>
          <a:noFill/>
          <a:ln/>
        </p:spPr>
        <p:txBody>
          <a:bodyPr wrap="square" lIns="0" tIns="0" rIns="0" bIns="0" rtlCol="0" anchor="ctr">
            <a:normAutofit/>
          </a:bodyPr>
          <a:lstStyle/>
          <a:p>
            <a:pPr algn="ctr" indent="0" marL="0">
              <a:buNone/>
            </a:pPr>
            <a:r>
              <a:rPr lang="en-US" sz="1300" b="1" dirty="0">
                <a:solidFill>
                  <a:srgbClr val="59D5F6"/>
                </a:solidFill>
                <a:latin typeface="Avenir Next" pitchFamily="34" charset="0"/>
                <a:ea typeface="Avenir Next" pitchFamily="34" charset="-122"/>
                <a:cs typeface="Avenir Next" pitchFamily="34" charset="-120"/>
              </a:rPr>
              <a:t>POWER</a:t>
            </a:r>
            <a:endParaRPr lang="en-US" sz="1300" dirty="0"/>
          </a:p>
        </p:txBody>
      </p:sp>
      <p:sp>
        <p:nvSpPr>
          <p:cNvPr id="7" name="Shape 5"/>
          <p:cNvSpPr/>
          <p:nvPr/>
        </p:nvSpPr>
        <p:spPr>
          <a:xfrm>
            <a:off x="2487168" y="3026664"/>
            <a:ext cx="-292608" cy="-484632"/>
          </a:xfrm>
          <a:prstGeom prst="line">
            <a:avLst/>
          </a:prstGeom>
          <a:noFill/>
          <a:ln w="14605">
            <a:solidFill>
              <a:srgbClr val="294047"/>
            </a:solidFill>
            <a:prstDash val="solid"/>
            <a:headEnd type="none"/>
            <a:tailEnd type="triangle"/>
          </a:ln>
        </p:spPr>
      </p:sp>
      <p:sp>
        <p:nvSpPr>
          <p:cNvPr id="8" name="Shape 6"/>
          <p:cNvSpPr/>
          <p:nvPr/>
        </p:nvSpPr>
        <p:spPr>
          <a:xfrm>
            <a:off x="640080" y="2066544"/>
            <a:ext cx="1554480" cy="566928"/>
          </a:xfrm>
          <a:prstGeom prst="roundRect">
            <a:avLst>
              <a:gd name="adj" fmla="val 22581"/>
            </a:avLst>
          </a:prstGeom>
          <a:solidFill>
            <a:srgbClr val="0D1C21"/>
          </a:solidFill>
          <a:ln w="12700">
            <a:solidFill>
              <a:srgbClr val="65E2CB"/>
            </a:solidFill>
            <a:prstDash val="solid"/>
          </a:ln>
        </p:spPr>
      </p:sp>
      <p:sp>
        <p:nvSpPr>
          <p:cNvPr id="9" name="Text 7"/>
          <p:cNvSpPr/>
          <p:nvPr/>
        </p:nvSpPr>
        <p:spPr>
          <a:xfrm>
            <a:off x="731520" y="2167128"/>
            <a:ext cx="1371600" cy="182880"/>
          </a:xfrm>
          <a:prstGeom prst="rect">
            <a:avLst/>
          </a:prstGeom>
          <a:noFill/>
          <a:ln/>
        </p:spPr>
        <p:txBody>
          <a:bodyPr wrap="square" lIns="0" tIns="0" rIns="0" bIns="0" rtlCol="0" anchor="ctr">
            <a:normAutofit/>
          </a:bodyPr>
          <a:lstStyle/>
          <a:p>
            <a:pPr algn="ctr" indent="0" marL="0">
              <a:buNone/>
            </a:pPr>
            <a:r>
              <a:rPr lang="en-US" sz="930" b="1" dirty="0">
                <a:solidFill>
                  <a:srgbClr val="65E2CB"/>
                </a:solidFill>
                <a:latin typeface="Avenir Next" pitchFamily="34" charset="0"/>
                <a:ea typeface="Avenir Next" pitchFamily="34" charset="-122"/>
                <a:cs typeface="Avenir Next" pitchFamily="34" charset="-120"/>
              </a:rPr>
              <a:t>WATER</a:t>
            </a:r>
            <a:endParaRPr lang="en-US" sz="930" dirty="0"/>
          </a:p>
        </p:txBody>
      </p:sp>
      <p:sp>
        <p:nvSpPr>
          <p:cNvPr id="10" name="Text 8"/>
          <p:cNvSpPr/>
          <p:nvPr/>
        </p:nvSpPr>
        <p:spPr>
          <a:xfrm>
            <a:off x="731520" y="2377440"/>
            <a:ext cx="1371600" cy="146304"/>
          </a:xfrm>
          <a:prstGeom prst="rect">
            <a:avLst/>
          </a:prstGeom>
          <a:noFill/>
          <a:ln/>
        </p:spPr>
        <p:txBody>
          <a:bodyPr wrap="square" lIns="0" tIns="0" rIns="0" bIns="0" rtlCol="0" anchor="ctr">
            <a:normAutofit/>
          </a:bodyPr>
          <a:lstStyle/>
          <a:p>
            <a:pPr algn="ctr" indent="0" marL="0">
              <a:buNone/>
            </a:pPr>
            <a:r>
              <a:rPr lang="en-US" sz="750" dirty="0">
                <a:solidFill>
                  <a:srgbClr val="9BB0B5"/>
                </a:solidFill>
                <a:latin typeface="Avenir Next" pitchFamily="34" charset="0"/>
                <a:ea typeface="Avenir Next" pitchFamily="34" charset="-122"/>
                <a:cs typeface="Avenir Next" pitchFamily="34" charset="-120"/>
              </a:rPr>
              <a:t>backup window</a:t>
            </a:r>
            <a:endParaRPr lang="en-US" sz="750" dirty="0"/>
          </a:p>
        </p:txBody>
      </p:sp>
      <p:sp>
        <p:nvSpPr>
          <p:cNvPr id="11" name="Shape 9"/>
          <p:cNvSpPr/>
          <p:nvPr/>
        </p:nvSpPr>
        <p:spPr>
          <a:xfrm>
            <a:off x="3227832" y="3026664"/>
            <a:ext cx="566928" cy="-484632"/>
          </a:xfrm>
          <a:prstGeom prst="line">
            <a:avLst/>
          </a:prstGeom>
          <a:noFill/>
          <a:ln w="14605">
            <a:solidFill>
              <a:srgbClr val="294047"/>
            </a:solidFill>
            <a:prstDash val="solid"/>
            <a:headEnd type="none"/>
            <a:tailEnd type="triangle"/>
          </a:ln>
        </p:spPr>
      </p:sp>
      <p:sp>
        <p:nvSpPr>
          <p:cNvPr id="12" name="Shape 10"/>
          <p:cNvSpPr/>
          <p:nvPr/>
        </p:nvSpPr>
        <p:spPr>
          <a:xfrm>
            <a:off x="3794760" y="2066544"/>
            <a:ext cx="1554480" cy="566928"/>
          </a:xfrm>
          <a:prstGeom prst="roundRect">
            <a:avLst>
              <a:gd name="adj" fmla="val 22581"/>
            </a:avLst>
          </a:prstGeom>
          <a:solidFill>
            <a:srgbClr val="0D1C21"/>
          </a:solidFill>
          <a:ln w="12700">
            <a:solidFill>
              <a:srgbClr val="65E2CB"/>
            </a:solidFill>
            <a:prstDash val="solid"/>
          </a:ln>
        </p:spPr>
      </p:sp>
      <p:sp>
        <p:nvSpPr>
          <p:cNvPr id="13" name="Text 11"/>
          <p:cNvSpPr/>
          <p:nvPr/>
        </p:nvSpPr>
        <p:spPr>
          <a:xfrm>
            <a:off x="3886200" y="2167128"/>
            <a:ext cx="1371600" cy="182880"/>
          </a:xfrm>
          <a:prstGeom prst="rect">
            <a:avLst/>
          </a:prstGeom>
          <a:noFill/>
          <a:ln/>
        </p:spPr>
        <p:txBody>
          <a:bodyPr wrap="square" lIns="0" tIns="0" rIns="0" bIns="0" rtlCol="0" anchor="ctr">
            <a:normAutofit/>
          </a:bodyPr>
          <a:lstStyle/>
          <a:p>
            <a:pPr algn="ctr" indent="0" marL="0">
              <a:buNone/>
            </a:pPr>
            <a:r>
              <a:rPr lang="en-US" sz="930" b="1" dirty="0">
                <a:solidFill>
                  <a:srgbClr val="65E2CB"/>
                </a:solidFill>
                <a:latin typeface="Avenir Next" pitchFamily="34" charset="0"/>
                <a:ea typeface="Avenir Next" pitchFamily="34" charset="-122"/>
                <a:cs typeface="Avenir Next" pitchFamily="34" charset="-120"/>
              </a:rPr>
              <a:t>DRAINAGE</a:t>
            </a:r>
            <a:endParaRPr lang="en-US" sz="930" dirty="0"/>
          </a:p>
        </p:txBody>
      </p:sp>
      <p:sp>
        <p:nvSpPr>
          <p:cNvPr id="14" name="Text 12"/>
          <p:cNvSpPr/>
          <p:nvPr/>
        </p:nvSpPr>
        <p:spPr>
          <a:xfrm>
            <a:off x="3886200" y="2377440"/>
            <a:ext cx="1371600" cy="146304"/>
          </a:xfrm>
          <a:prstGeom prst="rect">
            <a:avLst/>
          </a:prstGeom>
          <a:noFill/>
          <a:ln/>
        </p:spPr>
        <p:txBody>
          <a:bodyPr wrap="square" lIns="0" tIns="0" rIns="0" bIns="0" rtlCol="0" anchor="ctr">
            <a:normAutofit/>
          </a:bodyPr>
          <a:lstStyle/>
          <a:p>
            <a:pPr algn="ctr" indent="0" marL="0">
              <a:buNone/>
            </a:pPr>
            <a:r>
              <a:rPr lang="en-US" sz="750" dirty="0">
                <a:solidFill>
                  <a:srgbClr val="9BB0B5"/>
                </a:solidFill>
                <a:latin typeface="Avenir Next" pitchFamily="34" charset="0"/>
                <a:ea typeface="Avenir Next" pitchFamily="34" charset="-122"/>
                <a:cs typeface="Avenir Next" pitchFamily="34" charset="-120"/>
              </a:rPr>
              <a:t>continuous</a:t>
            </a:r>
            <a:endParaRPr lang="en-US" sz="750" dirty="0"/>
          </a:p>
        </p:txBody>
      </p:sp>
      <p:sp>
        <p:nvSpPr>
          <p:cNvPr id="15" name="Shape 13"/>
          <p:cNvSpPr/>
          <p:nvPr/>
        </p:nvSpPr>
        <p:spPr>
          <a:xfrm>
            <a:off x="2487168" y="3877056"/>
            <a:ext cx="-292608" cy="585216"/>
          </a:xfrm>
          <a:prstGeom prst="line">
            <a:avLst/>
          </a:prstGeom>
          <a:noFill/>
          <a:ln w="14605">
            <a:solidFill>
              <a:srgbClr val="294047"/>
            </a:solidFill>
            <a:prstDash val="solid"/>
            <a:headEnd type="none"/>
            <a:tailEnd type="triangle"/>
          </a:ln>
        </p:spPr>
      </p:sp>
      <p:sp>
        <p:nvSpPr>
          <p:cNvPr id="16" name="Shape 14"/>
          <p:cNvSpPr/>
          <p:nvPr/>
        </p:nvSpPr>
        <p:spPr>
          <a:xfrm>
            <a:off x="640080" y="4261104"/>
            <a:ext cx="1554480" cy="566928"/>
          </a:xfrm>
          <a:prstGeom prst="roundRect">
            <a:avLst>
              <a:gd name="adj" fmla="val 22581"/>
            </a:avLst>
          </a:prstGeom>
          <a:solidFill>
            <a:srgbClr val="0D1C21"/>
          </a:solidFill>
          <a:ln w="12700">
            <a:solidFill>
              <a:srgbClr val="B784F5"/>
            </a:solidFill>
            <a:prstDash val="solid"/>
          </a:ln>
        </p:spPr>
      </p:sp>
      <p:sp>
        <p:nvSpPr>
          <p:cNvPr id="17" name="Text 15"/>
          <p:cNvSpPr/>
          <p:nvPr/>
        </p:nvSpPr>
        <p:spPr>
          <a:xfrm>
            <a:off x="731520" y="4361688"/>
            <a:ext cx="1371600" cy="182880"/>
          </a:xfrm>
          <a:prstGeom prst="rect">
            <a:avLst/>
          </a:prstGeom>
          <a:noFill/>
          <a:ln/>
        </p:spPr>
        <p:txBody>
          <a:bodyPr wrap="square" lIns="0" tIns="0" rIns="0" bIns="0" rtlCol="0" anchor="ctr">
            <a:normAutofit/>
          </a:bodyPr>
          <a:lstStyle/>
          <a:p>
            <a:pPr algn="ctr" indent="0" marL="0">
              <a:buNone/>
            </a:pPr>
            <a:r>
              <a:rPr lang="en-US" sz="930" b="1" dirty="0">
                <a:solidFill>
                  <a:srgbClr val="B784F5"/>
                </a:solidFill>
                <a:latin typeface="Avenir Next" pitchFamily="34" charset="0"/>
                <a:ea typeface="Avenir Next" pitchFamily="34" charset="-122"/>
                <a:cs typeface="Avenir Next" pitchFamily="34" charset="-120"/>
              </a:rPr>
              <a:t>TELECOM</a:t>
            </a:r>
            <a:endParaRPr lang="en-US" sz="930" dirty="0"/>
          </a:p>
        </p:txBody>
      </p:sp>
      <p:sp>
        <p:nvSpPr>
          <p:cNvPr id="18" name="Text 16"/>
          <p:cNvSpPr/>
          <p:nvPr/>
        </p:nvSpPr>
        <p:spPr>
          <a:xfrm>
            <a:off x="731520" y="4572000"/>
            <a:ext cx="1371600" cy="146304"/>
          </a:xfrm>
          <a:prstGeom prst="rect">
            <a:avLst/>
          </a:prstGeom>
          <a:noFill/>
          <a:ln/>
        </p:spPr>
        <p:txBody>
          <a:bodyPr wrap="square" lIns="0" tIns="0" rIns="0" bIns="0" rtlCol="0" anchor="ctr">
            <a:normAutofit/>
          </a:bodyPr>
          <a:lstStyle/>
          <a:p>
            <a:pPr algn="ctr" indent="0" marL="0">
              <a:buNone/>
            </a:pPr>
            <a:r>
              <a:rPr lang="en-US" sz="750" dirty="0">
                <a:solidFill>
                  <a:srgbClr val="9BB0B5"/>
                </a:solidFill>
                <a:latin typeface="Avenir Next" pitchFamily="34" charset="0"/>
                <a:ea typeface="Avenir Next" pitchFamily="34" charset="-122"/>
                <a:cs typeface="Avenir Next" pitchFamily="34" charset="-120"/>
              </a:rPr>
              <a:t>battery window</a:t>
            </a:r>
            <a:endParaRPr lang="en-US" sz="750" dirty="0"/>
          </a:p>
        </p:txBody>
      </p:sp>
      <p:sp>
        <p:nvSpPr>
          <p:cNvPr id="19" name="Shape 17"/>
          <p:cNvSpPr/>
          <p:nvPr/>
        </p:nvSpPr>
        <p:spPr>
          <a:xfrm>
            <a:off x="3227832" y="3877056"/>
            <a:ext cx="566928" cy="585216"/>
          </a:xfrm>
          <a:prstGeom prst="line">
            <a:avLst/>
          </a:prstGeom>
          <a:noFill/>
          <a:ln w="14605">
            <a:solidFill>
              <a:srgbClr val="294047"/>
            </a:solidFill>
            <a:prstDash val="solid"/>
            <a:headEnd type="none"/>
            <a:tailEnd type="triangle"/>
          </a:ln>
        </p:spPr>
      </p:sp>
      <p:sp>
        <p:nvSpPr>
          <p:cNvPr id="20" name="Shape 18"/>
          <p:cNvSpPr/>
          <p:nvPr/>
        </p:nvSpPr>
        <p:spPr>
          <a:xfrm>
            <a:off x="3794760" y="4261104"/>
            <a:ext cx="1554480" cy="566928"/>
          </a:xfrm>
          <a:prstGeom prst="roundRect">
            <a:avLst>
              <a:gd name="adj" fmla="val 22581"/>
            </a:avLst>
          </a:prstGeom>
          <a:solidFill>
            <a:srgbClr val="0D1C21"/>
          </a:solidFill>
          <a:ln w="12700">
            <a:solidFill>
              <a:srgbClr val="F4B85D"/>
            </a:solidFill>
            <a:prstDash val="solid"/>
          </a:ln>
        </p:spPr>
      </p:sp>
      <p:sp>
        <p:nvSpPr>
          <p:cNvPr id="21" name="Text 19"/>
          <p:cNvSpPr/>
          <p:nvPr/>
        </p:nvSpPr>
        <p:spPr>
          <a:xfrm>
            <a:off x="3886200" y="4361688"/>
            <a:ext cx="1371600" cy="182880"/>
          </a:xfrm>
          <a:prstGeom prst="rect">
            <a:avLst/>
          </a:prstGeom>
          <a:noFill/>
          <a:ln/>
        </p:spPr>
        <p:txBody>
          <a:bodyPr wrap="square" lIns="0" tIns="0" rIns="0" bIns="0" rtlCol="0" anchor="ctr">
            <a:normAutofit/>
          </a:bodyPr>
          <a:lstStyle/>
          <a:p>
            <a:pPr algn="ctr" indent="0" marL="0">
              <a:buNone/>
            </a:pPr>
            <a:r>
              <a:rPr lang="en-US" sz="930" b="1" dirty="0">
                <a:solidFill>
                  <a:srgbClr val="F4B85D"/>
                </a:solidFill>
                <a:latin typeface="Avenir Next" pitchFamily="34" charset="0"/>
                <a:ea typeface="Avenir Next" pitchFamily="34" charset="-122"/>
                <a:cs typeface="Avenir Next" pitchFamily="34" charset="-120"/>
              </a:rPr>
              <a:t>GAS CONTROLS</a:t>
            </a:r>
            <a:endParaRPr lang="en-US" sz="930" dirty="0"/>
          </a:p>
        </p:txBody>
      </p:sp>
      <p:sp>
        <p:nvSpPr>
          <p:cNvPr id="22" name="Text 20"/>
          <p:cNvSpPr/>
          <p:nvPr/>
        </p:nvSpPr>
        <p:spPr>
          <a:xfrm>
            <a:off x="3886200" y="4572000"/>
            <a:ext cx="1371600" cy="146304"/>
          </a:xfrm>
          <a:prstGeom prst="rect">
            <a:avLst/>
          </a:prstGeom>
          <a:noFill/>
          <a:ln/>
        </p:spPr>
        <p:txBody>
          <a:bodyPr wrap="square" lIns="0" tIns="0" rIns="0" bIns="0" rtlCol="0" anchor="ctr">
            <a:normAutofit/>
          </a:bodyPr>
          <a:lstStyle/>
          <a:p>
            <a:pPr algn="ctr" indent="0" marL="0">
              <a:buNone/>
            </a:pPr>
            <a:r>
              <a:rPr lang="en-US" sz="750" dirty="0">
                <a:solidFill>
                  <a:srgbClr val="9BB0B5"/>
                </a:solidFill>
                <a:latin typeface="Avenir Next" pitchFamily="34" charset="0"/>
                <a:ea typeface="Avenir Next" pitchFamily="34" charset="-122"/>
                <a:cs typeface="Avenir Next" pitchFamily="34" charset="-120"/>
              </a:rPr>
              <a:t>partial passive</a:t>
            </a:r>
            <a:endParaRPr lang="en-US" sz="750" dirty="0"/>
          </a:p>
        </p:txBody>
      </p:sp>
      <p:sp>
        <p:nvSpPr>
          <p:cNvPr id="23" name="Shape 21"/>
          <p:cNvSpPr/>
          <p:nvPr/>
        </p:nvSpPr>
        <p:spPr>
          <a:xfrm>
            <a:off x="2862072" y="4023360"/>
            <a:ext cx="128016" cy="987552"/>
          </a:xfrm>
          <a:prstGeom prst="line">
            <a:avLst/>
          </a:prstGeom>
          <a:noFill/>
          <a:ln w="14605">
            <a:solidFill>
              <a:srgbClr val="294047"/>
            </a:solidFill>
            <a:prstDash val="solid"/>
            <a:headEnd type="none"/>
            <a:tailEnd type="triangle"/>
          </a:ln>
        </p:spPr>
      </p:sp>
      <p:sp>
        <p:nvSpPr>
          <p:cNvPr id="24" name="Shape 22"/>
          <p:cNvSpPr/>
          <p:nvPr/>
        </p:nvSpPr>
        <p:spPr>
          <a:xfrm>
            <a:off x="2212848" y="5010912"/>
            <a:ext cx="1554480" cy="566928"/>
          </a:xfrm>
          <a:prstGeom prst="roundRect">
            <a:avLst>
              <a:gd name="adj" fmla="val 22581"/>
            </a:avLst>
          </a:prstGeom>
          <a:solidFill>
            <a:srgbClr val="0D1C21"/>
          </a:solidFill>
          <a:ln w="12700">
            <a:solidFill>
              <a:srgbClr val="F56F7C"/>
            </a:solidFill>
            <a:prstDash val="solid"/>
          </a:ln>
        </p:spPr>
      </p:sp>
      <p:sp>
        <p:nvSpPr>
          <p:cNvPr id="25" name="Text 23"/>
          <p:cNvSpPr/>
          <p:nvPr/>
        </p:nvSpPr>
        <p:spPr>
          <a:xfrm>
            <a:off x="2304288" y="5111496"/>
            <a:ext cx="1371600" cy="182880"/>
          </a:xfrm>
          <a:prstGeom prst="rect">
            <a:avLst/>
          </a:prstGeom>
          <a:noFill/>
          <a:ln/>
        </p:spPr>
        <p:txBody>
          <a:bodyPr wrap="square" lIns="0" tIns="0" rIns="0" bIns="0" rtlCol="0" anchor="ctr">
            <a:normAutofit/>
          </a:bodyPr>
          <a:lstStyle/>
          <a:p>
            <a:pPr algn="ctr" indent="0" marL="0">
              <a:buNone/>
            </a:pPr>
            <a:r>
              <a:rPr lang="en-US" sz="930" b="1" dirty="0">
                <a:solidFill>
                  <a:srgbClr val="F56F7C"/>
                </a:solidFill>
                <a:latin typeface="Avenir Next" pitchFamily="34" charset="0"/>
                <a:ea typeface="Avenir Next" pitchFamily="34" charset="-122"/>
                <a:cs typeface="Avenir Next" pitchFamily="34" charset="-120"/>
              </a:rPr>
              <a:t>FACILITIES</a:t>
            </a:r>
            <a:endParaRPr lang="en-US" sz="930" dirty="0"/>
          </a:p>
        </p:txBody>
      </p:sp>
      <p:sp>
        <p:nvSpPr>
          <p:cNvPr id="26" name="Text 24"/>
          <p:cNvSpPr/>
          <p:nvPr/>
        </p:nvSpPr>
        <p:spPr>
          <a:xfrm>
            <a:off x="2304288" y="5321808"/>
            <a:ext cx="1371600" cy="146304"/>
          </a:xfrm>
          <a:prstGeom prst="rect">
            <a:avLst/>
          </a:prstGeom>
          <a:noFill/>
          <a:ln/>
        </p:spPr>
        <p:txBody>
          <a:bodyPr wrap="square" lIns="0" tIns="0" rIns="0" bIns="0" rtlCol="0" anchor="ctr">
            <a:normAutofit/>
          </a:bodyPr>
          <a:lstStyle/>
          <a:p>
            <a:pPr algn="ctr" indent="0" marL="0">
              <a:buNone/>
            </a:pPr>
            <a:r>
              <a:rPr lang="en-US" sz="750" dirty="0">
                <a:solidFill>
                  <a:srgbClr val="9BB0B5"/>
                </a:solidFill>
                <a:latin typeface="Avenir Next" pitchFamily="34" charset="0"/>
                <a:ea typeface="Avenir Next" pitchFamily="34" charset="-122"/>
                <a:cs typeface="Avenir Next" pitchFamily="34" charset="-120"/>
              </a:rPr>
              <a:t>generators</a:t>
            </a:r>
            <a:endParaRPr lang="en-US" sz="750" dirty="0"/>
          </a:p>
        </p:txBody>
      </p:sp>
      <p:sp>
        <p:nvSpPr>
          <p:cNvPr id="27" name="Shape 25"/>
          <p:cNvSpPr/>
          <p:nvPr/>
        </p:nvSpPr>
        <p:spPr>
          <a:xfrm>
            <a:off x="5989320" y="2084832"/>
            <a:ext cx="0" cy="3584448"/>
          </a:xfrm>
          <a:prstGeom prst="line">
            <a:avLst/>
          </a:prstGeom>
          <a:noFill/>
          <a:ln w="12700">
            <a:solidFill>
              <a:srgbClr val="294047"/>
            </a:solidFill>
            <a:prstDash val="solid"/>
            <a:headEnd type="none"/>
            <a:tailEnd type="none"/>
          </a:ln>
        </p:spPr>
      </p:sp>
      <p:sp>
        <p:nvSpPr>
          <p:cNvPr id="28" name="Shape 26"/>
          <p:cNvSpPr/>
          <p:nvPr/>
        </p:nvSpPr>
        <p:spPr>
          <a:xfrm>
            <a:off x="7315200" y="2880360"/>
            <a:ext cx="1143000" cy="1143000"/>
          </a:xfrm>
          <a:prstGeom prst="ellipse">
            <a:avLst/>
          </a:prstGeom>
          <a:solidFill>
            <a:srgbClr val="12272D"/>
          </a:solidFill>
          <a:ln w="25400">
            <a:solidFill>
              <a:srgbClr val="F4B85D"/>
            </a:solidFill>
            <a:prstDash val="solid"/>
          </a:ln>
        </p:spPr>
      </p:sp>
      <p:sp>
        <p:nvSpPr>
          <p:cNvPr id="29" name="Text 27"/>
          <p:cNvSpPr/>
          <p:nvPr/>
        </p:nvSpPr>
        <p:spPr>
          <a:xfrm>
            <a:off x="7315200" y="3200400"/>
            <a:ext cx="1143000" cy="256032"/>
          </a:xfrm>
          <a:prstGeom prst="rect">
            <a:avLst/>
          </a:prstGeom>
          <a:noFill/>
          <a:ln/>
        </p:spPr>
        <p:txBody>
          <a:bodyPr wrap="square" lIns="0" tIns="0" rIns="0" bIns="0" rtlCol="0" anchor="ctr">
            <a:normAutofit/>
          </a:bodyPr>
          <a:lstStyle/>
          <a:p>
            <a:pPr algn="ctr" indent="0" marL="0">
              <a:buNone/>
            </a:pPr>
            <a:r>
              <a:rPr lang="en-US" sz="1150" b="1" dirty="0">
                <a:solidFill>
                  <a:srgbClr val="F4B85D"/>
                </a:solidFill>
                <a:latin typeface="Avenir Next" pitchFamily="34" charset="0"/>
                <a:ea typeface="Avenir Next" pitchFamily="34" charset="-122"/>
                <a:cs typeface="Avenir Next" pitchFamily="34" charset="-120"/>
              </a:rPr>
              <a:t>MOBILITY</a:t>
            </a:r>
            <a:endParaRPr lang="en-US" sz="1150" dirty="0"/>
          </a:p>
        </p:txBody>
      </p:sp>
      <p:sp>
        <p:nvSpPr>
          <p:cNvPr id="30" name="Shape 28"/>
          <p:cNvSpPr/>
          <p:nvPr/>
        </p:nvSpPr>
        <p:spPr>
          <a:xfrm>
            <a:off x="8503920" y="3456432"/>
            <a:ext cx="987552" cy="0"/>
          </a:xfrm>
          <a:prstGeom prst="line">
            <a:avLst/>
          </a:prstGeom>
          <a:noFill/>
          <a:ln w="21590">
            <a:solidFill>
              <a:srgbClr val="65E2CB"/>
            </a:solidFill>
            <a:prstDash val="solid"/>
            <a:headEnd type="none"/>
            <a:tailEnd type="triangle"/>
          </a:ln>
        </p:spPr>
      </p:sp>
      <p:sp>
        <p:nvSpPr>
          <p:cNvPr id="31" name="Shape 29"/>
          <p:cNvSpPr/>
          <p:nvPr/>
        </p:nvSpPr>
        <p:spPr>
          <a:xfrm>
            <a:off x="9537192" y="2935224"/>
            <a:ext cx="1600200" cy="1051560"/>
          </a:xfrm>
          <a:prstGeom prst="roundRect">
            <a:avLst>
              <a:gd name="adj" fmla="val 13913"/>
            </a:avLst>
          </a:prstGeom>
          <a:solidFill>
            <a:srgbClr val="0D1C21"/>
          </a:solidFill>
          <a:ln w="12700">
            <a:solidFill>
              <a:srgbClr val="65E2CB"/>
            </a:solidFill>
            <a:prstDash val="solid"/>
          </a:ln>
        </p:spPr>
      </p:sp>
      <p:sp>
        <p:nvSpPr>
          <p:cNvPr id="32" name="Text 30"/>
          <p:cNvSpPr/>
          <p:nvPr/>
        </p:nvSpPr>
        <p:spPr>
          <a:xfrm>
            <a:off x="9674352" y="3182112"/>
            <a:ext cx="1325880" cy="438912"/>
          </a:xfrm>
          <a:prstGeom prst="rect">
            <a:avLst/>
          </a:prstGeom>
          <a:noFill/>
          <a:ln/>
        </p:spPr>
        <p:txBody>
          <a:bodyPr wrap="square" lIns="0" tIns="0" rIns="0" bIns="0" rtlCol="0" anchor="ctr">
            <a:normAutofit/>
          </a:bodyPr>
          <a:lstStyle/>
          <a:p>
            <a:pPr algn="ctr" indent="0" marL="0">
              <a:buNone/>
            </a:pPr>
            <a:r>
              <a:rPr lang="en-US" sz="1140" b="1" dirty="0">
                <a:solidFill>
                  <a:srgbClr val="65E2CB"/>
                </a:solidFill>
                <a:latin typeface="Avenir Next" pitchFamily="34" charset="0"/>
                <a:ea typeface="Avenir Next" pitchFamily="34" charset="-122"/>
                <a:cs typeface="Avenir Next" pitchFamily="34" charset="-120"/>
              </a:rPr>
              <a:t>EMERGENCY</a:t>
            </a:r>
            <a:endParaRPr lang="en-US" sz="1140" dirty="0"/>
          </a:p>
          <a:p>
            <a:pPr algn="ctr" indent="0" marL="0">
              <a:buNone/>
            </a:pPr>
            <a:r>
              <a:rPr lang="en-US" sz="1140" b="1" dirty="0">
                <a:solidFill>
                  <a:srgbClr val="65E2CB"/>
                </a:solidFill>
                <a:latin typeface="Avenir Next" pitchFamily="34" charset="0"/>
                <a:ea typeface="Avenir Next" pitchFamily="34" charset="-122"/>
                <a:cs typeface="Avenir Next" pitchFamily="34" charset="-120"/>
              </a:rPr>
              <a:t>SUPPLY</a:t>
            </a:r>
            <a:endParaRPr lang="en-US" sz="1140" dirty="0"/>
          </a:p>
        </p:txBody>
      </p:sp>
      <p:sp>
        <p:nvSpPr>
          <p:cNvPr id="33" name="Text 31"/>
          <p:cNvSpPr/>
          <p:nvPr/>
        </p:nvSpPr>
        <p:spPr>
          <a:xfrm>
            <a:off x="6720840" y="4334256"/>
            <a:ext cx="4892040" cy="237744"/>
          </a:xfrm>
          <a:prstGeom prst="rect">
            <a:avLst/>
          </a:prstGeom>
          <a:noFill/>
          <a:ln/>
        </p:spPr>
        <p:txBody>
          <a:bodyPr wrap="square" lIns="0" tIns="0" rIns="0" bIns="0" rtlCol="0" anchor="ctr">
            <a:normAutofit/>
          </a:bodyPr>
          <a:lstStyle/>
          <a:p>
            <a:pPr algn="ctr" indent="0" marL="0">
              <a:buNone/>
            </a:pPr>
            <a:r>
              <a:rPr lang="en-US" sz="1080" dirty="0">
                <a:solidFill>
                  <a:srgbClr val="9BB0B5"/>
                </a:solidFill>
                <a:latin typeface="Avenir Next" pitchFamily="34" charset="0"/>
                <a:ea typeface="Avenir Next" pitchFamily="34" charset="-122"/>
                <a:cs typeface="Avenir Next" pitchFamily="34" charset="-120"/>
              </a:rPr>
              <a:t>Road access + logistics</a:t>
            </a:r>
            <a:endParaRPr lang="en-US" sz="1080" dirty="0"/>
          </a:p>
        </p:txBody>
      </p:sp>
      <p:sp>
        <p:nvSpPr>
          <p:cNvPr id="34" name="Text 32"/>
          <p:cNvSpPr/>
          <p:nvPr/>
        </p:nvSpPr>
        <p:spPr>
          <a:xfrm>
            <a:off x="6537960" y="4828032"/>
            <a:ext cx="5074920" cy="603504"/>
          </a:xfrm>
          <a:prstGeom prst="rect">
            <a:avLst/>
          </a:prstGeom>
          <a:noFill/>
          <a:ln/>
        </p:spPr>
        <p:txBody>
          <a:bodyPr wrap="square" lIns="0" tIns="0" rIns="0" bIns="0" rtlCol="0" anchor="ctr">
            <a:normAutofit/>
          </a:bodyPr>
          <a:lstStyle/>
          <a:p>
            <a:pPr algn="ctr" indent="0" marL="0">
              <a:buNone/>
            </a:pPr>
            <a:r>
              <a:rPr lang="en-US" sz="1210" b="1" dirty="0">
                <a:solidFill>
                  <a:srgbClr val="F4F7F6"/>
                </a:solidFill>
                <a:latin typeface="Avenir Next" pitchFamily="34" charset="0"/>
                <a:ea typeface="Avenir Next" pitchFamily="34" charset="-122"/>
                <a:cs typeface="Avenir Next" pitchFamily="34" charset="-120"/>
              </a:rPr>
              <a:t>NWB corridors are causal only for Mobility and explicitly modeled road logistics / Supply.</a:t>
            </a:r>
            <a:endParaRPr lang="en-US" sz="1210" dirty="0"/>
          </a:p>
        </p:txBody>
      </p:sp>
      <p:sp>
        <p:nvSpPr>
          <p:cNvPr id="35" name="Shape 33"/>
          <p:cNvSpPr/>
          <p:nvPr/>
        </p:nvSpPr>
        <p:spPr>
          <a:xfrm>
            <a:off x="6629400" y="2176272"/>
            <a:ext cx="4160520" cy="310896"/>
          </a:xfrm>
          <a:prstGeom prst="roundRect">
            <a:avLst>
              <a:gd name="adj" fmla="val 50000"/>
            </a:avLst>
          </a:prstGeom>
          <a:solidFill>
            <a:srgbClr val="12272D"/>
          </a:solidFill>
          <a:ln w="12700">
            <a:solidFill>
              <a:srgbClr val="294047"/>
            </a:solidFill>
            <a:prstDash val="solid"/>
          </a:ln>
        </p:spPr>
      </p:sp>
      <p:sp>
        <p:nvSpPr>
          <p:cNvPr id="36" name="Shape 34"/>
          <p:cNvSpPr/>
          <p:nvPr/>
        </p:nvSpPr>
        <p:spPr>
          <a:xfrm>
            <a:off x="6757416" y="2290572"/>
            <a:ext cx="82296" cy="82296"/>
          </a:xfrm>
          <a:prstGeom prst="ellipse">
            <a:avLst/>
          </a:prstGeom>
          <a:solidFill>
            <a:srgbClr val="F56F7C"/>
          </a:solidFill>
          <a:ln w="12700">
            <a:solidFill>
              <a:srgbClr val="F56F7C"/>
            </a:solidFill>
            <a:prstDash val="solid"/>
          </a:ln>
        </p:spPr>
      </p:sp>
      <p:sp>
        <p:nvSpPr>
          <p:cNvPr id="37" name="Text 35"/>
          <p:cNvSpPr/>
          <p:nvPr/>
        </p:nvSpPr>
        <p:spPr>
          <a:xfrm>
            <a:off x="6922008" y="2221992"/>
            <a:ext cx="3776472" cy="219456"/>
          </a:xfrm>
          <a:prstGeom prst="rect">
            <a:avLst/>
          </a:prstGeom>
          <a:noFill/>
          <a:ln/>
        </p:spPr>
        <p:txBody>
          <a:bodyPr wrap="square" lIns="0" tIns="0" rIns="0" bIns="0" rtlCol="0" anchor="ctr">
            <a:normAutofit/>
          </a:bodyPr>
          <a:lstStyle/>
          <a:p>
            <a:pPr indent="0" marL="0">
              <a:buNone/>
            </a:pPr>
            <a:r>
              <a:rPr lang="en-US" sz="950" b="1" spc="20" kern="0" dirty="0">
                <a:solidFill>
                  <a:srgbClr val="F4F7F6"/>
                </a:solidFill>
                <a:latin typeface="Avenir Next" pitchFamily="34" charset="0"/>
                <a:ea typeface="Avenir Next" pitchFamily="34" charset="-122"/>
                <a:cs typeface="Avenir Next" pitchFamily="34" charset="-120"/>
              </a:rPr>
              <a:t>DIRECT HAZARD PRESSURE CAN AFFECT EVERY SERVICE</a:t>
            </a:r>
            <a:endParaRPr lang="en-US" sz="950" dirty="0"/>
          </a:p>
        </p:txBody>
      </p:sp>
      <p:sp>
        <p:nvSpPr>
          <p:cNvPr id="39" name="Shape 36"/>
          <p:cNvSpPr/>
          <p:nvPr/>
        </p:nvSpPr>
        <p:spPr>
          <a:xfrm>
            <a:off x="502920" y="292608"/>
            <a:ext cx="310896" cy="310896"/>
          </a:xfrm>
          <a:prstGeom prst="ellipse">
            <a:avLst/>
          </a:prstGeom>
          <a:solidFill>
            <a:srgbClr val="12272D"/>
          </a:solidFill>
          <a:ln w="12700">
            <a:solidFill>
              <a:srgbClr val="65E2CB"/>
            </a:solidFill>
            <a:prstDash val="solid"/>
          </a:ln>
        </p:spPr>
      </p:sp>
      <p:sp>
        <p:nvSpPr>
          <p:cNvPr id="40" name="Shape 37"/>
          <p:cNvSpPr/>
          <p:nvPr/>
        </p:nvSpPr>
        <p:spPr>
          <a:xfrm>
            <a:off x="597103" y="374904"/>
            <a:ext cx="118872" cy="118872"/>
          </a:xfrm>
          <a:prstGeom prst="ellipse">
            <a:avLst/>
          </a:prstGeom>
          <a:solidFill>
            <a:srgbClr val="071216"/>
          </a:solidFill>
          <a:ln w="12700">
            <a:solidFill>
              <a:srgbClr val="65E2CB"/>
            </a:solidFill>
            <a:prstDash val="solid"/>
          </a:ln>
        </p:spPr>
      </p:sp>
      <p:sp>
        <p:nvSpPr>
          <p:cNvPr id="41" name="Shape 38"/>
          <p:cNvSpPr/>
          <p:nvPr/>
        </p:nvSpPr>
        <p:spPr>
          <a:xfrm>
            <a:off x="658368" y="356616"/>
            <a:ext cx="0" cy="182880"/>
          </a:xfrm>
          <a:prstGeom prst="line">
            <a:avLst/>
          </a:prstGeom>
          <a:noFill/>
          <a:ln w="15240">
            <a:solidFill>
              <a:srgbClr val="65E2CB"/>
            </a:solidFill>
            <a:prstDash val="solid"/>
            <a:headEnd type="none"/>
            <a:tailEnd type="none"/>
          </a:ln>
        </p:spPr>
      </p:sp>
      <p:sp>
        <p:nvSpPr>
          <p:cNvPr id="42" name="Text 39"/>
          <p:cNvSpPr/>
          <p:nvPr/>
        </p:nvSpPr>
        <p:spPr>
          <a:xfrm>
            <a:off x="896112" y="310896"/>
            <a:ext cx="2011680" cy="201168"/>
          </a:xfrm>
          <a:prstGeom prst="rect">
            <a:avLst/>
          </a:prstGeom>
          <a:noFill/>
          <a:ln/>
        </p:spPr>
        <p:txBody>
          <a:bodyPr wrap="square" lIns="0" tIns="0" rIns="0" bIns="0" rtlCol="0" anchor="ctr">
            <a:normAutofit/>
          </a:bodyPr>
          <a:lstStyle/>
          <a:p>
            <a:pPr indent="0" marL="0">
              <a:buNone/>
            </a:pPr>
            <a:r>
              <a:rPr lang="en-US" sz="900" b="1" spc="140" kern="0" dirty="0">
                <a:solidFill>
                  <a:srgbClr val="9BB0B5"/>
                </a:solidFill>
                <a:latin typeface="Avenir Next" pitchFamily="34" charset="0"/>
                <a:ea typeface="Avenir Next" pitchFamily="34" charset="-122"/>
                <a:cs typeface="Avenir Next" pitchFamily="34" charset="-120"/>
              </a:rPr>
              <a:t>NL RESILIENCE LAB</a:t>
            </a:r>
            <a:endParaRPr lang="en-US" sz="900" dirty="0"/>
          </a:p>
        </p:txBody>
      </p:sp>
      <p:sp>
        <p:nvSpPr>
          <p:cNvPr id="43" name="Text 40"/>
          <p:cNvSpPr/>
          <p:nvPr/>
        </p:nvSpPr>
        <p:spPr>
          <a:xfrm>
            <a:off x="9052560" y="310896"/>
            <a:ext cx="2514600" cy="201168"/>
          </a:xfrm>
          <a:prstGeom prst="rect">
            <a:avLst/>
          </a:prstGeom>
          <a:noFill/>
          <a:ln/>
        </p:spPr>
        <p:txBody>
          <a:bodyPr wrap="square" lIns="0" tIns="0" rIns="0" bIns="0" rtlCol="0" anchor="ctr">
            <a:normAutofit/>
          </a:bodyPr>
          <a:lstStyle/>
          <a:p>
            <a:pPr algn="r" indent="0" marL="0">
              <a:buNone/>
            </a:pPr>
            <a:r>
              <a:rPr lang="en-US" sz="850" b="1" spc="125" kern="0" dirty="0">
                <a:solidFill>
                  <a:srgbClr val="688087"/>
                </a:solidFill>
                <a:latin typeface="Avenir Next" pitchFamily="34" charset="0"/>
                <a:ea typeface="Avenir Next" pitchFamily="34" charset="-122"/>
                <a:cs typeface="Avenir Next" pitchFamily="34" charset="-120"/>
              </a:rPr>
              <a:t>SIMULATION MODEL</a:t>
            </a:r>
            <a:endParaRPr lang="en-US" sz="850" dirty="0"/>
          </a:p>
        </p:txBody>
      </p:sp>
      <p:sp>
        <p:nvSpPr>
          <p:cNvPr id="44" name="Shape 41"/>
          <p:cNvSpPr/>
          <p:nvPr/>
        </p:nvSpPr>
        <p:spPr>
          <a:xfrm>
            <a:off x="502920" y="749808"/>
            <a:ext cx="10680192" cy="0"/>
          </a:xfrm>
          <a:prstGeom prst="line">
            <a:avLst/>
          </a:prstGeom>
          <a:noFill/>
          <a:ln w="8890">
            <a:solidFill>
              <a:srgbClr val="294047"/>
            </a:solidFill>
            <a:prstDash val="solid"/>
            <a:headEnd type="none"/>
            <a:tailEnd type="none"/>
          </a:ln>
        </p:spPr>
      </p:sp>
      <p:sp>
        <p:nvSpPr>
          <p:cNvPr id="25" name="Slide Number Placeholder 0"/>
          <p:cNvSpPr>
            <a:spLocks noGrp="1"/>
          </p:cNvSpPr>
          <p:nvPr>
            <p:ph type="sldNum" sz="quarter" idx="4294967295"/>
          </p:nvPr>
        </p:nvSpPr>
        <p:spPr>
          <a:xfrm>
            <a:off x="11119104" y="6446520"/>
            <a:ext cx="475488"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8087"/>
                </a:solidFill>
                <a:latin typeface="Avenir Next"/>
                <a:ea typeface="Avenir Next"/>
                <a:cs typeface="Avenir Next"/>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216"/>
        </a:solidFill>
      </p:bgPr>
    </p:bg>
    <p:spTree>
      <p:nvGrpSpPr>
        <p:cNvPr id="1" name=""/>
        <p:cNvGrpSpPr/>
        <p:nvPr/>
      </p:nvGrpSpPr>
      <p:grpSpPr>
        <a:xfrm>
          <a:off x="0" y="0"/>
          <a:ext cx="0" cy="0"/>
          <a:chOff x="0" y="0"/>
          <a:chExt cx="0" cy="0"/>
        </a:xfrm>
      </p:grpSpPr>
      <p:sp>
        <p:nvSpPr>
          <p:cNvPr id="2" name="Text 0"/>
          <p:cNvSpPr/>
          <p:nvPr/>
        </p:nvSpPr>
        <p:spPr>
          <a:xfrm>
            <a:off x="594360" y="950976"/>
            <a:ext cx="2377440" cy="201168"/>
          </a:xfrm>
          <a:prstGeom prst="rect">
            <a:avLst/>
          </a:prstGeom>
          <a:noFill/>
          <a:ln/>
        </p:spPr>
        <p:txBody>
          <a:bodyPr wrap="square" lIns="0" tIns="0" rIns="0" bIns="0" rtlCol="0" anchor="ctr">
            <a:normAutofit/>
          </a:bodyPr>
          <a:lstStyle/>
          <a:p>
            <a:pPr indent="0" marL="0">
              <a:buNone/>
            </a:pPr>
            <a:r>
              <a:rPr lang="en-US" sz="900" b="1" spc="165" kern="0" dirty="0">
                <a:solidFill>
                  <a:srgbClr val="65E2CB"/>
                </a:solidFill>
                <a:latin typeface="Avenir Next" pitchFamily="34" charset="0"/>
                <a:ea typeface="Avenir Next" pitchFamily="34" charset="-122"/>
                <a:cs typeface="Avenir Next" pitchFamily="34" charset="-120"/>
              </a:rPr>
              <a:t>TIME</a:t>
            </a:r>
            <a:endParaRPr lang="en-US" sz="900" dirty="0"/>
          </a:p>
        </p:txBody>
      </p:sp>
      <p:sp>
        <p:nvSpPr>
          <p:cNvPr id="3" name="Text 1"/>
          <p:cNvSpPr/>
          <p:nvPr/>
        </p:nvSpPr>
        <p:spPr>
          <a:xfrm>
            <a:off x="594360" y="1188720"/>
            <a:ext cx="10972800" cy="566928"/>
          </a:xfrm>
          <a:prstGeom prst="rect">
            <a:avLst/>
          </a:prstGeom>
          <a:noFill/>
          <a:ln/>
        </p:spPr>
        <p:txBody>
          <a:bodyPr wrap="square" lIns="0" tIns="0" rIns="0" bIns="0" rtlCol="0" anchor="ctr">
            <a:normAutofit/>
          </a:bodyPr>
          <a:lstStyle/>
          <a:p>
            <a:pPr indent="0" marL="0">
              <a:buNone/>
            </a:pPr>
            <a:r>
              <a:rPr lang="en-US" sz="2900" b="1" dirty="0">
                <a:solidFill>
                  <a:srgbClr val="F4F7F6"/>
                </a:solidFill>
                <a:latin typeface="Avenir Next" pitchFamily="34" charset="0"/>
                <a:ea typeface="Avenir Next" pitchFamily="34" charset="-122"/>
                <a:cs typeface="Avenir Next" pitchFamily="34" charset="-120"/>
              </a:rPr>
              <a:t>The answer changes across 72 hours</a:t>
            </a:r>
            <a:endParaRPr lang="en-US" sz="2900" dirty="0"/>
          </a:p>
        </p:txBody>
      </p:sp>
      <p:sp>
        <p:nvSpPr>
          <p:cNvPr id="4" name="Text 2"/>
          <p:cNvSpPr/>
          <p:nvPr/>
        </p:nvSpPr>
        <p:spPr>
          <a:xfrm>
            <a:off x="594360" y="1746504"/>
            <a:ext cx="10789920" cy="393192"/>
          </a:xfrm>
          <a:prstGeom prst="rect">
            <a:avLst/>
          </a:prstGeom>
          <a:noFill/>
          <a:ln/>
        </p:spPr>
        <p:txBody>
          <a:bodyPr wrap="square" lIns="0" tIns="0" rIns="0" bIns="0" rtlCol="0" anchor="ctr">
            <a:normAutofit/>
          </a:bodyPr>
          <a:lstStyle/>
          <a:p>
            <a:pPr indent="0" marL="0">
              <a:buNone/>
            </a:pPr>
            <a:r>
              <a:rPr lang="en-US" sz="1250" dirty="0">
                <a:solidFill>
                  <a:srgbClr val="9BB0B5"/>
                </a:solidFill>
                <a:latin typeface="Avenir Next" pitchFamily="34" charset="0"/>
                <a:ea typeface="Avenir Next" pitchFamily="34" charset="-122"/>
                <a:cs typeface="Avenir Next" pitchFamily="34" charset="-120"/>
              </a:rPr>
              <a:t>Shock, backup endurance, cascading shortfall and restoration happen on different clocks.</a:t>
            </a:r>
            <a:endParaRPr lang="en-US" sz="1250" dirty="0"/>
          </a:p>
        </p:txBody>
      </p:sp>
      <p:sp>
        <p:nvSpPr>
          <p:cNvPr id="5" name="Shape 3"/>
          <p:cNvSpPr/>
          <p:nvPr/>
        </p:nvSpPr>
        <p:spPr>
          <a:xfrm>
            <a:off x="777240" y="3767328"/>
            <a:ext cx="10424160" cy="0"/>
          </a:xfrm>
          <a:prstGeom prst="line">
            <a:avLst/>
          </a:prstGeom>
          <a:noFill/>
          <a:ln w="38100">
            <a:solidFill>
              <a:srgbClr val="294047"/>
            </a:solidFill>
            <a:prstDash val="solid"/>
            <a:headEnd type="none"/>
            <a:tailEnd type="none"/>
          </a:ln>
        </p:spPr>
      </p:sp>
      <p:sp>
        <p:nvSpPr>
          <p:cNvPr id="6" name="Shape 4"/>
          <p:cNvSpPr/>
          <p:nvPr/>
        </p:nvSpPr>
        <p:spPr>
          <a:xfrm>
            <a:off x="649224" y="3639312"/>
            <a:ext cx="256032" cy="256032"/>
          </a:xfrm>
          <a:prstGeom prst="ellipse">
            <a:avLst/>
          </a:prstGeom>
          <a:solidFill>
            <a:srgbClr val="59D5F6"/>
          </a:solidFill>
          <a:ln w="12700">
            <a:solidFill>
              <a:srgbClr val="59D5F6"/>
            </a:solidFill>
            <a:prstDash val="solid"/>
          </a:ln>
        </p:spPr>
      </p:sp>
      <p:sp>
        <p:nvSpPr>
          <p:cNvPr id="7" name="Text 5"/>
          <p:cNvSpPr/>
          <p:nvPr/>
        </p:nvSpPr>
        <p:spPr>
          <a:xfrm>
            <a:off x="338328" y="4023360"/>
            <a:ext cx="877824" cy="246888"/>
          </a:xfrm>
          <a:prstGeom prst="rect">
            <a:avLst/>
          </a:prstGeom>
          <a:noFill/>
          <a:ln/>
        </p:spPr>
        <p:txBody>
          <a:bodyPr wrap="square" lIns="0" tIns="0" rIns="0" bIns="0" rtlCol="0" anchor="ctr">
            <a:normAutofit/>
          </a:bodyPr>
          <a:lstStyle/>
          <a:p>
            <a:pPr algn="ctr" indent="0" marL="0">
              <a:buNone/>
            </a:pPr>
            <a:r>
              <a:rPr lang="en-US" sz="1120" b="1" dirty="0">
                <a:solidFill>
                  <a:srgbClr val="59D5F6"/>
                </a:solidFill>
                <a:latin typeface="Avenir Next" pitchFamily="34" charset="0"/>
                <a:ea typeface="Avenir Next" pitchFamily="34" charset="-122"/>
                <a:cs typeface="Avenir Next" pitchFamily="34" charset="-120"/>
              </a:rPr>
              <a:t>T+0</a:t>
            </a:r>
            <a:endParaRPr lang="en-US" sz="1120" dirty="0"/>
          </a:p>
        </p:txBody>
      </p:sp>
      <p:sp>
        <p:nvSpPr>
          <p:cNvPr id="8" name="Text 6"/>
          <p:cNvSpPr/>
          <p:nvPr/>
        </p:nvSpPr>
        <p:spPr>
          <a:xfrm>
            <a:off x="155448" y="2898648"/>
            <a:ext cx="1243584" cy="320040"/>
          </a:xfrm>
          <a:prstGeom prst="rect">
            <a:avLst/>
          </a:prstGeom>
          <a:noFill/>
          <a:ln/>
        </p:spPr>
        <p:txBody>
          <a:bodyPr wrap="square" lIns="0" tIns="0" rIns="0" bIns="0" rtlCol="0" anchor="ctr">
            <a:normAutofit/>
          </a:bodyPr>
          <a:lstStyle/>
          <a:p>
            <a:pPr algn="ctr" indent="0" marL="0">
              <a:buNone/>
            </a:pPr>
            <a:r>
              <a:rPr lang="en-US" sz="810" b="1" spc="65" kern="0" dirty="0">
                <a:solidFill>
                  <a:srgbClr val="9BB0B5"/>
                </a:solidFill>
                <a:latin typeface="Avenir Next" pitchFamily="34" charset="0"/>
                <a:ea typeface="Avenir Next" pitchFamily="34" charset="-122"/>
                <a:cs typeface="Avenir Next" pitchFamily="34" charset="-120"/>
              </a:rPr>
              <a:t>EVENT START</a:t>
            </a:r>
            <a:endParaRPr lang="en-US" sz="810" dirty="0"/>
          </a:p>
        </p:txBody>
      </p:sp>
      <p:sp>
        <p:nvSpPr>
          <p:cNvPr id="9" name="Shape 7"/>
          <p:cNvSpPr/>
          <p:nvPr/>
        </p:nvSpPr>
        <p:spPr>
          <a:xfrm>
            <a:off x="777240" y="3273552"/>
            <a:ext cx="0" cy="329184"/>
          </a:xfrm>
          <a:prstGeom prst="line">
            <a:avLst/>
          </a:prstGeom>
          <a:noFill/>
          <a:ln w="10160">
            <a:solidFill>
              <a:srgbClr val="294047"/>
            </a:solidFill>
            <a:prstDash val="dash"/>
            <a:headEnd type="none"/>
            <a:tailEnd type="none"/>
          </a:ln>
        </p:spPr>
      </p:sp>
      <p:sp>
        <p:nvSpPr>
          <p:cNvPr id="10" name="Shape 8"/>
          <p:cNvSpPr/>
          <p:nvPr/>
        </p:nvSpPr>
        <p:spPr>
          <a:xfrm>
            <a:off x="1517904" y="3639312"/>
            <a:ext cx="256032" cy="256032"/>
          </a:xfrm>
          <a:prstGeom prst="ellipse">
            <a:avLst/>
          </a:prstGeom>
          <a:solidFill>
            <a:srgbClr val="65E2CB"/>
          </a:solidFill>
          <a:ln w="12700">
            <a:solidFill>
              <a:srgbClr val="65E2CB"/>
            </a:solidFill>
            <a:prstDash val="solid"/>
          </a:ln>
        </p:spPr>
      </p:sp>
      <p:sp>
        <p:nvSpPr>
          <p:cNvPr id="11" name="Text 9"/>
          <p:cNvSpPr/>
          <p:nvPr/>
        </p:nvSpPr>
        <p:spPr>
          <a:xfrm>
            <a:off x="1207008" y="4023360"/>
            <a:ext cx="877824" cy="246888"/>
          </a:xfrm>
          <a:prstGeom prst="rect">
            <a:avLst/>
          </a:prstGeom>
          <a:noFill/>
          <a:ln/>
        </p:spPr>
        <p:txBody>
          <a:bodyPr wrap="square" lIns="0" tIns="0" rIns="0" bIns="0" rtlCol="0" anchor="ctr">
            <a:normAutofit/>
          </a:bodyPr>
          <a:lstStyle/>
          <a:p>
            <a:pPr algn="ctr" indent="0" marL="0">
              <a:buNone/>
            </a:pPr>
            <a:r>
              <a:rPr lang="en-US" sz="1120" b="1" dirty="0">
                <a:solidFill>
                  <a:srgbClr val="65E2CB"/>
                </a:solidFill>
                <a:latin typeface="Avenir Next" pitchFamily="34" charset="0"/>
                <a:ea typeface="Avenir Next" pitchFamily="34" charset="-122"/>
                <a:cs typeface="Avenir Next" pitchFamily="34" charset="-120"/>
              </a:rPr>
              <a:t>T+6</a:t>
            </a:r>
            <a:endParaRPr lang="en-US" sz="1120" dirty="0"/>
          </a:p>
        </p:txBody>
      </p:sp>
      <p:sp>
        <p:nvSpPr>
          <p:cNvPr id="12" name="Text 10"/>
          <p:cNvSpPr/>
          <p:nvPr/>
        </p:nvSpPr>
        <p:spPr>
          <a:xfrm>
            <a:off x="1024128" y="4370832"/>
            <a:ext cx="1243584" cy="320040"/>
          </a:xfrm>
          <a:prstGeom prst="rect">
            <a:avLst/>
          </a:prstGeom>
          <a:noFill/>
          <a:ln/>
        </p:spPr>
        <p:txBody>
          <a:bodyPr wrap="square" lIns="0" tIns="0" rIns="0" bIns="0" rtlCol="0" anchor="ctr">
            <a:normAutofit/>
          </a:bodyPr>
          <a:lstStyle/>
          <a:p>
            <a:pPr algn="ctr" indent="0" marL="0">
              <a:buNone/>
            </a:pPr>
            <a:r>
              <a:rPr lang="en-US" sz="810" b="1" spc="65" kern="0" dirty="0">
                <a:solidFill>
                  <a:srgbClr val="9BB0B5"/>
                </a:solidFill>
                <a:latin typeface="Avenir Next" pitchFamily="34" charset="0"/>
                <a:ea typeface="Avenir Next" pitchFamily="34" charset="-122"/>
                <a:cs typeface="Avenir Next" pitchFamily="34" charset="-120"/>
              </a:rPr>
              <a:t>EARLY RESPONSE</a:t>
            </a:r>
            <a:endParaRPr lang="en-US" sz="810" dirty="0"/>
          </a:p>
        </p:txBody>
      </p:sp>
      <p:sp>
        <p:nvSpPr>
          <p:cNvPr id="13" name="Shape 11"/>
          <p:cNvSpPr/>
          <p:nvPr/>
        </p:nvSpPr>
        <p:spPr>
          <a:xfrm>
            <a:off x="1645920" y="3931920"/>
            <a:ext cx="0" cy="384048"/>
          </a:xfrm>
          <a:prstGeom prst="line">
            <a:avLst/>
          </a:prstGeom>
          <a:noFill/>
          <a:ln w="10160">
            <a:solidFill>
              <a:srgbClr val="294047"/>
            </a:solidFill>
            <a:prstDash val="dash"/>
            <a:headEnd type="none"/>
            <a:tailEnd type="none"/>
          </a:ln>
        </p:spPr>
      </p:sp>
      <p:sp>
        <p:nvSpPr>
          <p:cNvPr id="14" name="Shape 12"/>
          <p:cNvSpPr/>
          <p:nvPr/>
        </p:nvSpPr>
        <p:spPr>
          <a:xfrm>
            <a:off x="4123944" y="3639312"/>
            <a:ext cx="256032" cy="256032"/>
          </a:xfrm>
          <a:prstGeom prst="ellipse">
            <a:avLst/>
          </a:prstGeom>
          <a:solidFill>
            <a:srgbClr val="F4B85D"/>
          </a:solidFill>
          <a:ln w="12700">
            <a:solidFill>
              <a:srgbClr val="F4B85D"/>
            </a:solidFill>
            <a:prstDash val="solid"/>
          </a:ln>
        </p:spPr>
      </p:sp>
      <p:sp>
        <p:nvSpPr>
          <p:cNvPr id="15" name="Text 13"/>
          <p:cNvSpPr/>
          <p:nvPr/>
        </p:nvSpPr>
        <p:spPr>
          <a:xfrm>
            <a:off x="3813048" y="4023360"/>
            <a:ext cx="877824" cy="246888"/>
          </a:xfrm>
          <a:prstGeom prst="rect">
            <a:avLst/>
          </a:prstGeom>
          <a:noFill/>
          <a:ln/>
        </p:spPr>
        <p:txBody>
          <a:bodyPr wrap="square" lIns="0" tIns="0" rIns="0" bIns="0" rtlCol="0" anchor="ctr">
            <a:normAutofit/>
          </a:bodyPr>
          <a:lstStyle/>
          <a:p>
            <a:pPr algn="ctr" indent="0" marL="0">
              <a:buNone/>
            </a:pPr>
            <a:r>
              <a:rPr lang="en-US" sz="1120" b="1" dirty="0">
                <a:solidFill>
                  <a:srgbClr val="F4B85D"/>
                </a:solidFill>
                <a:latin typeface="Avenir Next" pitchFamily="34" charset="0"/>
                <a:ea typeface="Avenir Next" pitchFamily="34" charset="-122"/>
                <a:cs typeface="Avenir Next" pitchFamily="34" charset="-120"/>
              </a:rPr>
              <a:t>T+24</a:t>
            </a:r>
            <a:endParaRPr lang="en-US" sz="1120" dirty="0"/>
          </a:p>
        </p:txBody>
      </p:sp>
      <p:sp>
        <p:nvSpPr>
          <p:cNvPr id="16" name="Text 14"/>
          <p:cNvSpPr/>
          <p:nvPr/>
        </p:nvSpPr>
        <p:spPr>
          <a:xfrm>
            <a:off x="3630168" y="2898648"/>
            <a:ext cx="1243584" cy="320040"/>
          </a:xfrm>
          <a:prstGeom prst="rect">
            <a:avLst/>
          </a:prstGeom>
          <a:noFill/>
          <a:ln/>
        </p:spPr>
        <p:txBody>
          <a:bodyPr wrap="square" lIns="0" tIns="0" rIns="0" bIns="0" rtlCol="0" anchor="ctr">
            <a:normAutofit/>
          </a:bodyPr>
          <a:lstStyle/>
          <a:p>
            <a:pPr algn="ctr" indent="0" marL="0">
              <a:buNone/>
            </a:pPr>
            <a:r>
              <a:rPr lang="en-US" sz="810" b="1" spc="65" kern="0" dirty="0">
                <a:solidFill>
                  <a:srgbClr val="9BB0B5"/>
                </a:solidFill>
                <a:latin typeface="Avenir Next" pitchFamily="34" charset="0"/>
                <a:ea typeface="Avenir Next" pitchFamily="34" charset="-122"/>
                <a:cs typeface="Avenir Next" pitchFamily="34" charset="-120"/>
              </a:rPr>
              <a:t>BACKUPS DEPLETE</a:t>
            </a:r>
            <a:endParaRPr lang="en-US" sz="810" dirty="0"/>
          </a:p>
        </p:txBody>
      </p:sp>
      <p:sp>
        <p:nvSpPr>
          <p:cNvPr id="17" name="Shape 15"/>
          <p:cNvSpPr/>
          <p:nvPr/>
        </p:nvSpPr>
        <p:spPr>
          <a:xfrm>
            <a:off x="4251960" y="3273552"/>
            <a:ext cx="0" cy="329184"/>
          </a:xfrm>
          <a:prstGeom prst="line">
            <a:avLst/>
          </a:prstGeom>
          <a:noFill/>
          <a:ln w="10160">
            <a:solidFill>
              <a:srgbClr val="294047"/>
            </a:solidFill>
            <a:prstDash val="dash"/>
            <a:headEnd type="none"/>
            <a:tailEnd type="none"/>
          </a:ln>
        </p:spPr>
      </p:sp>
      <p:sp>
        <p:nvSpPr>
          <p:cNvPr id="18" name="Shape 16"/>
          <p:cNvSpPr/>
          <p:nvPr/>
        </p:nvSpPr>
        <p:spPr>
          <a:xfrm>
            <a:off x="7598664" y="3639312"/>
            <a:ext cx="256032" cy="256032"/>
          </a:xfrm>
          <a:prstGeom prst="ellipse">
            <a:avLst/>
          </a:prstGeom>
          <a:solidFill>
            <a:srgbClr val="F56F7C"/>
          </a:solidFill>
          <a:ln w="12700">
            <a:solidFill>
              <a:srgbClr val="F56F7C"/>
            </a:solidFill>
            <a:prstDash val="solid"/>
          </a:ln>
        </p:spPr>
      </p:sp>
      <p:sp>
        <p:nvSpPr>
          <p:cNvPr id="19" name="Text 17"/>
          <p:cNvSpPr/>
          <p:nvPr/>
        </p:nvSpPr>
        <p:spPr>
          <a:xfrm>
            <a:off x="7287768" y="4023360"/>
            <a:ext cx="877824" cy="246888"/>
          </a:xfrm>
          <a:prstGeom prst="rect">
            <a:avLst/>
          </a:prstGeom>
          <a:noFill/>
          <a:ln/>
        </p:spPr>
        <p:txBody>
          <a:bodyPr wrap="square" lIns="0" tIns="0" rIns="0" bIns="0" rtlCol="0" anchor="ctr">
            <a:normAutofit/>
          </a:bodyPr>
          <a:lstStyle/>
          <a:p>
            <a:pPr algn="ctr" indent="0" marL="0">
              <a:buNone/>
            </a:pPr>
            <a:r>
              <a:rPr lang="en-US" sz="1120" b="1" dirty="0">
                <a:solidFill>
                  <a:srgbClr val="F56F7C"/>
                </a:solidFill>
                <a:latin typeface="Avenir Next" pitchFamily="34" charset="0"/>
                <a:ea typeface="Avenir Next" pitchFamily="34" charset="-122"/>
                <a:cs typeface="Avenir Next" pitchFamily="34" charset="-120"/>
              </a:rPr>
              <a:t>T+48</a:t>
            </a:r>
            <a:endParaRPr lang="en-US" sz="1120" dirty="0"/>
          </a:p>
        </p:txBody>
      </p:sp>
      <p:sp>
        <p:nvSpPr>
          <p:cNvPr id="20" name="Text 18"/>
          <p:cNvSpPr/>
          <p:nvPr/>
        </p:nvSpPr>
        <p:spPr>
          <a:xfrm>
            <a:off x="7104888" y="4370832"/>
            <a:ext cx="1243584" cy="320040"/>
          </a:xfrm>
          <a:prstGeom prst="rect">
            <a:avLst/>
          </a:prstGeom>
          <a:noFill/>
          <a:ln/>
        </p:spPr>
        <p:txBody>
          <a:bodyPr wrap="square" lIns="0" tIns="0" rIns="0" bIns="0" rtlCol="0" anchor="ctr">
            <a:normAutofit/>
          </a:bodyPr>
          <a:lstStyle/>
          <a:p>
            <a:pPr algn="ctr" indent="0" marL="0">
              <a:buNone/>
            </a:pPr>
            <a:r>
              <a:rPr lang="en-US" sz="810" b="1" spc="65" kern="0" dirty="0">
                <a:solidFill>
                  <a:srgbClr val="9BB0B5"/>
                </a:solidFill>
                <a:latin typeface="Avenir Next" pitchFamily="34" charset="0"/>
                <a:ea typeface="Avenir Next" pitchFamily="34" charset="-122"/>
                <a:cs typeface="Avenir Next" pitchFamily="34" charset="-120"/>
              </a:rPr>
              <a:t>CASCADE / REPAIR</a:t>
            </a:r>
            <a:endParaRPr lang="en-US" sz="810" dirty="0"/>
          </a:p>
        </p:txBody>
      </p:sp>
      <p:sp>
        <p:nvSpPr>
          <p:cNvPr id="21" name="Shape 19"/>
          <p:cNvSpPr/>
          <p:nvPr/>
        </p:nvSpPr>
        <p:spPr>
          <a:xfrm>
            <a:off x="7726680" y="3931920"/>
            <a:ext cx="0" cy="384048"/>
          </a:xfrm>
          <a:prstGeom prst="line">
            <a:avLst/>
          </a:prstGeom>
          <a:noFill/>
          <a:ln w="10160">
            <a:solidFill>
              <a:srgbClr val="294047"/>
            </a:solidFill>
            <a:prstDash val="dash"/>
            <a:headEnd type="none"/>
            <a:tailEnd type="none"/>
          </a:ln>
        </p:spPr>
      </p:sp>
      <p:sp>
        <p:nvSpPr>
          <p:cNvPr id="22" name="Shape 20"/>
          <p:cNvSpPr/>
          <p:nvPr/>
        </p:nvSpPr>
        <p:spPr>
          <a:xfrm>
            <a:off x="11073384" y="3639312"/>
            <a:ext cx="256032" cy="256032"/>
          </a:xfrm>
          <a:prstGeom prst="ellipse">
            <a:avLst/>
          </a:prstGeom>
          <a:solidFill>
            <a:srgbClr val="B784F5"/>
          </a:solidFill>
          <a:ln w="12700">
            <a:solidFill>
              <a:srgbClr val="B784F5"/>
            </a:solidFill>
            <a:prstDash val="solid"/>
          </a:ln>
        </p:spPr>
      </p:sp>
      <p:sp>
        <p:nvSpPr>
          <p:cNvPr id="23" name="Text 21"/>
          <p:cNvSpPr/>
          <p:nvPr/>
        </p:nvSpPr>
        <p:spPr>
          <a:xfrm>
            <a:off x="10762488" y="4023360"/>
            <a:ext cx="877824" cy="246888"/>
          </a:xfrm>
          <a:prstGeom prst="rect">
            <a:avLst/>
          </a:prstGeom>
          <a:noFill/>
          <a:ln/>
        </p:spPr>
        <p:txBody>
          <a:bodyPr wrap="square" lIns="0" tIns="0" rIns="0" bIns="0" rtlCol="0" anchor="ctr">
            <a:normAutofit/>
          </a:bodyPr>
          <a:lstStyle/>
          <a:p>
            <a:pPr algn="ctr" indent="0" marL="0">
              <a:buNone/>
            </a:pPr>
            <a:r>
              <a:rPr lang="en-US" sz="1120" b="1" dirty="0">
                <a:solidFill>
                  <a:srgbClr val="B784F5"/>
                </a:solidFill>
                <a:latin typeface="Avenir Next" pitchFamily="34" charset="0"/>
                <a:ea typeface="Avenir Next" pitchFamily="34" charset="-122"/>
                <a:cs typeface="Avenir Next" pitchFamily="34" charset="-120"/>
              </a:rPr>
              <a:t>T+72</a:t>
            </a:r>
            <a:endParaRPr lang="en-US" sz="1120" dirty="0"/>
          </a:p>
        </p:txBody>
      </p:sp>
      <p:sp>
        <p:nvSpPr>
          <p:cNvPr id="24" name="Text 22"/>
          <p:cNvSpPr/>
          <p:nvPr/>
        </p:nvSpPr>
        <p:spPr>
          <a:xfrm>
            <a:off x="10579608" y="2898648"/>
            <a:ext cx="1243584" cy="320040"/>
          </a:xfrm>
          <a:prstGeom prst="rect">
            <a:avLst/>
          </a:prstGeom>
          <a:noFill/>
          <a:ln/>
        </p:spPr>
        <p:txBody>
          <a:bodyPr wrap="square" lIns="0" tIns="0" rIns="0" bIns="0" rtlCol="0" anchor="ctr">
            <a:normAutofit/>
          </a:bodyPr>
          <a:lstStyle/>
          <a:p>
            <a:pPr algn="ctr" indent="0" marL="0">
              <a:buNone/>
            </a:pPr>
            <a:r>
              <a:rPr lang="en-US" sz="810" b="1" spc="65" kern="0" dirty="0">
                <a:solidFill>
                  <a:srgbClr val="9BB0B5"/>
                </a:solidFill>
                <a:latin typeface="Avenir Next" pitchFamily="34" charset="0"/>
                <a:ea typeface="Avenir Next" pitchFamily="34" charset="-122"/>
                <a:cs typeface="Avenir Next" pitchFamily="34" charset="-120"/>
              </a:rPr>
              <a:t>RECOVERY STATE</a:t>
            </a:r>
            <a:endParaRPr lang="en-US" sz="810" dirty="0"/>
          </a:p>
        </p:txBody>
      </p:sp>
      <p:sp>
        <p:nvSpPr>
          <p:cNvPr id="25" name="Shape 23"/>
          <p:cNvSpPr/>
          <p:nvPr/>
        </p:nvSpPr>
        <p:spPr>
          <a:xfrm>
            <a:off x="11201400" y="3273552"/>
            <a:ext cx="0" cy="329184"/>
          </a:xfrm>
          <a:prstGeom prst="line">
            <a:avLst/>
          </a:prstGeom>
          <a:noFill/>
          <a:ln w="10160">
            <a:solidFill>
              <a:srgbClr val="294047"/>
            </a:solidFill>
            <a:prstDash val="dash"/>
            <a:headEnd type="none"/>
            <a:tailEnd type="none"/>
          </a:ln>
        </p:spPr>
      </p:sp>
      <p:sp>
        <p:nvSpPr>
          <p:cNvPr id="26" name="Shape 24"/>
          <p:cNvSpPr/>
          <p:nvPr/>
        </p:nvSpPr>
        <p:spPr>
          <a:xfrm>
            <a:off x="640080" y="5074920"/>
            <a:ext cx="2578608" cy="786384"/>
          </a:xfrm>
          <a:prstGeom prst="roundRect">
            <a:avLst>
              <a:gd name="adj" fmla="val 16279"/>
            </a:avLst>
          </a:prstGeom>
          <a:solidFill>
            <a:srgbClr val="0D1C21"/>
          </a:solidFill>
          <a:ln w="12700">
            <a:solidFill>
              <a:srgbClr val="294047"/>
            </a:solidFill>
            <a:prstDash val="solid"/>
          </a:ln>
        </p:spPr>
      </p:sp>
      <p:sp>
        <p:nvSpPr>
          <p:cNvPr id="27" name="Shape 25"/>
          <p:cNvSpPr/>
          <p:nvPr/>
        </p:nvSpPr>
        <p:spPr>
          <a:xfrm>
            <a:off x="640080" y="5074920"/>
            <a:ext cx="50292" cy="786384"/>
          </a:xfrm>
          <a:prstGeom prst="rect">
            <a:avLst/>
          </a:prstGeom>
          <a:solidFill>
            <a:srgbClr val="65E2CB"/>
          </a:solidFill>
          <a:ln w="12700">
            <a:solidFill>
              <a:srgbClr val="65E2CB"/>
            </a:solidFill>
            <a:prstDash val="solid"/>
          </a:ln>
        </p:spPr>
      </p:sp>
      <p:sp>
        <p:nvSpPr>
          <p:cNvPr id="28" name="Text 26"/>
          <p:cNvSpPr/>
          <p:nvPr/>
        </p:nvSpPr>
        <p:spPr>
          <a:xfrm>
            <a:off x="877824" y="5248656"/>
            <a:ext cx="2167128" cy="219456"/>
          </a:xfrm>
          <a:prstGeom prst="rect">
            <a:avLst/>
          </a:prstGeom>
          <a:noFill/>
          <a:ln/>
        </p:spPr>
        <p:txBody>
          <a:bodyPr wrap="square" lIns="0" tIns="0" rIns="0" bIns="0" rtlCol="0" anchor="ctr">
            <a:normAutofit/>
          </a:bodyPr>
          <a:lstStyle/>
          <a:p>
            <a:pPr indent="0" marL="0">
              <a:buNone/>
            </a:pPr>
            <a:r>
              <a:rPr lang="en-US" sz="950" b="1" spc="100" kern="0" dirty="0">
                <a:solidFill>
                  <a:srgbClr val="65E2CB"/>
                </a:solidFill>
                <a:latin typeface="Avenir Next" pitchFamily="34" charset="0"/>
                <a:ea typeface="Avenir Next" pitchFamily="34" charset="-122"/>
                <a:cs typeface="Avenir Next" pitchFamily="34" charset="-120"/>
              </a:rPr>
              <a:t>RESPONSE DELAY</a:t>
            </a:r>
            <a:endParaRPr lang="en-US" sz="950" dirty="0"/>
          </a:p>
        </p:txBody>
      </p:sp>
      <p:sp>
        <p:nvSpPr>
          <p:cNvPr id="29" name="Text 27"/>
          <p:cNvSpPr/>
          <p:nvPr/>
        </p:nvSpPr>
        <p:spPr>
          <a:xfrm>
            <a:off x="877824" y="5559552"/>
            <a:ext cx="2157984" cy="164592"/>
          </a:xfrm>
          <a:prstGeom prst="rect">
            <a:avLst/>
          </a:prstGeom>
          <a:noFill/>
          <a:ln/>
        </p:spPr>
        <p:txBody>
          <a:bodyPr wrap="square" lIns="0" tIns="0" rIns="0" bIns="0" rtlCol="0" anchor="t">
            <a:normAutofit/>
          </a:bodyPr>
          <a:lstStyle/>
          <a:p>
            <a:pPr indent="0" marL="0">
              <a:buNone/>
            </a:pPr>
            <a:r>
              <a:rPr lang="en-US" sz="920" dirty="0">
                <a:solidFill>
                  <a:srgbClr val="F4F7F6"/>
                </a:solidFill>
                <a:latin typeface="Avenir Next" pitchFamily="34" charset="0"/>
                <a:ea typeface="Avenir Next" pitchFamily="34" charset="-122"/>
                <a:cs typeface="Avenir Next" pitchFamily="34" charset="-120"/>
              </a:rPr>
              <a:t>sets when organized restoration may begin</a:t>
            </a:r>
            <a:endParaRPr lang="en-US" sz="920" dirty="0"/>
          </a:p>
        </p:txBody>
      </p:sp>
      <p:sp>
        <p:nvSpPr>
          <p:cNvPr id="30" name="Shape 28"/>
          <p:cNvSpPr/>
          <p:nvPr/>
        </p:nvSpPr>
        <p:spPr>
          <a:xfrm>
            <a:off x="3493008" y="5074920"/>
            <a:ext cx="2578608" cy="786384"/>
          </a:xfrm>
          <a:prstGeom prst="roundRect">
            <a:avLst>
              <a:gd name="adj" fmla="val 16279"/>
            </a:avLst>
          </a:prstGeom>
          <a:solidFill>
            <a:srgbClr val="0D1C21"/>
          </a:solidFill>
          <a:ln w="12700">
            <a:solidFill>
              <a:srgbClr val="294047"/>
            </a:solidFill>
            <a:prstDash val="solid"/>
          </a:ln>
        </p:spPr>
      </p:sp>
      <p:sp>
        <p:nvSpPr>
          <p:cNvPr id="31" name="Shape 29"/>
          <p:cNvSpPr/>
          <p:nvPr/>
        </p:nvSpPr>
        <p:spPr>
          <a:xfrm>
            <a:off x="3493008" y="5074920"/>
            <a:ext cx="50292" cy="786384"/>
          </a:xfrm>
          <a:prstGeom prst="rect">
            <a:avLst/>
          </a:prstGeom>
          <a:solidFill>
            <a:srgbClr val="F4B85D"/>
          </a:solidFill>
          <a:ln w="12700">
            <a:solidFill>
              <a:srgbClr val="F4B85D"/>
            </a:solidFill>
            <a:prstDash val="solid"/>
          </a:ln>
        </p:spPr>
      </p:sp>
      <p:sp>
        <p:nvSpPr>
          <p:cNvPr id="32" name="Text 30"/>
          <p:cNvSpPr/>
          <p:nvPr/>
        </p:nvSpPr>
        <p:spPr>
          <a:xfrm>
            <a:off x="3730752" y="5248656"/>
            <a:ext cx="2167128" cy="219456"/>
          </a:xfrm>
          <a:prstGeom prst="rect">
            <a:avLst/>
          </a:prstGeom>
          <a:noFill/>
          <a:ln/>
        </p:spPr>
        <p:txBody>
          <a:bodyPr wrap="square" lIns="0" tIns="0" rIns="0" bIns="0" rtlCol="0" anchor="ctr">
            <a:normAutofit/>
          </a:bodyPr>
          <a:lstStyle/>
          <a:p>
            <a:pPr indent="0" marL="0">
              <a:buNone/>
            </a:pPr>
            <a:r>
              <a:rPr lang="en-US" sz="950" b="1" spc="100" kern="0" dirty="0">
                <a:solidFill>
                  <a:srgbClr val="F4B85D"/>
                </a:solidFill>
                <a:latin typeface="Avenir Next" pitchFamily="34" charset="0"/>
                <a:ea typeface="Avenir Next" pitchFamily="34" charset="-122"/>
                <a:cs typeface="Avenir Next" pitchFamily="34" charset="-120"/>
              </a:rPr>
              <a:t>BACKUP ENDURANCE</a:t>
            </a:r>
            <a:endParaRPr lang="en-US" sz="950" dirty="0"/>
          </a:p>
        </p:txBody>
      </p:sp>
      <p:sp>
        <p:nvSpPr>
          <p:cNvPr id="33" name="Text 31"/>
          <p:cNvSpPr/>
          <p:nvPr/>
        </p:nvSpPr>
        <p:spPr>
          <a:xfrm>
            <a:off x="3730752" y="5559552"/>
            <a:ext cx="2157984" cy="164592"/>
          </a:xfrm>
          <a:prstGeom prst="rect">
            <a:avLst/>
          </a:prstGeom>
          <a:noFill/>
          <a:ln/>
        </p:spPr>
        <p:txBody>
          <a:bodyPr wrap="square" lIns="0" tIns="0" rIns="0" bIns="0" rtlCol="0" anchor="t">
            <a:normAutofit/>
          </a:bodyPr>
          <a:lstStyle/>
          <a:p>
            <a:pPr indent="0" marL="0">
              <a:buNone/>
            </a:pPr>
            <a:r>
              <a:rPr lang="en-US" sz="920" dirty="0">
                <a:solidFill>
                  <a:srgbClr val="F4F7F6"/>
                </a:solidFill>
                <a:latin typeface="Avenir Next" pitchFamily="34" charset="0"/>
                <a:ea typeface="Avenir Next" pitchFamily="34" charset="-122"/>
                <a:cs typeface="Avenir Next" pitchFamily="34" charset="-120"/>
              </a:rPr>
              <a:t>temporarily decouples dependent services from power</a:t>
            </a:r>
            <a:endParaRPr lang="en-US" sz="920" dirty="0"/>
          </a:p>
        </p:txBody>
      </p:sp>
      <p:sp>
        <p:nvSpPr>
          <p:cNvPr id="34" name="Shape 32"/>
          <p:cNvSpPr/>
          <p:nvPr/>
        </p:nvSpPr>
        <p:spPr>
          <a:xfrm>
            <a:off x="6345936" y="5074920"/>
            <a:ext cx="2578608" cy="786384"/>
          </a:xfrm>
          <a:prstGeom prst="roundRect">
            <a:avLst>
              <a:gd name="adj" fmla="val 16279"/>
            </a:avLst>
          </a:prstGeom>
          <a:solidFill>
            <a:srgbClr val="0D1C21"/>
          </a:solidFill>
          <a:ln w="12700">
            <a:solidFill>
              <a:srgbClr val="294047"/>
            </a:solidFill>
            <a:prstDash val="solid"/>
          </a:ln>
        </p:spPr>
      </p:sp>
      <p:sp>
        <p:nvSpPr>
          <p:cNvPr id="35" name="Shape 33"/>
          <p:cNvSpPr/>
          <p:nvPr/>
        </p:nvSpPr>
        <p:spPr>
          <a:xfrm>
            <a:off x="6345936" y="5074920"/>
            <a:ext cx="50292" cy="786384"/>
          </a:xfrm>
          <a:prstGeom prst="rect">
            <a:avLst/>
          </a:prstGeom>
          <a:solidFill>
            <a:srgbClr val="59D5F6"/>
          </a:solidFill>
          <a:ln w="12700">
            <a:solidFill>
              <a:srgbClr val="59D5F6"/>
            </a:solidFill>
            <a:prstDash val="solid"/>
          </a:ln>
        </p:spPr>
      </p:sp>
      <p:sp>
        <p:nvSpPr>
          <p:cNvPr id="36" name="Text 34"/>
          <p:cNvSpPr/>
          <p:nvPr/>
        </p:nvSpPr>
        <p:spPr>
          <a:xfrm>
            <a:off x="6583680" y="5248656"/>
            <a:ext cx="2167128" cy="219456"/>
          </a:xfrm>
          <a:prstGeom prst="rect">
            <a:avLst/>
          </a:prstGeom>
          <a:noFill/>
          <a:ln/>
        </p:spPr>
        <p:txBody>
          <a:bodyPr wrap="square" lIns="0" tIns="0" rIns="0" bIns="0" rtlCol="0" anchor="ctr">
            <a:normAutofit/>
          </a:bodyPr>
          <a:lstStyle/>
          <a:p>
            <a:pPr indent="0" marL="0">
              <a:buNone/>
            </a:pPr>
            <a:r>
              <a:rPr lang="en-US" sz="950" b="1" spc="100" kern="0" dirty="0">
                <a:solidFill>
                  <a:srgbClr val="59D5F6"/>
                </a:solidFill>
                <a:latin typeface="Avenir Next" pitchFamily="34" charset="0"/>
                <a:ea typeface="Avenir Next" pitchFamily="34" charset="-122"/>
                <a:cs typeface="Avenir Next" pitchFamily="34" charset="-120"/>
              </a:rPr>
              <a:t>ACCESS GUARD</a:t>
            </a:r>
            <a:endParaRPr lang="en-US" sz="950" dirty="0"/>
          </a:p>
        </p:txBody>
      </p:sp>
      <p:sp>
        <p:nvSpPr>
          <p:cNvPr id="37" name="Text 35"/>
          <p:cNvSpPr/>
          <p:nvPr/>
        </p:nvSpPr>
        <p:spPr>
          <a:xfrm>
            <a:off x="6583680" y="5559552"/>
            <a:ext cx="2157984" cy="164592"/>
          </a:xfrm>
          <a:prstGeom prst="rect">
            <a:avLst/>
          </a:prstGeom>
          <a:noFill/>
          <a:ln/>
        </p:spPr>
        <p:txBody>
          <a:bodyPr wrap="square" lIns="0" tIns="0" rIns="0" bIns="0" rtlCol="0" anchor="t">
            <a:normAutofit/>
          </a:bodyPr>
          <a:lstStyle/>
          <a:p>
            <a:pPr indent="0" marL="0">
              <a:buNone/>
            </a:pPr>
            <a:r>
              <a:rPr lang="en-US" sz="920" dirty="0">
                <a:solidFill>
                  <a:srgbClr val="F4F7F6"/>
                </a:solidFill>
                <a:latin typeface="Avenir Next" pitchFamily="34" charset="0"/>
                <a:ea typeface="Avenir Next" pitchFamily="34" charset="-122"/>
                <a:cs typeface="Avenir Next" pitchFamily="34" charset="-120"/>
              </a:rPr>
              <a:t>standing-water stress can pause generic repair</a:t>
            </a:r>
            <a:endParaRPr lang="en-US" sz="920" dirty="0"/>
          </a:p>
        </p:txBody>
      </p:sp>
      <p:sp>
        <p:nvSpPr>
          <p:cNvPr id="38" name="Shape 36"/>
          <p:cNvSpPr/>
          <p:nvPr/>
        </p:nvSpPr>
        <p:spPr>
          <a:xfrm>
            <a:off x="9198864" y="5074920"/>
            <a:ext cx="2578608" cy="786384"/>
          </a:xfrm>
          <a:prstGeom prst="roundRect">
            <a:avLst>
              <a:gd name="adj" fmla="val 16279"/>
            </a:avLst>
          </a:prstGeom>
          <a:solidFill>
            <a:srgbClr val="0D1C21"/>
          </a:solidFill>
          <a:ln w="12700">
            <a:solidFill>
              <a:srgbClr val="294047"/>
            </a:solidFill>
            <a:prstDash val="solid"/>
          </a:ln>
        </p:spPr>
      </p:sp>
      <p:sp>
        <p:nvSpPr>
          <p:cNvPr id="39" name="Shape 37"/>
          <p:cNvSpPr/>
          <p:nvPr/>
        </p:nvSpPr>
        <p:spPr>
          <a:xfrm>
            <a:off x="9198864" y="5074920"/>
            <a:ext cx="50292" cy="786384"/>
          </a:xfrm>
          <a:prstGeom prst="rect">
            <a:avLst/>
          </a:prstGeom>
          <a:solidFill>
            <a:srgbClr val="B784F5"/>
          </a:solidFill>
          <a:ln w="12700">
            <a:solidFill>
              <a:srgbClr val="B784F5"/>
            </a:solidFill>
            <a:prstDash val="solid"/>
          </a:ln>
        </p:spPr>
      </p:sp>
      <p:sp>
        <p:nvSpPr>
          <p:cNvPr id="40" name="Text 38"/>
          <p:cNvSpPr/>
          <p:nvPr/>
        </p:nvSpPr>
        <p:spPr>
          <a:xfrm>
            <a:off x="9436608" y="5248656"/>
            <a:ext cx="2167128" cy="219456"/>
          </a:xfrm>
          <a:prstGeom prst="rect">
            <a:avLst/>
          </a:prstGeom>
          <a:noFill/>
          <a:ln/>
        </p:spPr>
        <p:txBody>
          <a:bodyPr wrap="square" lIns="0" tIns="0" rIns="0" bIns="0" rtlCol="0" anchor="ctr">
            <a:normAutofit/>
          </a:bodyPr>
          <a:lstStyle/>
          <a:p>
            <a:pPr indent="0" marL="0">
              <a:buNone/>
            </a:pPr>
            <a:r>
              <a:rPr lang="en-US" sz="950" b="1" spc="100" kern="0" dirty="0">
                <a:solidFill>
                  <a:srgbClr val="B784F5"/>
                </a:solidFill>
                <a:latin typeface="Avenir Next" pitchFamily="34" charset="0"/>
                <a:ea typeface="Avenir Next" pitchFamily="34" charset="-122"/>
                <a:cs typeface="Avenir Next" pitchFamily="34" charset="-120"/>
              </a:rPr>
              <a:t>PEAK DAMAGE</a:t>
            </a:r>
            <a:endParaRPr lang="en-US" sz="950" dirty="0"/>
          </a:p>
        </p:txBody>
      </p:sp>
      <p:sp>
        <p:nvSpPr>
          <p:cNvPr id="41" name="Text 39"/>
          <p:cNvSpPr/>
          <p:nvPr/>
        </p:nvSpPr>
        <p:spPr>
          <a:xfrm>
            <a:off x="9436608" y="5559552"/>
            <a:ext cx="2157984" cy="164592"/>
          </a:xfrm>
          <a:prstGeom prst="rect">
            <a:avLst/>
          </a:prstGeom>
          <a:noFill/>
          <a:ln/>
        </p:spPr>
        <p:txBody>
          <a:bodyPr wrap="square" lIns="0" tIns="0" rIns="0" bIns="0" rtlCol="0" anchor="t">
            <a:normAutofit/>
          </a:bodyPr>
          <a:lstStyle/>
          <a:p>
            <a:pPr indent="0" marL="0">
              <a:buNone/>
            </a:pPr>
            <a:r>
              <a:rPr lang="en-US" sz="920" dirty="0">
                <a:solidFill>
                  <a:srgbClr val="F4F7F6"/>
                </a:solidFill>
                <a:latin typeface="Avenir Next" pitchFamily="34" charset="0"/>
                <a:ea typeface="Avenir Next" pitchFamily="34" charset="-122"/>
                <a:cs typeface="Avenir Next" pitchFamily="34" charset="-120"/>
              </a:rPr>
              <a:t>can persist after current forcing has declined</a:t>
            </a:r>
            <a:endParaRPr lang="en-US" sz="920" dirty="0"/>
          </a:p>
        </p:txBody>
      </p:sp>
      <p:sp>
        <p:nvSpPr>
          <p:cNvPr id="42" name="Text 40"/>
          <p:cNvSpPr/>
          <p:nvPr/>
        </p:nvSpPr>
        <p:spPr>
          <a:xfrm>
            <a:off x="4937760" y="2340864"/>
            <a:ext cx="2286000" cy="310896"/>
          </a:xfrm>
          <a:prstGeom prst="rect">
            <a:avLst/>
          </a:prstGeom>
          <a:noFill/>
          <a:ln/>
        </p:spPr>
        <p:txBody>
          <a:bodyPr wrap="square" lIns="0" tIns="0" rIns="0" bIns="0" rtlCol="0" anchor="ctr">
            <a:normAutofit/>
          </a:bodyPr>
          <a:lstStyle/>
          <a:p>
            <a:pPr algn="ctr" indent="0" marL="0">
              <a:buNone/>
            </a:pPr>
            <a:r>
              <a:rPr lang="en-US" sz="1200" b="1" dirty="0">
                <a:solidFill>
                  <a:srgbClr val="F4F7F6"/>
                </a:solidFill>
                <a:latin typeface="Avenir Next" pitchFamily="34" charset="0"/>
                <a:ea typeface="Avenir Next" pitchFamily="34" charset="-122"/>
                <a:cs typeface="Avenir Next" pitchFamily="34" charset="-120"/>
              </a:rPr>
              <a:t>289 quarter-hour states</a:t>
            </a:r>
            <a:endParaRPr lang="en-US" sz="1200" dirty="0"/>
          </a:p>
        </p:txBody>
      </p:sp>
      <p:sp>
        <p:nvSpPr>
          <p:cNvPr id="44" name="Shape 41"/>
          <p:cNvSpPr/>
          <p:nvPr/>
        </p:nvSpPr>
        <p:spPr>
          <a:xfrm>
            <a:off x="502920" y="292608"/>
            <a:ext cx="310896" cy="310896"/>
          </a:xfrm>
          <a:prstGeom prst="ellipse">
            <a:avLst/>
          </a:prstGeom>
          <a:solidFill>
            <a:srgbClr val="12272D"/>
          </a:solidFill>
          <a:ln w="12700">
            <a:solidFill>
              <a:srgbClr val="65E2CB"/>
            </a:solidFill>
            <a:prstDash val="solid"/>
          </a:ln>
        </p:spPr>
      </p:sp>
      <p:sp>
        <p:nvSpPr>
          <p:cNvPr id="45" name="Shape 42"/>
          <p:cNvSpPr/>
          <p:nvPr/>
        </p:nvSpPr>
        <p:spPr>
          <a:xfrm>
            <a:off x="597103" y="374904"/>
            <a:ext cx="118872" cy="118872"/>
          </a:xfrm>
          <a:prstGeom prst="ellipse">
            <a:avLst/>
          </a:prstGeom>
          <a:solidFill>
            <a:srgbClr val="071216"/>
          </a:solidFill>
          <a:ln w="12700">
            <a:solidFill>
              <a:srgbClr val="65E2CB"/>
            </a:solidFill>
            <a:prstDash val="solid"/>
          </a:ln>
        </p:spPr>
      </p:sp>
      <p:sp>
        <p:nvSpPr>
          <p:cNvPr id="46" name="Shape 43"/>
          <p:cNvSpPr/>
          <p:nvPr/>
        </p:nvSpPr>
        <p:spPr>
          <a:xfrm>
            <a:off x="658368" y="356616"/>
            <a:ext cx="0" cy="182880"/>
          </a:xfrm>
          <a:prstGeom prst="line">
            <a:avLst/>
          </a:prstGeom>
          <a:noFill/>
          <a:ln w="15240">
            <a:solidFill>
              <a:srgbClr val="65E2CB"/>
            </a:solidFill>
            <a:prstDash val="solid"/>
            <a:headEnd type="none"/>
            <a:tailEnd type="none"/>
          </a:ln>
        </p:spPr>
      </p:sp>
      <p:sp>
        <p:nvSpPr>
          <p:cNvPr id="47" name="Text 44"/>
          <p:cNvSpPr/>
          <p:nvPr/>
        </p:nvSpPr>
        <p:spPr>
          <a:xfrm>
            <a:off x="896112" y="310896"/>
            <a:ext cx="2011680" cy="201168"/>
          </a:xfrm>
          <a:prstGeom prst="rect">
            <a:avLst/>
          </a:prstGeom>
          <a:noFill/>
          <a:ln/>
        </p:spPr>
        <p:txBody>
          <a:bodyPr wrap="square" lIns="0" tIns="0" rIns="0" bIns="0" rtlCol="0" anchor="ctr">
            <a:normAutofit/>
          </a:bodyPr>
          <a:lstStyle/>
          <a:p>
            <a:pPr indent="0" marL="0">
              <a:buNone/>
            </a:pPr>
            <a:r>
              <a:rPr lang="en-US" sz="900" b="1" spc="140" kern="0" dirty="0">
                <a:solidFill>
                  <a:srgbClr val="9BB0B5"/>
                </a:solidFill>
                <a:latin typeface="Avenir Next" pitchFamily="34" charset="0"/>
                <a:ea typeface="Avenir Next" pitchFamily="34" charset="-122"/>
                <a:cs typeface="Avenir Next" pitchFamily="34" charset="-120"/>
              </a:rPr>
              <a:t>NL RESILIENCE LAB</a:t>
            </a:r>
            <a:endParaRPr lang="en-US" sz="900" dirty="0"/>
          </a:p>
        </p:txBody>
      </p:sp>
      <p:sp>
        <p:nvSpPr>
          <p:cNvPr id="48" name="Text 45"/>
          <p:cNvSpPr/>
          <p:nvPr/>
        </p:nvSpPr>
        <p:spPr>
          <a:xfrm>
            <a:off x="9052560" y="310896"/>
            <a:ext cx="2514600" cy="201168"/>
          </a:xfrm>
          <a:prstGeom prst="rect">
            <a:avLst/>
          </a:prstGeom>
          <a:noFill/>
          <a:ln/>
        </p:spPr>
        <p:txBody>
          <a:bodyPr wrap="square" lIns="0" tIns="0" rIns="0" bIns="0" rtlCol="0" anchor="ctr">
            <a:normAutofit/>
          </a:bodyPr>
          <a:lstStyle/>
          <a:p>
            <a:pPr algn="r" indent="0" marL="0">
              <a:buNone/>
            </a:pPr>
            <a:r>
              <a:rPr lang="en-US" sz="850" b="1" spc="125" kern="0" dirty="0">
                <a:solidFill>
                  <a:srgbClr val="688087"/>
                </a:solidFill>
                <a:latin typeface="Avenir Next" pitchFamily="34" charset="0"/>
                <a:ea typeface="Avenir Next" pitchFamily="34" charset="-122"/>
                <a:cs typeface="Avenir Next" pitchFamily="34" charset="-120"/>
              </a:rPr>
              <a:t>SIMULATION MODEL</a:t>
            </a:r>
            <a:endParaRPr lang="en-US" sz="850" dirty="0"/>
          </a:p>
        </p:txBody>
      </p:sp>
      <p:sp>
        <p:nvSpPr>
          <p:cNvPr id="49" name="Shape 46"/>
          <p:cNvSpPr/>
          <p:nvPr/>
        </p:nvSpPr>
        <p:spPr>
          <a:xfrm>
            <a:off x="502920" y="749808"/>
            <a:ext cx="10680192" cy="0"/>
          </a:xfrm>
          <a:prstGeom prst="line">
            <a:avLst/>
          </a:prstGeom>
          <a:noFill/>
          <a:ln w="8890">
            <a:solidFill>
              <a:srgbClr val="294047"/>
            </a:solidFill>
            <a:prstDash val="solid"/>
            <a:headEnd type="none"/>
            <a:tailEnd type="none"/>
          </a:ln>
        </p:spPr>
      </p:sp>
      <p:sp>
        <p:nvSpPr>
          <p:cNvPr id="25" name="Slide Number Placeholder 0"/>
          <p:cNvSpPr>
            <a:spLocks noGrp="1"/>
          </p:cNvSpPr>
          <p:nvPr>
            <p:ph type="sldNum" sz="quarter" idx="4294967295"/>
          </p:nvPr>
        </p:nvSpPr>
        <p:spPr>
          <a:xfrm>
            <a:off x="11119104" y="6446520"/>
            <a:ext cx="475488"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8087"/>
                </a:solidFill>
                <a:latin typeface="Avenir Next"/>
                <a:ea typeface="Avenir Next"/>
                <a:cs typeface="Avenir Next"/>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216"/>
        </a:solidFill>
      </p:bgPr>
    </p:bg>
    <p:spTree>
      <p:nvGrpSpPr>
        <p:cNvPr id="1" name=""/>
        <p:cNvGrpSpPr/>
        <p:nvPr/>
      </p:nvGrpSpPr>
      <p:grpSpPr>
        <a:xfrm>
          <a:off x="0" y="0"/>
          <a:ext cx="0" cy="0"/>
          <a:chOff x="0" y="0"/>
          <a:chExt cx="0" cy="0"/>
        </a:xfrm>
      </p:grpSpPr>
      <p:sp>
        <p:nvSpPr>
          <p:cNvPr id="2" name="Text 0"/>
          <p:cNvSpPr/>
          <p:nvPr/>
        </p:nvSpPr>
        <p:spPr>
          <a:xfrm>
            <a:off x="594360" y="950976"/>
            <a:ext cx="2377440" cy="201168"/>
          </a:xfrm>
          <a:prstGeom prst="rect">
            <a:avLst/>
          </a:prstGeom>
          <a:noFill/>
          <a:ln/>
        </p:spPr>
        <p:txBody>
          <a:bodyPr wrap="square" lIns="0" tIns="0" rIns="0" bIns="0" rtlCol="0" anchor="ctr">
            <a:normAutofit/>
          </a:bodyPr>
          <a:lstStyle/>
          <a:p>
            <a:pPr indent="0" marL="0">
              <a:buNone/>
            </a:pPr>
            <a:r>
              <a:rPr lang="en-US" sz="900" b="1" spc="165" kern="0" dirty="0">
                <a:solidFill>
                  <a:srgbClr val="65E2CB"/>
                </a:solidFill>
                <a:latin typeface="Avenir Next" pitchFamily="34" charset="0"/>
                <a:ea typeface="Avenir Next" pitchFamily="34" charset="-122"/>
                <a:cs typeface="Avenir Next" pitchFamily="34" charset="-120"/>
              </a:rPr>
              <a:t>COUPLING RULES</a:t>
            </a:r>
            <a:endParaRPr lang="en-US" sz="900" dirty="0"/>
          </a:p>
        </p:txBody>
      </p:sp>
      <p:sp>
        <p:nvSpPr>
          <p:cNvPr id="3" name="Text 1"/>
          <p:cNvSpPr/>
          <p:nvPr/>
        </p:nvSpPr>
        <p:spPr>
          <a:xfrm>
            <a:off x="594360" y="1188720"/>
            <a:ext cx="10972800" cy="566928"/>
          </a:xfrm>
          <a:prstGeom prst="rect">
            <a:avLst/>
          </a:prstGeom>
          <a:noFill/>
          <a:ln/>
        </p:spPr>
        <p:txBody>
          <a:bodyPr wrap="square" lIns="0" tIns="0" rIns="0" bIns="0" rtlCol="0" anchor="ctr">
            <a:normAutofit/>
          </a:bodyPr>
          <a:lstStyle/>
          <a:p>
            <a:pPr indent="0" marL="0">
              <a:buNone/>
            </a:pPr>
            <a:r>
              <a:rPr lang="en-US" sz="2900" b="1" dirty="0">
                <a:solidFill>
                  <a:srgbClr val="F4F7F6"/>
                </a:solidFill>
                <a:latin typeface="Avenir Next" pitchFamily="34" charset="0"/>
                <a:ea typeface="Avenir Next" pitchFamily="34" charset="-122"/>
                <a:cs typeface="Avenir Next" pitchFamily="34" charset="-120"/>
              </a:rPr>
              <a:t>What actually drives the model?</a:t>
            </a:r>
            <a:endParaRPr lang="en-US" sz="2900" dirty="0"/>
          </a:p>
        </p:txBody>
      </p:sp>
      <p:sp>
        <p:nvSpPr>
          <p:cNvPr id="4" name="Text 2"/>
          <p:cNvSpPr/>
          <p:nvPr/>
        </p:nvSpPr>
        <p:spPr>
          <a:xfrm>
            <a:off x="594360" y="1746504"/>
            <a:ext cx="10789920" cy="393192"/>
          </a:xfrm>
          <a:prstGeom prst="rect">
            <a:avLst/>
          </a:prstGeom>
          <a:noFill/>
          <a:ln/>
        </p:spPr>
        <p:txBody>
          <a:bodyPr wrap="square" lIns="0" tIns="0" rIns="0" bIns="0" rtlCol="0" anchor="ctr">
            <a:normAutofit/>
          </a:bodyPr>
          <a:lstStyle/>
          <a:p>
            <a:pPr indent="0" marL="0">
              <a:buNone/>
            </a:pPr>
            <a:r>
              <a:rPr lang="en-US" sz="1250" dirty="0">
                <a:solidFill>
                  <a:srgbClr val="9BB0B5"/>
                </a:solidFill>
                <a:latin typeface="Avenir Next" pitchFamily="34" charset="0"/>
                <a:ea typeface="Avenir Next" pitchFamily="34" charset="-122"/>
                <a:cs typeface="Avenir Next" pitchFamily="34" charset="-120"/>
              </a:rPr>
              <a:t>The simulator separates causal inputs from visible evidence and from unresolved gaps.</a:t>
            </a:r>
            <a:endParaRPr lang="en-US" sz="1250" dirty="0"/>
          </a:p>
        </p:txBody>
      </p:sp>
      <p:sp>
        <p:nvSpPr>
          <p:cNvPr id="5" name="Shape 3"/>
          <p:cNvSpPr/>
          <p:nvPr/>
        </p:nvSpPr>
        <p:spPr>
          <a:xfrm>
            <a:off x="658368" y="2304288"/>
            <a:ext cx="1828800" cy="713232"/>
          </a:xfrm>
          <a:prstGeom prst="roundRect">
            <a:avLst>
              <a:gd name="adj" fmla="val 17949"/>
            </a:avLst>
          </a:prstGeom>
          <a:solidFill>
            <a:srgbClr val="12272D"/>
          </a:solidFill>
          <a:ln w="12700">
            <a:solidFill>
              <a:srgbClr val="65E2CB"/>
            </a:solidFill>
            <a:prstDash val="solid"/>
          </a:ln>
        </p:spPr>
      </p:sp>
      <p:sp>
        <p:nvSpPr>
          <p:cNvPr id="6" name="Text 4"/>
          <p:cNvSpPr/>
          <p:nvPr/>
        </p:nvSpPr>
        <p:spPr>
          <a:xfrm>
            <a:off x="841248" y="2496312"/>
            <a:ext cx="1463040" cy="256032"/>
          </a:xfrm>
          <a:prstGeom prst="rect">
            <a:avLst/>
          </a:prstGeom>
          <a:noFill/>
          <a:ln/>
        </p:spPr>
        <p:txBody>
          <a:bodyPr wrap="square" lIns="0" tIns="0" rIns="0" bIns="0" rtlCol="0" anchor="ctr">
            <a:normAutofit/>
          </a:bodyPr>
          <a:lstStyle/>
          <a:p>
            <a:pPr algn="ctr" indent="0" marL="0">
              <a:buNone/>
            </a:pPr>
            <a:r>
              <a:rPr lang="en-US" sz="1000" b="1" spc="120" kern="0" dirty="0">
                <a:solidFill>
                  <a:srgbClr val="65E2CB"/>
                </a:solidFill>
                <a:latin typeface="Avenir Next" pitchFamily="34" charset="0"/>
                <a:ea typeface="Avenir Next" pitchFamily="34" charset="-122"/>
                <a:cs typeface="Avenir Next" pitchFamily="34" charset="-120"/>
              </a:rPr>
              <a:t>CAUSAL</a:t>
            </a:r>
            <a:endParaRPr lang="en-US" sz="1000" dirty="0"/>
          </a:p>
        </p:txBody>
      </p:sp>
      <p:sp>
        <p:nvSpPr>
          <p:cNvPr id="7" name="Shape 5"/>
          <p:cNvSpPr/>
          <p:nvPr/>
        </p:nvSpPr>
        <p:spPr>
          <a:xfrm>
            <a:off x="2697480" y="2304288"/>
            <a:ext cx="8851392" cy="713232"/>
          </a:xfrm>
          <a:prstGeom prst="roundRect">
            <a:avLst>
              <a:gd name="adj" fmla="val 17949"/>
            </a:avLst>
          </a:prstGeom>
          <a:solidFill>
            <a:srgbClr val="0D1C21"/>
          </a:solidFill>
          <a:ln w="12700">
            <a:solidFill>
              <a:srgbClr val="294047"/>
            </a:solidFill>
            <a:prstDash val="solid"/>
          </a:ln>
        </p:spPr>
      </p:sp>
      <p:sp>
        <p:nvSpPr>
          <p:cNvPr id="8" name="Text 6"/>
          <p:cNvSpPr/>
          <p:nvPr/>
        </p:nvSpPr>
        <p:spPr>
          <a:xfrm>
            <a:off x="2944368" y="2414016"/>
            <a:ext cx="2697480" cy="228600"/>
          </a:xfrm>
          <a:prstGeom prst="rect">
            <a:avLst/>
          </a:prstGeom>
          <a:noFill/>
          <a:ln/>
        </p:spPr>
        <p:txBody>
          <a:bodyPr wrap="square" lIns="0" tIns="0" rIns="0" bIns="0" rtlCol="0" anchor="ctr">
            <a:normAutofit/>
          </a:bodyPr>
          <a:lstStyle/>
          <a:p>
            <a:pPr indent="0" marL="0">
              <a:buNone/>
            </a:pPr>
            <a:r>
              <a:rPr lang="en-US" sz="1150" b="1" dirty="0">
                <a:solidFill>
                  <a:srgbClr val="65E2CB"/>
                </a:solidFill>
                <a:latin typeface="Avenir Next" pitchFamily="34" charset="0"/>
                <a:ea typeface="Avenir Next" pitchFamily="34" charset="-122"/>
                <a:cs typeface="Avenir Next" pitchFamily="34" charset="-120"/>
              </a:rPr>
              <a:t>Scenario + model inputs</a:t>
            </a:r>
            <a:endParaRPr lang="en-US" sz="1150" dirty="0"/>
          </a:p>
        </p:txBody>
      </p:sp>
      <p:sp>
        <p:nvSpPr>
          <p:cNvPr id="9" name="Text 7"/>
          <p:cNvSpPr/>
          <p:nvPr/>
        </p:nvSpPr>
        <p:spPr>
          <a:xfrm>
            <a:off x="5650992" y="2395728"/>
            <a:ext cx="5577840" cy="438912"/>
          </a:xfrm>
          <a:prstGeom prst="rect">
            <a:avLst/>
          </a:prstGeom>
          <a:noFill/>
          <a:ln/>
        </p:spPr>
        <p:txBody>
          <a:bodyPr wrap="square" lIns="0" tIns="0" rIns="0" bIns="0" rtlCol="0" anchor="ctr">
            <a:normAutofit/>
          </a:bodyPr>
          <a:lstStyle/>
          <a:p>
            <a:pPr indent="0" marL="0">
              <a:buNone/>
            </a:pPr>
            <a:r>
              <a:rPr lang="en-US" sz="1050" dirty="0">
                <a:solidFill>
                  <a:srgbClr val="F4F7F6"/>
                </a:solidFill>
                <a:latin typeface="Avenir Next" pitchFamily="34" charset="0"/>
                <a:ea typeface="Avenir Next" pitchFamily="34" charset="-122"/>
                <a:cs typeface="Avenir Next" pitchFamily="34" charset="-120"/>
              </a:rPr>
              <a:t>Disaster, intensity, duration, climate, preparedness, response, demand, backup, network and repair controls</a:t>
            </a:r>
            <a:endParaRPr lang="en-US" sz="1050" dirty="0"/>
          </a:p>
        </p:txBody>
      </p:sp>
      <p:sp>
        <p:nvSpPr>
          <p:cNvPr id="10" name="Shape 8"/>
          <p:cNvSpPr/>
          <p:nvPr/>
        </p:nvSpPr>
        <p:spPr>
          <a:xfrm>
            <a:off x="658368" y="3273552"/>
            <a:ext cx="1828800" cy="713232"/>
          </a:xfrm>
          <a:prstGeom prst="roundRect">
            <a:avLst>
              <a:gd name="adj" fmla="val 17949"/>
            </a:avLst>
          </a:prstGeom>
          <a:solidFill>
            <a:srgbClr val="12272D"/>
          </a:solidFill>
          <a:ln w="12700">
            <a:solidFill>
              <a:srgbClr val="59D5F6"/>
            </a:solidFill>
            <a:prstDash val="solid"/>
          </a:ln>
        </p:spPr>
      </p:sp>
      <p:sp>
        <p:nvSpPr>
          <p:cNvPr id="11" name="Text 9"/>
          <p:cNvSpPr/>
          <p:nvPr/>
        </p:nvSpPr>
        <p:spPr>
          <a:xfrm>
            <a:off x="841248" y="3465576"/>
            <a:ext cx="1463040" cy="256032"/>
          </a:xfrm>
          <a:prstGeom prst="rect">
            <a:avLst/>
          </a:prstGeom>
          <a:noFill/>
          <a:ln/>
        </p:spPr>
        <p:txBody>
          <a:bodyPr wrap="square" lIns="0" tIns="0" rIns="0" bIns="0" rtlCol="0" anchor="ctr">
            <a:normAutofit/>
          </a:bodyPr>
          <a:lstStyle/>
          <a:p>
            <a:pPr algn="ctr" indent="0" marL="0">
              <a:buNone/>
            </a:pPr>
            <a:r>
              <a:rPr lang="en-US" sz="1000" b="1" spc="120" kern="0" dirty="0">
                <a:solidFill>
                  <a:srgbClr val="59D5F6"/>
                </a:solidFill>
                <a:latin typeface="Avenir Next" pitchFamily="34" charset="0"/>
                <a:ea typeface="Avenir Next" pitchFamily="34" charset="-122"/>
                <a:cs typeface="Avenir Next" pitchFamily="34" charset="-120"/>
              </a:rPr>
              <a:t>STRUCTURAL</a:t>
            </a:r>
            <a:endParaRPr lang="en-US" sz="1000" dirty="0"/>
          </a:p>
        </p:txBody>
      </p:sp>
      <p:sp>
        <p:nvSpPr>
          <p:cNvPr id="12" name="Shape 10"/>
          <p:cNvSpPr/>
          <p:nvPr/>
        </p:nvSpPr>
        <p:spPr>
          <a:xfrm>
            <a:off x="2697480" y="3273552"/>
            <a:ext cx="8851392" cy="713232"/>
          </a:xfrm>
          <a:prstGeom prst="roundRect">
            <a:avLst>
              <a:gd name="adj" fmla="val 17949"/>
            </a:avLst>
          </a:prstGeom>
          <a:solidFill>
            <a:srgbClr val="0D1C21"/>
          </a:solidFill>
          <a:ln w="12700">
            <a:solidFill>
              <a:srgbClr val="294047"/>
            </a:solidFill>
            <a:prstDash val="solid"/>
          </a:ln>
        </p:spPr>
      </p:sp>
      <p:sp>
        <p:nvSpPr>
          <p:cNvPr id="13" name="Text 11"/>
          <p:cNvSpPr/>
          <p:nvPr/>
        </p:nvSpPr>
        <p:spPr>
          <a:xfrm>
            <a:off x="2944368" y="3383280"/>
            <a:ext cx="2697480" cy="228600"/>
          </a:xfrm>
          <a:prstGeom prst="rect">
            <a:avLst/>
          </a:prstGeom>
          <a:noFill/>
          <a:ln/>
        </p:spPr>
        <p:txBody>
          <a:bodyPr wrap="square" lIns="0" tIns="0" rIns="0" bIns="0" rtlCol="0" anchor="ctr">
            <a:normAutofit/>
          </a:bodyPr>
          <a:lstStyle/>
          <a:p>
            <a:pPr indent="0" marL="0">
              <a:buNone/>
            </a:pPr>
            <a:r>
              <a:rPr lang="en-US" sz="1150" b="1" dirty="0">
                <a:solidFill>
                  <a:srgbClr val="59D5F6"/>
                </a:solidFill>
                <a:latin typeface="Avenir Next" pitchFamily="34" charset="0"/>
                <a:ea typeface="Avenir Next" pitchFamily="34" charset="-122"/>
                <a:cs typeface="Avenir Next" pitchFamily="34" charset="-120"/>
              </a:rPr>
              <a:t>Geography + allocation</a:t>
            </a:r>
            <a:endParaRPr lang="en-US" sz="1150" dirty="0"/>
          </a:p>
        </p:txBody>
      </p:sp>
      <p:sp>
        <p:nvSpPr>
          <p:cNvPr id="14" name="Text 12"/>
          <p:cNvSpPr/>
          <p:nvPr/>
        </p:nvSpPr>
        <p:spPr>
          <a:xfrm>
            <a:off x="5650992" y="3364992"/>
            <a:ext cx="5577840" cy="438912"/>
          </a:xfrm>
          <a:prstGeom prst="rect">
            <a:avLst/>
          </a:prstGeom>
          <a:noFill/>
          <a:ln/>
        </p:spPr>
        <p:txBody>
          <a:bodyPr wrap="square" lIns="0" tIns="0" rIns="0" bIns="0" rtlCol="0" anchor="ctr">
            <a:normAutofit/>
          </a:bodyPr>
          <a:lstStyle/>
          <a:p>
            <a:pPr indent="0" marL="0">
              <a:buNone/>
            </a:pPr>
            <a:r>
              <a:rPr lang="en-US" sz="1050" dirty="0">
                <a:solidFill>
                  <a:srgbClr val="F4F7F6"/>
                </a:solidFill>
                <a:latin typeface="Avenir Next" pitchFamily="34" charset="0"/>
                <a:ea typeface="Avenir Next" pitchFamily="34" charset="-122"/>
                <a:cs typeface="Avenir Next" pitchFamily="34" charset="-120"/>
              </a:rPr>
              <a:t>CBS municipality/buurt context; audited NWB/GTFS/lifeline connectivity for Mobility and road-logistics Supply</a:t>
            </a:r>
            <a:endParaRPr lang="en-US" sz="1050" dirty="0"/>
          </a:p>
        </p:txBody>
      </p:sp>
      <p:sp>
        <p:nvSpPr>
          <p:cNvPr id="15" name="Shape 13"/>
          <p:cNvSpPr/>
          <p:nvPr/>
        </p:nvSpPr>
        <p:spPr>
          <a:xfrm>
            <a:off x="658368" y="4242816"/>
            <a:ext cx="1828800" cy="713232"/>
          </a:xfrm>
          <a:prstGeom prst="roundRect">
            <a:avLst>
              <a:gd name="adj" fmla="val 17949"/>
            </a:avLst>
          </a:prstGeom>
          <a:solidFill>
            <a:srgbClr val="12272D"/>
          </a:solidFill>
          <a:ln w="12700">
            <a:solidFill>
              <a:srgbClr val="F4B85D"/>
            </a:solidFill>
            <a:prstDash val="solid"/>
          </a:ln>
        </p:spPr>
      </p:sp>
      <p:sp>
        <p:nvSpPr>
          <p:cNvPr id="16" name="Text 14"/>
          <p:cNvSpPr/>
          <p:nvPr/>
        </p:nvSpPr>
        <p:spPr>
          <a:xfrm>
            <a:off x="841248" y="4434840"/>
            <a:ext cx="1463040" cy="256032"/>
          </a:xfrm>
          <a:prstGeom prst="rect">
            <a:avLst/>
          </a:prstGeom>
          <a:noFill/>
          <a:ln/>
        </p:spPr>
        <p:txBody>
          <a:bodyPr wrap="square" lIns="0" tIns="0" rIns="0" bIns="0" rtlCol="0" anchor="ctr">
            <a:normAutofit/>
          </a:bodyPr>
          <a:lstStyle/>
          <a:p>
            <a:pPr algn="ctr" indent="0" marL="0">
              <a:buNone/>
            </a:pPr>
            <a:r>
              <a:rPr lang="en-US" sz="1000" b="1" spc="120" kern="0" dirty="0">
                <a:solidFill>
                  <a:srgbClr val="F4B85D"/>
                </a:solidFill>
                <a:latin typeface="Avenir Next" pitchFamily="34" charset="0"/>
                <a:ea typeface="Avenir Next" pitchFamily="34" charset="-122"/>
                <a:cs typeface="Avenir Next" pitchFamily="34" charset="-120"/>
              </a:rPr>
              <a:t>CONTEXT</a:t>
            </a:r>
            <a:endParaRPr lang="en-US" sz="1000" dirty="0"/>
          </a:p>
        </p:txBody>
      </p:sp>
      <p:sp>
        <p:nvSpPr>
          <p:cNvPr id="17" name="Shape 15"/>
          <p:cNvSpPr/>
          <p:nvPr/>
        </p:nvSpPr>
        <p:spPr>
          <a:xfrm>
            <a:off x="2697480" y="4242816"/>
            <a:ext cx="8851392" cy="713232"/>
          </a:xfrm>
          <a:prstGeom prst="roundRect">
            <a:avLst>
              <a:gd name="adj" fmla="val 17949"/>
            </a:avLst>
          </a:prstGeom>
          <a:solidFill>
            <a:srgbClr val="0D1C21"/>
          </a:solidFill>
          <a:ln w="12700">
            <a:solidFill>
              <a:srgbClr val="294047"/>
            </a:solidFill>
            <a:prstDash val="solid"/>
          </a:ln>
        </p:spPr>
      </p:sp>
      <p:sp>
        <p:nvSpPr>
          <p:cNvPr id="18" name="Text 16"/>
          <p:cNvSpPr/>
          <p:nvPr/>
        </p:nvSpPr>
        <p:spPr>
          <a:xfrm>
            <a:off x="2944368" y="4352544"/>
            <a:ext cx="2697480" cy="228600"/>
          </a:xfrm>
          <a:prstGeom prst="rect">
            <a:avLst/>
          </a:prstGeom>
          <a:noFill/>
          <a:ln/>
        </p:spPr>
        <p:txBody>
          <a:bodyPr wrap="square" lIns="0" tIns="0" rIns="0" bIns="0" rtlCol="0" anchor="ctr">
            <a:normAutofit/>
          </a:bodyPr>
          <a:lstStyle/>
          <a:p>
            <a:pPr indent="0" marL="0">
              <a:buNone/>
            </a:pPr>
            <a:r>
              <a:rPr lang="en-US" sz="1150" b="1" dirty="0">
                <a:solidFill>
                  <a:srgbClr val="F4B85D"/>
                </a:solidFill>
                <a:latin typeface="Avenir Next" pitchFamily="34" charset="0"/>
                <a:ea typeface="Avenir Next" pitchFamily="34" charset="-122"/>
                <a:cs typeface="Avenir Next" pitchFamily="34" charset="-120"/>
              </a:rPr>
              <a:t>Observed / official overlays</a:t>
            </a:r>
            <a:endParaRPr lang="en-US" sz="1150" dirty="0"/>
          </a:p>
        </p:txBody>
      </p:sp>
      <p:sp>
        <p:nvSpPr>
          <p:cNvPr id="19" name="Text 17"/>
          <p:cNvSpPr/>
          <p:nvPr/>
        </p:nvSpPr>
        <p:spPr>
          <a:xfrm>
            <a:off x="5650992" y="4334256"/>
            <a:ext cx="5577840" cy="438912"/>
          </a:xfrm>
          <a:prstGeom prst="rect">
            <a:avLst/>
          </a:prstGeom>
          <a:noFill/>
          <a:ln/>
        </p:spPr>
        <p:txBody>
          <a:bodyPr wrap="square" lIns="0" tIns="0" rIns="0" bIns="0" rtlCol="0" anchor="ctr">
            <a:normAutofit/>
          </a:bodyPr>
          <a:lstStyle/>
          <a:p>
            <a:pPr indent="0" marL="0">
              <a:buNone/>
            </a:pPr>
            <a:r>
              <a:rPr lang="en-US" sz="1050" dirty="0">
                <a:solidFill>
                  <a:srgbClr val="F4F7F6"/>
                </a:solidFill>
                <a:latin typeface="Avenir Next" pitchFamily="34" charset="0"/>
                <a:ea typeface="Avenir Next" pitchFamily="34" charset="-122"/>
                <a:cs typeface="Avenir Next" pitchFamily="34" charset="-120"/>
              </a:rPr>
              <a:t>KNMI, NDW, RWS, RIVM and utility geometry—timestamped and visible, but non-causal unless explicitly bound</a:t>
            </a:r>
            <a:endParaRPr lang="en-US" sz="1050" dirty="0"/>
          </a:p>
        </p:txBody>
      </p:sp>
      <p:sp>
        <p:nvSpPr>
          <p:cNvPr id="20" name="Shape 18"/>
          <p:cNvSpPr/>
          <p:nvPr/>
        </p:nvSpPr>
        <p:spPr>
          <a:xfrm>
            <a:off x="658368" y="5212080"/>
            <a:ext cx="1828800" cy="713232"/>
          </a:xfrm>
          <a:prstGeom prst="roundRect">
            <a:avLst>
              <a:gd name="adj" fmla="val 17949"/>
            </a:avLst>
          </a:prstGeom>
          <a:solidFill>
            <a:srgbClr val="12272D"/>
          </a:solidFill>
          <a:ln w="12700">
            <a:solidFill>
              <a:srgbClr val="B784F5"/>
            </a:solidFill>
            <a:prstDash val="solid"/>
          </a:ln>
        </p:spPr>
      </p:sp>
      <p:sp>
        <p:nvSpPr>
          <p:cNvPr id="21" name="Text 19"/>
          <p:cNvSpPr/>
          <p:nvPr/>
        </p:nvSpPr>
        <p:spPr>
          <a:xfrm>
            <a:off x="841248" y="5404104"/>
            <a:ext cx="1463040" cy="256032"/>
          </a:xfrm>
          <a:prstGeom prst="rect">
            <a:avLst/>
          </a:prstGeom>
          <a:noFill/>
          <a:ln/>
        </p:spPr>
        <p:txBody>
          <a:bodyPr wrap="square" lIns="0" tIns="0" rIns="0" bIns="0" rtlCol="0" anchor="ctr">
            <a:normAutofit/>
          </a:bodyPr>
          <a:lstStyle/>
          <a:p>
            <a:pPr algn="ctr" indent="0" marL="0">
              <a:buNone/>
            </a:pPr>
            <a:r>
              <a:rPr lang="en-US" sz="1000" b="1" spc="120" kern="0" dirty="0">
                <a:solidFill>
                  <a:srgbClr val="B784F5"/>
                </a:solidFill>
                <a:latin typeface="Avenir Next" pitchFamily="34" charset="0"/>
                <a:ea typeface="Avenir Next" pitchFamily="34" charset="-122"/>
                <a:cs typeface="Avenir Next" pitchFamily="34" charset="-120"/>
              </a:rPr>
              <a:t>UNKNOWN</a:t>
            </a:r>
            <a:endParaRPr lang="en-US" sz="1000" dirty="0"/>
          </a:p>
        </p:txBody>
      </p:sp>
      <p:sp>
        <p:nvSpPr>
          <p:cNvPr id="22" name="Shape 20"/>
          <p:cNvSpPr/>
          <p:nvPr/>
        </p:nvSpPr>
        <p:spPr>
          <a:xfrm>
            <a:off x="2697480" y="5212080"/>
            <a:ext cx="8851392" cy="713232"/>
          </a:xfrm>
          <a:prstGeom prst="roundRect">
            <a:avLst>
              <a:gd name="adj" fmla="val 17949"/>
            </a:avLst>
          </a:prstGeom>
          <a:solidFill>
            <a:srgbClr val="0D1C21"/>
          </a:solidFill>
          <a:ln w="12700">
            <a:solidFill>
              <a:srgbClr val="294047"/>
            </a:solidFill>
            <a:prstDash val="solid"/>
          </a:ln>
        </p:spPr>
      </p:sp>
      <p:sp>
        <p:nvSpPr>
          <p:cNvPr id="23" name="Text 21"/>
          <p:cNvSpPr/>
          <p:nvPr/>
        </p:nvSpPr>
        <p:spPr>
          <a:xfrm>
            <a:off x="2944368" y="5321808"/>
            <a:ext cx="2697480" cy="228600"/>
          </a:xfrm>
          <a:prstGeom prst="rect">
            <a:avLst/>
          </a:prstGeom>
          <a:noFill/>
          <a:ln/>
        </p:spPr>
        <p:txBody>
          <a:bodyPr wrap="square" lIns="0" tIns="0" rIns="0" bIns="0" rtlCol="0" anchor="ctr">
            <a:normAutofit/>
          </a:bodyPr>
          <a:lstStyle/>
          <a:p>
            <a:pPr indent="0" marL="0">
              <a:buNone/>
            </a:pPr>
            <a:r>
              <a:rPr lang="en-US" sz="1150" b="1" dirty="0">
                <a:solidFill>
                  <a:srgbClr val="B784F5"/>
                </a:solidFill>
                <a:latin typeface="Avenir Next" pitchFamily="34" charset="0"/>
                <a:ea typeface="Avenir Next" pitchFamily="34" charset="-122"/>
                <a:cs typeface="Avenir Next" pitchFamily="34" charset="-120"/>
              </a:rPr>
              <a:t>Unsupported or missing evidence</a:t>
            </a:r>
            <a:endParaRPr lang="en-US" sz="1150" dirty="0"/>
          </a:p>
        </p:txBody>
      </p:sp>
      <p:sp>
        <p:nvSpPr>
          <p:cNvPr id="24" name="Text 22"/>
          <p:cNvSpPr/>
          <p:nvPr/>
        </p:nvSpPr>
        <p:spPr>
          <a:xfrm>
            <a:off x="5650992" y="5303520"/>
            <a:ext cx="5577840" cy="438912"/>
          </a:xfrm>
          <a:prstGeom prst="rect">
            <a:avLst/>
          </a:prstGeom>
          <a:noFill/>
          <a:ln/>
        </p:spPr>
        <p:txBody>
          <a:bodyPr wrap="square" lIns="0" tIns="0" rIns="0" bIns="0" rtlCol="0" anchor="ctr">
            <a:normAutofit/>
          </a:bodyPr>
          <a:lstStyle/>
          <a:p>
            <a:pPr indent="0" marL="0">
              <a:buNone/>
            </a:pPr>
            <a:r>
              <a:rPr lang="en-US" sz="1050" dirty="0">
                <a:solidFill>
                  <a:srgbClr val="F4F7F6"/>
                </a:solidFill>
                <a:latin typeface="Avenir Next" pitchFamily="34" charset="0"/>
                <a:ea typeface="Avenir Next" pitchFamily="34" charset="-122"/>
                <a:cs typeface="Avenir Next" pitchFamily="34" charset="-120"/>
              </a:rPr>
              <a:t>NoData remains Unknown. It is never silently converted into zero impact, open roads or operational services.</a:t>
            </a:r>
            <a:endParaRPr lang="en-US" sz="1050" dirty="0"/>
          </a:p>
        </p:txBody>
      </p:sp>
      <p:sp>
        <p:nvSpPr>
          <p:cNvPr id="25" name="Shape 23"/>
          <p:cNvSpPr/>
          <p:nvPr/>
        </p:nvSpPr>
        <p:spPr>
          <a:xfrm>
            <a:off x="6931152" y="1755648"/>
            <a:ext cx="4334256" cy="310896"/>
          </a:xfrm>
          <a:prstGeom prst="roundRect">
            <a:avLst>
              <a:gd name="adj" fmla="val 50000"/>
            </a:avLst>
          </a:prstGeom>
          <a:solidFill>
            <a:srgbClr val="12272D"/>
          </a:solidFill>
          <a:ln w="12700">
            <a:solidFill>
              <a:srgbClr val="294047"/>
            </a:solidFill>
            <a:prstDash val="solid"/>
          </a:ln>
        </p:spPr>
      </p:sp>
      <p:sp>
        <p:nvSpPr>
          <p:cNvPr id="26" name="Shape 24"/>
          <p:cNvSpPr/>
          <p:nvPr/>
        </p:nvSpPr>
        <p:spPr>
          <a:xfrm>
            <a:off x="7059168" y="1869948"/>
            <a:ext cx="82296" cy="82296"/>
          </a:xfrm>
          <a:prstGeom prst="ellipse">
            <a:avLst/>
          </a:prstGeom>
          <a:solidFill>
            <a:srgbClr val="F56F7C"/>
          </a:solidFill>
          <a:ln w="12700">
            <a:solidFill>
              <a:srgbClr val="F56F7C"/>
            </a:solidFill>
            <a:prstDash val="solid"/>
          </a:ln>
        </p:spPr>
      </p:sp>
      <p:sp>
        <p:nvSpPr>
          <p:cNvPr id="27" name="Text 25"/>
          <p:cNvSpPr/>
          <p:nvPr/>
        </p:nvSpPr>
        <p:spPr>
          <a:xfrm>
            <a:off x="7223760" y="1801368"/>
            <a:ext cx="3950208" cy="219456"/>
          </a:xfrm>
          <a:prstGeom prst="rect">
            <a:avLst/>
          </a:prstGeom>
          <a:noFill/>
          <a:ln/>
        </p:spPr>
        <p:txBody>
          <a:bodyPr wrap="square" lIns="0" tIns="0" rIns="0" bIns="0" rtlCol="0" anchor="ctr">
            <a:normAutofit/>
          </a:bodyPr>
          <a:lstStyle/>
          <a:p>
            <a:pPr indent="0" marL="0">
              <a:buNone/>
            </a:pPr>
            <a:r>
              <a:rPr lang="en-US" sz="950" b="1" spc="20" kern="0" dirty="0">
                <a:solidFill>
                  <a:srgbClr val="F4F7F6"/>
                </a:solidFill>
                <a:latin typeface="Avenir Next" pitchFamily="34" charset="0"/>
                <a:ea typeface="Avenir Next" pitchFamily="34" charset="-122"/>
                <a:cs typeface="Avenir Next" pitchFamily="34" charset="-120"/>
              </a:rPr>
              <a:t>affectsSimulation = false by default for operational context</a:t>
            </a:r>
            <a:endParaRPr lang="en-US" sz="950" dirty="0"/>
          </a:p>
        </p:txBody>
      </p:sp>
      <p:sp>
        <p:nvSpPr>
          <p:cNvPr id="28" name="Text 26">
            <a:hlinkClick r:id="rId1" tooltip=""/>
          </p:cNvPr>
          <p:cNvSpPr/>
          <p:nvPr/>
        </p:nvSpPr>
        <p:spPr>
          <a:xfrm>
            <a:off x="594360" y="6446520"/>
            <a:ext cx="8686800" cy="164592"/>
          </a:xfrm>
          <a:prstGeom prst="rect">
            <a:avLst/>
          </a:prstGeom>
          <a:noFill/>
          <a:ln/>
        </p:spPr>
        <p:txBody>
          <a:bodyPr wrap="square" lIns="0" tIns="0" rIns="0" bIns="0" rtlCol="0" anchor="ctr">
            <a:normAutofit/>
          </a:bodyPr>
          <a:lstStyle/>
          <a:p>
            <a:pPr indent="0" marL="0">
              <a:buNone/>
            </a:pPr>
            <a:r>
              <a:rPr lang="en-US" sz="760" u="sng" dirty="0">
                <a:solidFill>
                  <a:srgbClr val="688087"/>
                </a:solidFill>
                <a:latin typeface="Avenir Next" pitchFamily="34" charset="0"/>
                <a:ea typeface="Avenir Next" pitchFamily="34" charset="-122"/>
                <a:cs typeface="Avenir Next" pitchFamily="34" charset="-120"/>
                <a:hlinkClick r:id="rId1" invalidUrl="" action="" tgtFrame="" tooltip="" history="1" highlightClick="0" endSnd="0">
                  <a:extLst>
                    <a:ext uri="{A12FA001-AC4F-418D-AE19-62706E023703}">
                      <ahyp:hlinkClr xmlns:ahyp="http://schemas.microsoft.com/office/drawing/2018/hyperlinkcolor" val="tx"/>
                    </a:ext>
                  </a:extLst>
                </a:hlinkClick>
              </a:rPr>
              <a:t>Model contract: README “Data and provenance” + packages/sim-core</a:t>
            </a:r>
            <a:endParaRPr lang="en-US" sz="760" dirty="0"/>
          </a:p>
        </p:txBody>
      </p:sp>
      <p:sp>
        <p:nvSpPr>
          <p:cNvPr id="30" name="Shape 27"/>
          <p:cNvSpPr/>
          <p:nvPr/>
        </p:nvSpPr>
        <p:spPr>
          <a:xfrm>
            <a:off x="502920" y="292608"/>
            <a:ext cx="310896" cy="310896"/>
          </a:xfrm>
          <a:prstGeom prst="ellipse">
            <a:avLst/>
          </a:prstGeom>
          <a:solidFill>
            <a:srgbClr val="12272D"/>
          </a:solidFill>
          <a:ln w="12700">
            <a:solidFill>
              <a:srgbClr val="65E2CB"/>
            </a:solidFill>
            <a:prstDash val="solid"/>
          </a:ln>
        </p:spPr>
      </p:sp>
      <p:sp>
        <p:nvSpPr>
          <p:cNvPr id="31" name="Shape 28"/>
          <p:cNvSpPr/>
          <p:nvPr/>
        </p:nvSpPr>
        <p:spPr>
          <a:xfrm>
            <a:off x="597103" y="374904"/>
            <a:ext cx="118872" cy="118872"/>
          </a:xfrm>
          <a:prstGeom prst="ellipse">
            <a:avLst/>
          </a:prstGeom>
          <a:solidFill>
            <a:srgbClr val="071216"/>
          </a:solidFill>
          <a:ln w="12700">
            <a:solidFill>
              <a:srgbClr val="65E2CB"/>
            </a:solidFill>
            <a:prstDash val="solid"/>
          </a:ln>
        </p:spPr>
      </p:sp>
      <p:sp>
        <p:nvSpPr>
          <p:cNvPr id="32" name="Shape 29"/>
          <p:cNvSpPr/>
          <p:nvPr/>
        </p:nvSpPr>
        <p:spPr>
          <a:xfrm>
            <a:off x="658368" y="356616"/>
            <a:ext cx="0" cy="182880"/>
          </a:xfrm>
          <a:prstGeom prst="line">
            <a:avLst/>
          </a:prstGeom>
          <a:noFill/>
          <a:ln w="15240">
            <a:solidFill>
              <a:srgbClr val="65E2CB"/>
            </a:solidFill>
            <a:prstDash val="solid"/>
            <a:headEnd type="none"/>
            <a:tailEnd type="none"/>
          </a:ln>
        </p:spPr>
      </p:sp>
      <p:sp>
        <p:nvSpPr>
          <p:cNvPr id="33" name="Text 30"/>
          <p:cNvSpPr/>
          <p:nvPr/>
        </p:nvSpPr>
        <p:spPr>
          <a:xfrm>
            <a:off x="896112" y="310896"/>
            <a:ext cx="2011680" cy="201168"/>
          </a:xfrm>
          <a:prstGeom prst="rect">
            <a:avLst/>
          </a:prstGeom>
          <a:noFill/>
          <a:ln/>
        </p:spPr>
        <p:txBody>
          <a:bodyPr wrap="square" lIns="0" tIns="0" rIns="0" bIns="0" rtlCol="0" anchor="ctr">
            <a:normAutofit/>
          </a:bodyPr>
          <a:lstStyle/>
          <a:p>
            <a:pPr indent="0" marL="0">
              <a:buNone/>
            </a:pPr>
            <a:r>
              <a:rPr lang="en-US" sz="900" b="1" spc="140" kern="0" dirty="0">
                <a:solidFill>
                  <a:srgbClr val="9BB0B5"/>
                </a:solidFill>
                <a:latin typeface="Avenir Next" pitchFamily="34" charset="0"/>
                <a:ea typeface="Avenir Next" pitchFamily="34" charset="-122"/>
                <a:cs typeface="Avenir Next" pitchFamily="34" charset="-120"/>
              </a:rPr>
              <a:t>NL RESILIENCE LAB</a:t>
            </a:r>
            <a:endParaRPr lang="en-US" sz="900" dirty="0"/>
          </a:p>
        </p:txBody>
      </p:sp>
      <p:sp>
        <p:nvSpPr>
          <p:cNvPr id="34" name="Text 31"/>
          <p:cNvSpPr/>
          <p:nvPr/>
        </p:nvSpPr>
        <p:spPr>
          <a:xfrm>
            <a:off x="9052560" y="310896"/>
            <a:ext cx="2514600" cy="201168"/>
          </a:xfrm>
          <a:prstGeom prst="rect">
            <a:avLst/>
          </a:prstGeom>
          <a:noFill/>
          <a:ln/>
        </p:spPr>
        <p:txBody>
          <a:bodyPr wrap="square" lIns="0" tIns="0" rIns="0" bIns="0" rtlCol="0" anchor="ctr">
            <a:normAutofit/>
          </a:bodyPr>
          <a:lstStyle/>
          <a:p>
            <a:pPr algn="r" indent="0" marL="0">
              <a:buNone/>
            </a:pPr>
            <a:r>
              <a:rPr lang="en-US" sz="850" b="1" spc="125" kern="0" dirty="0">
                <a:solidFill>
                  <a:srgbClr val="688087"/>
                </a:solidFill>
                <a:latin typeface="Avenir Next" pitchFamily="34" charset="0"/>
                <a:ea typeface="Avenir Next" pitchFamily="34" charset="-122"/>
                <a:cs typeface="Avenir Next" pitchFamily="34" charset="-120"/>
              </a:rPr>
              <a:t>DATA COUPLING</a:t>
            </a:r>
            <a:endParaRPr lang="en-US" sz="850" dirty="0"/>
          </a:p>
        </p:txBody>
      </p:sp>
      <p:sp>
        <p:nvSpPr>
          <p:cNvPr id="35" name="Shape 32"/>
          <p:cNvSpPr/>
          <p:nvPr/>
        </p:nvSpPr>
        <p:spPr>
          <a:xfrm>
            <a:off x="502920" y="749808"/>
            <a:ext cx="10680192" cy="0"/>
          </a:xfrm>
          <a:prstGeom prst="line">
            <a:avLst/>
          </a:prstGeom>
          <a:noFill/>
          <a:ln w="8890">
            <a:solidFill>
              <a:srgbClr val="294047"/>
            </a:solidFill>
            <a:prstDash val="solid"/>
            <a:headEnd type="none"/>
            <a:tailEnd type="none"/>
          </a:ln>
        </p:spPr>
      </p:sp>
      <p:sp>
        <p:nvSpPr>
          <p:cNvPr id="25" name="Slide Number Placeholder 0"/>
          <p:cNvSpPr>
            <a:spLocks noGrp="1"/>
          </p:cNvSpPr>
          <p:nvPr>
            <p:ph type="sldNum" sz="quarter" idx="4294967295"/>
          </p:nvPr>
        </p:nvSpPr>
        <p:spPr>
          <a:xfrm>
            <a:off x="11119104" y="6446520"/>
            <a:ext cx="475488"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8087"/>
                </a:solidFill>
                <a:latin typeface="Avenir Next"/>
                <a:ea typeface="Avenir Next"/>
                <a:cs typeface="Avenir Next"/>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216"/>
        </a:solidFill>
      </p:bgPr>
    </p:bg>
    <p:spTree>
      <p:nvGrpSpPr>
        <p:cNvPr id="1" name=""/>
        <p:cNvGrpSpPr/>
        <p:nvPr/>
      </p:nvGrpSpPr>
      <p:grpSpPr>
        <a:xfrm>
          <a:off x="0" y="0"/>
          <a:ext cx="0" cy="0"/>
          <a:chOff x="0" y="0"/>
          <a:chExt cx="0" cy="0"/>
        </a:xfrm>
      </p:grpSpPr>
      <p:sp>
        <p:nvSpPr>
          <p:cNvPr id="2" name="Text 0"/>
          <p:cNvSpPr/>
          <p:nvPr/>
        </p:nvSpPr>
        <p:spPr>
          <a:xfrm>
            <a:off x="594360" y="950976"/>
            <a:ext cx="2377440" cy="201168"/>
          </a:xfrm>
          <a:prstGeom prst="rect">
            <a:avLst/>
          </a:prstGeom>
          <a:noFill/>
          <a:ln/>
        </p:spPr>
        <p:txBody>
          <a:bodyPr wrap="square" lIns="0" tIns="0" rIns="0" bIns="0" rtlCol="0" anchor="ctr">
            <a:normAutofit/>
          </a:bodyPr>
          <a:lstStyle/>
          <a:p>
            <a:pPr indent="0" marL="0">
              <a:buNone/>
            </a:pPr>
            <a:r>
              <a:rPr lang="en-US" sz="900" b="1" spc="165" kern="0" dirty="0">
                <a:solidFill>
                  <a:srgbClr val="65E2CB"/>
                </a:solidFill>
                <a:latin typeface="Avenir Next" pitchFamily="34" charset="0"/>
                <a:ea typeface="Avenir Next" pitchFamily="34" charset="-122"/>
                <a:cs typeface="Avenir Next" pitchFamily="34" charset="-120"/>
              </a:rPr>
              <a:t>SOURCES</a:t>
            </a:r>
            <a:endParaRPr lang="en-US" sz="900" dirty="0"/>
          </a:p>
        </p:txBody>
      </p:sp>
      <p:sp>
        <p:nvSpPr>
          <p:cNvPr id="3" name="Text 1"/>
          <p:cNvSpPr/>
          <p:nvPr/>
        </p:nvSpPr>
        <p:spPr>
          <a:xfrm>
            <a:off x="594360" y="1188720"/>
            <a:ext cx="10972800" cy="566928"/>
          </a:xfrm>
          <a:prstGeom prst="rect">
            <a:avLst/>
          </a:prstGeom>
          <a:noFill/>
          <a:ln/>
        </p:spPr>
        <p:txBody>
          <a:bodyPr wrap="square" lIns="0" tIns="0" rIns="0" bIns="0" rtlCol="0" anchor="ctr">
            <a:normAutofit/>
          </a:bodyPr>
          <a:lstStyle/>
          <a:p>
            <a:pPr indent="0" marL="0">
              <a:buNone/>
            </a:pPr>
            <a:r>
              <a:rPr lang="en-US" sz="2900" b="1" dirty="0">
                <a:solidFill>
                  <a:srgbClr val="F4F7F6"/>
                </a:solidFill>
                <a:latin typeface="Avenir Next" pitchFamily="34" charset="0"/>
                <a:ea typeface="Avenir Next" pitchFamily="34" charset="-122"/>
                <a:cs typeface="Avenir Next" pitchFamily="34" charset="-120"/>
              </a:rPr>
              <a:t>A Dutch public-data ecosystem</a:t>
            </a:r>
            <a:endParaRPr lang="en-US" sz="2900" dirty="0"/>
          </a:p>
        </p:txBody>
      </p:sp>
      <p:sp>
        <p:nvSpPr>
          <p:cNvPr id="4" name="Text 2"/>
          <p:cNvSpPr/>
          <p:nvPr/>
        </p:nvSpPr>
        <p:spPr>
          <a:xfrm>
            <a:off x="594360" y="1746504"/>
            <a:ext cx="10789920" cy="393192"/>
          </a:xfrm>
          <a:prstGeom prst="rect">
            <a:avLst/>
          </a:prstGeom>
          <a:noFill/>
          <a:ln/>
        </p:spPr>
        <p:txBody>
          <a:bodyPr wrap="square" lIns="0" tIns="0" rIns="0" bIns="0" rtlCol="0" anchor="ctr">
            <a:normAutofit/>
          </a:bodyPr>
          <a:lstStyle/>
          <a:p>
            <a:pPr indent="0" marL="0">
              <a:buNone/>
            </a:pPr>
            <a:r>
              <a:rPr lang="en-US" sz="1250" dirty="0">
                <a:solidFill>
                  <a:srgbClr val="9BB0B5"/>
                </a:solidFill>
                <a:latin typeface="Avenir Next" pitchFamily="34" charset="0"/>
                <a:ea typeface="Avenir Next" pitchFamily="34" charset="-122"/>
                <a:cs typeface="Avenir Next" pitchFamily="34" charset="-120"/>
              </a:rPr>
              <a:t>Official and public datasets are grouped by role, provenance and valid time.</a:t>
            </a:r>
            <a:endParaRPr lang="en-US" sz="1250" dirty="0"/>
          </a:p>
        </p:txBody>
      </p:sp>
      <p:sp>
        <p:nvSpPr>
          <p:cNvPr id="5" name="Shape 3"/>
          <p:cNvSpPr/>
          <p:nvPr/>
        </p:nvSpPr>
        <p:spPr>
          <a:xfrm>
            <a:off x="530352" y="2267712"/>
            <a:ext cx="1828800" cy="1901952"/>
          </a:xfrm>
          <a:prstGeom prst="roundRect">
            <a:avLst>
              <a:gd name="adj" fmla="val 7000"/>
            </a:avLst>
          </a:prstGeom>
          <a:solidFill>
            <a:srgbClr val="0D1C21"/>
          </a:solidFill>
          <a:ln w="12700">
            <a:solidFill>
              <a:srgbClr val="294047"/>
            </a:solidFill>
            <a:prstDash val="solid"/>
          </a:ln>
        </p:spPr>
      </p:sp>
      <p:sp>
        <p:nvSpPr>
          <p:cNvPr id="6" name="Shape 4"/>
          <p:cNvSpPr/>
          <p:nvPr/>
        </p:nvSpPr>
        <p:spPr>
          <a:xfrm>
            <a:off x="530352" y="2267712"/>
            <a:ext cx="50292" cy="1901952"/>
          </a:xfrm>
          <a:prstGeom prst="rect">
            <a:avLst/>
          </a:prstGeom>
          <a:solidFill>
            <a:srgbClr val="59D5F6"/>
          </a:solidFill>
          <a:ln w="12700">
            <a:solidFill>
              <a:srgbClr val="59D5F6"/>
            </a:solidFill>
            <a:prstDash val="solid"/>
          </a:ln>
        </p:spPr>
      </p:sp>
      <p:sp>
        <p:nvSpPr>
          <p:cNvPr id="7" name="Text 5"/>
          <p:cNvSpPr/>
          <p:nvPr/>
        </p:nvSpPr>
        <p:spPr>
          <a:xfrm>
            <a:off x="768096" y="2441448"/>
            <a:ext cx="1417320" cy="219456"/>
          </a:xfrm>
          <a:prstGeom prst="rect">
            <a:avLst/>
          </a:prstGeom>
          <a:noFill/>
          <a:ln/>
        </p:spPr>
        <p:txBody>
          <a:bodyPr wrap="square" lIns="0" tIns="0" rIns="0" bIns="0" rtlCol="0" anchor="ctr">
            <a:normAutofit/>
          </a:bodyPr>
          <a:lstStyle/>
          <a:p>
            <a:pPr indent="0" marL="0">
              <a:buNone/>
            </a:pPr>
            <a:r>
              <a:rPr lang="en-US" sz="950" b="1" spc="100" kern="0" dirty="0">
                <a:solidFill>
                  <a:srgbClr val="59D5F6"/>
                </a:solidFill>
                <a:latin typeface="Avenir Next" pitchFamily="34" charset="0"/>
                <a:ea typeface="Avenir Next" pitchFamily="34" charset="-122"/>
                <a:cs typeface="Avenir Next" pitchFamily="34" charset="-120"/>
              </a:rPr>
              <a:t>PLACE + PEOPLE</a:t>
            </a:r>
            <a:endParaRPr lang="en-US" sz="950" dirty="0"/>
          </a:p>
        </p:txBody>
      </p:sp>
      <p:sp>
        <p:nvSpPr>
          <p:cNvPr id="8" name="Text 6"/>
          <p:cNvSpPr/>
          <p:nvPr/>
        </p:nvSpPr>
        <p:spPr>
          <a:xfrm>
            <a:off x="768096" y="2752344"/>
            <a:ext cx="1408176" cy="1280160"/>
          </a:xfrm>
          <a:prstGeom prst="rect">
            <a:avLst/>
          </a:prstGeom>
          <a:noFill/>
          <a:ln/>
        </p:spPr>
        <p:txBody>
          <a:bodyPr wrap="square" lIns="0" tIns="0" rIns="0" bIns="0" rtlCol="0" anchor="t">
            <a:normAutofit/>
          </a:bodyPr>
          <a:lstStyle/>
          <a:p>
            <a:pPr indent="0" marL="0">
              <a:buNone/>
            </a:pPr>
            <a:r>
              <a:rPr lang="en-US" sz="1040" dirty="0">
                <a:solidFill>
                  <a:srgbClr val="F4F7F6"/>
                </a:solidFill>
                <a:latin typeface="Avenir Next" pitchFamily="34" charset="0"/>
                <a:ea typeface="Avenir Next" pitchFamily="34" charset="-122"/>
                <a:cs typeface="Avenir Next" pitchFamily="34" charset="-120"/>
              </a:rPr>
              <a:t>CBS / PDOK</a:t>
            </a:r>
            <a:endParaRPr lang="en-US" sz="1040" dirty="0"/>
          </a:p>
          <a:p>
            <a:pPr indent="0" marL="0">
              <a:buNone/>
            </a:pPr>
            <a:r>
              <a:rPr lang="en-US" sz="1040" dirty="0">
                <a:solidFill>
                  <a:srgbClr val="F4F7F6"/>
                </a:solidFill>
                <a:latin typeface="Avenir Next" pitchFamily="34" charset="0"/>
                <a:ea typeface="Avenir Next" pitchFamily="34" charset="-122"/>
                <a:cs typeface="Avenir Next" pitchFamily="34" charset="-120"/>
              </a:rPr>
              <a:t>BAG / BRT TOP10NL</a:t>
            </a:r>
            <a:endParaRPr lang="en-US" sz="1040" dirty="0"/>
          </a:p>
        </p:txBody>
      </p:sp>
      <p:sp>
        <p:nvSpPr>
          <p:cNvPr id="9" name="Shape 7"/>
          <p:cNvSpPr/>
          <p:nvPr/>
        </p:nvSpPr>
        <p:spPr>
          <a:xfrm>
            <a:off x="2505456" y="2267712"/>
            <a:ext cx="1828800" cy="1901952"/>
          </a:xfrm>
          <a:prstGeom prst="roundRect">
            <a:avLst>
              <a:gd name="adj" fmla="val 7000"/>
            </a:avLst>
          </a:prstGeom>
          <a:solidFill>
            <a:srgbClr val="0D1C21"/>
          </a:solidFill>
          <a:ln w="12700">
            <a:solidFill>
              <a:srgbClr val="294047"/>
            </a:solidFill>
            <a:prstDash val="solid"/>
          </a:ln>
        </p:spPr>
      </p:sp>
      <p:sp>
        <p:nvSpPr>
          <p:cNvPr id="10" name="Shape 8"/>
          <p:cNvSpPr/>
          <p:nvPr/>
        </p:nvSpPr>
        <p:spPr>
          <a:xfrm>
            <a:off x="2505456" y="2267712"/>
            <a:ext cx="50292" cy="1901952"/>
          </a:xfrm>
          <a:prstGeom prst="rect">
            <a:avLst/>
          </a:prstGeom>
          <a:solidFill>
            <a:srgbClr val="65E2CB"/>
          </a:solidFill>
          <a:ln w="12700">
            <a:solidFill>
              <a:srgbClr val="65E2CB"/>
            </a:solidFill>
            <a:prstDash val="solid"/>
          </a:ln>
        </p:spPr>
      </p:sp>
      <p:sp>
        <p:nvSpPr>
          <p:cNvPr id="11" name="Text 9"/>
          <p:cNvSpPr/>
          <p:nvPr/>
        </p:nvSpPr>
        <p:spPr>
          <a:xfrm>
            <a:off x="2743200" y="2441448"/>
            <a:ext cx="1417320" cy="219456"/>
          </a:xfrm>
          <a:prstGeom prst="rect">
            <a:avLst/>
          </a:prstGeom>
          <a:noFill/>
          <a:ln/>
        </p:spPr>
        <p:txBody>
          <a:bodyPr wrap="square" lIns="0" tIns="0" rIns="0" bIns="0" rtlCol="0" anchor="ctr">
            <a:normAutofit/>
          </a:bodyPr>
          <a:lstStyle/>
          <a:p>
            <a:pPr indent="0" marL="0">
              <a:buNone/>
            </a:pPr>
            <a:r>
              <a:rPr lang="en-US" sz="950" b="1" spc="100" kern="0" dirty="0">
                <a:solidFill>
                  <a:srgbClr val="65E2CB"/>
                </a:solidFill>
                <a:latin typeface="Avenir Next" pitchFamily="34" charset="0"/>
                <a:ea typeface="Avenir Next" pitchFamily="34" charset="-122"/>
                <a:cs typeface="Avenir Next" pitchFamily="34" charset="-120"/>
              </a:rPr>
              <a:t>MOBILITY</a:t>
            </a:r>
            <a:endParaRPr lang="en-US" sz="950" dirty="0"/>
          </a:p>
        </p:txBody>
      </p:sp>
      <p:sp>
        <p:nvSpPr>
          <p:cNvPr id="12" name="Text 10"/>
          <p:cNvSpPr/>
          <p:nvPr/>
        </p:nvSpPr>
        <p:spPr>
          <a:xfrm>
            <a:off x="2743200" y="2752344"/>
            <a:ext cx="1408176" cy="1280160"/>
          </a:xfrm>
          <a:prstGeom prst="rect">
            <a:avLst/>
          </a:prstGeom>
          <a:noFill/>
          <a:ln/>
        </p:spPr>
        <p:txBody>
          <a:bodyPr wrap="square" lIns="0" tIns="0" rIns="0" bIns="0" rtlCol="0" anchor="t">
            <a:normAutofit/>
          </a:bodyPr>
          <a:lstStyle/>
          <a:p>
            <a:pPr indent="0" marL="0">
              <a:buNone/>
            </a:pPr>
            <a:r>
              <a:rPr lang="en-US" sz="1040" dirty="0">
                <a:solidFill>
                  <a:srgbClr val="F4F7F6"/>
                </a:solidFill>
                <a:latin typeface="Avenir Next" pitchFamily="34" charset="0"/>
                <a:ea typeface="Avenir Next" pitchFamily="34" charset="-122"/>
                <a:cs typeface="Avenir Next" pitchFamily="34" charset="-120"/>
              </a:rPr>
              <a:t>NWB / ProRail</a:t>
            </a:r>
            <a:endParaRPr lang="en-US" sz="1040" dirty="0"/>
          </a:p>
          <a:p>
            <a:pPr indent="0" marL="0">
              <a:buNone/>
            </a:pPr>
            <a:r>
              <a:rPr lang="en-US" sz="1040" dirty="0">
                <a:solidFill>
                  <a:srgbClr val="F4F7F6"/>
                </a:solidFill>
                <a:latin typeface="Avenir Next" pitchFamily="34" charset="0"/>
                <a:ea typeface="Avenir Next" pitchFamily="34" charset="-122"/>
                <a:cs typeface="Avenir Next" pitchFamily="34" charset="-120"/>
              </a:rPr>
              <a:t>OVapi · NDOV / NDW / FIS</a:t>
            </a:r>
            <a:endParaRPr lang="en-US" sz="1040" dirty="0"/>
          </a:p>
        </p:txBody>
      </p:sp>
      <p:sp>
        <p:nvSpPr>
          <p:cNvPr id="13" name="Shape 11"/>
          <p:cNvSpPr/>
          <p:nvPr/>
        </p:nvSpPr>
        <p:spPr>
          <a:xfrm>
            <a:off x="4480560" y="2267712"/>
            <a:ext cx="2377440" cy="1901952"/>
          </a:xfrm>
          <a:prstGeom prst="roundRect">
            <a:avLst>
              <a:gd name="adj" fmla="val 6731"/>
            </a:avLst>
          </a:prstGeom>
          <a:solidFill>
            <a:srgbClr val="0D1C21"/>
          </a:solidFill>
          <a:ln w="12700">
            <a:solidFill>
              <a:srgbClr val="294047"/>
            </a:solidFill>
            <a:prstDash val="solid"/>
          </a:ln>
        </p:spPr>
      </p:sp>
      <p:sp>
        <p:nvSpPr>
          <p:cNvPr id="14" name="Shape 12"/>
          <p:cNvSpPr/>
          <p:nvPr/>
        </p:nvSpPr>
        <p:spPr>
          <a:xfrm>
            <a:off x="4480560" y="2267712"/>
            <a:ext cx="50292" cy="1901952"/>
          </a:xfrm>
          <a:prstGeom prst="rect">
            <a:avLst/>
          </a:prstGeom>
          <a:solidFill>
            <a:srgbClr val="B784F5"/>
          </a:solidFill>
          <a:ln w="12700">
            <a:solidFill>
              <a:srgbClr val="B784F5"/>
            </a:solidFill>
            <a:prstDash val="solid"/>
          </a:ln>
        </p:spPr>
      </p:sp>
      <p:sp>
        <p:nvSpPr>
          <p:cNvPr id="15" name="Text 13"/>
          <p:cNvSpPr/>
          <p:nvPr/>
        </p:nvSpPr>
        <p:spPr>
          <a:xfrm>
            <a:off x="4718304" y="2441448"/>
            <a:ext cx="1965960" cy="219456"/>
          </a:xfrm>
          <a:prstGeom prst="rect">
            <a:avLst/>
          </a:prstGeom>
          <a:noFill/>
          <a:ln/>
        </p:spPr>
        <p:txBody>
          <a:bodyPr wrap="square" lIns="0" tIns="0" rIns="0" bIns="0" rtlCol="0" anchor="ctr">
            <a:normAutofit/>
          </a:bodyPr>
          <a:lstStyle/>
          <a:p>
            <a:pPr indent="0" marL="0">
              <a:buNone/>
            </a:pPr>
            <a:r>
              <a:rPr lang="en-US" sz="950" b="1" spc="100" kern="0" dirty="0">
                <a:solidFill>
                  <a:srgbClr val="B784F5"/>
                </a:solidFill>
                <a:latin typeface="Avenir Next" pitchFamily="34" charset="0"/>
                <a:ea typeface="Avenir Next" pitchFamily="34" charset="-122"/>
                <a:cs typeface="Avenir Next" pitchFamily="34" charset="-120"/>
              </a:rPr>
              <a:t>WEATHER + HAZARDS</a:t>
            </a:r>
            <a:endParaRPr lang="en-US" sz="950" dirty="0"/>
          </a:p>
        </p:txBody>
      </p:sp>
      <p:sp>
        <p:nvSpPr>
          <p:cNvPr id="16" name="Text 14"/>
          <p:cNvSpPr/>
          <p:nvPr/>
        </p:nvSpPr>
        <p:spPr>
          <a:xfrm>
            <a:off x="4718304" y="2752344"/>
            <a:ext cx="1956816" cy="1280160"/>
          </a:xfrm>
          <a:prstGeom prst="rect">
            <a:avLst/>
          </a:prstGeom>
          <a:noFill/>
          <a:ln/>
        </p:spPr>
        <p:txBody>
          <a:bodyPr wrap="square" lIns="0" tIns="0" rIns="0" bIns="0" rtlCol="0" anchor="t">
            <a:normAutofit/>
          </a:bodyPr>
          <a:lstStyle/>
          <a:p>
            <a:pPr indent="0" marL="0">
              <a:buNone/>
            </a:pPr>
            <a:r>
              <a:rPr lang="en-US" sz="1040" dirty="0">
                <a:solidFill>
                  <a:srgbClr val="F4F7F6"/>
                </a:solidFill>
                <a:latin typeface="Avenir Next" pitchFamily="34" charset="0"/>
                <a:ea typeface="Avenir Next" pitchFamily="34" charset="-122"/>
                <a:cs typeface="Avenir Next" pitchFamily="34" charset="-120"/>
              </a:rPr>
              <a:t>KNMI / RWS Waterinfo / LIWO</a:t>
            </a:r>
            <a:endParaRPr lang="en-US" sz="1040" dirty="0"/>
          </a:p>
          <a:p>
            <a:pPr indent="0" marL="0">
              <a:buNone/>
            </a:pPr>
            <a:r>
              <a:rPr lang="en-US" sz="1040" dirty="0">
                <a:solidFill>
                  <a:srgbClr val="F4F7F6"/>
                </a:solidFill>
                <a:latin typeface="Avenir Next" pitchFamily="34" charset="0"/>
                <a:ea typeface="Avenir Next" pitchFamily="34" charset="-122"/>
                <a:cs typeface="Avenir Next" pitchFamily="34" charset="-120"/>
              </a:rPr>
              <a:t>AHN4 / RIVM / Risicokaart / RVO</a:t>
            </a:r>
            <a:endParaRPr lang="en-US" sz="1040" dirty="0"/>
          </a:p>
        </p:txBody>
      </p:sp>
      <p:sp>
        <p:nvSpPr>
          <p:cNvPr id="17" name="Shape 15"/>
          <p:cNvSpPr/>
          <p:nvPr/>
        </p:nvSpPr>
        <p:spPr>
          <a:xfrm>
            <a:off x="7004304" y="2267712"/>
            <a:ext cx="2468880" cy="1901952"/>
          </a:xfrm>
          <a:prstGeom prst="roundRect">
            <a:avLst>
              <a:gd name="adj" fmla="val 6731"/>
            </a:avLst>
          </a:prstGeom>
          <a:solidFill>
            <a:srgbClr val="0D1C21"/>
          </a:solidFill>
          <a:ln w="12700">
            <a:solidFill>
              <a:srgbClr val="294047"/>
            </a:solidFill>
            <a:prstDash val="solid"/>
          </a:ln>
        </p:spPr>
      </p:sp>
      <p:sp>
        <p:nvSpPr>
          <p:cNvPr id="18" name="Shape 16"/>
          <p:cNvSpPr/>
          <p:nvPr/>
        </p:nvSpPr>
        <p:spPr>
          <a:xfrm>
            <a:off x="7004304" y="2267712"/>
            <a:ext cx="50292" cy="1901952"/>
          </a:xfrm>
          <a:prstGeom prst="rect">
            <a:avLst/>
          </a:prstGeom>
          <a:solidFill>
            <a:srgbClr val="F4B85D"/>
          </a:solidFill>
          <a:ln w="12700">
            <a:solidFill>
              <a:srgbClr val="F4B85D"/>
            </a:solidFill>
            <a:prstDash val="solid"/>
          </a:ln>
        </p:spPr>
      </p:sp>
      <p:sp>
        <p:nvSpPr>
          <p:cNvPr id="19" name="Text 17"/>
          <p:cNvSpPr/>
          <p:nvPr/>
        </p:nvSpPr>
        <p:spPr>
          <a:xfrm>
            <a:off x="7242048" y="2441448"/>
            <a:ext cx="2057400" cy="219456"/>
          </a:xfrm>
          <a:prstGeom prst="rect">
            <a:avLst/>
          </a:prstGeom>
          <a:noFill/>
          <a:ln/>
        </p:spPr>
        <p:txBody>
          <a:bodyPr wrap="square" lIns="0" tIns="0" rIns="0" bIns="0" rtlCol="0" anchor="ctr">
            <a:normAutofit/>
          </a:bodyPr>
          <a:lstStyle/>
          <a:p>
            <a:pPr indent="0" marL="0">
              <a:buNone/>
            </a:pPr>
            <a:r>
              <a:rPr lang="en-US" sz="950" b="1" spc="100" kern="0" dirty="0">
                <a:solidFill>
                  <a:srgbClr val="F4B85D"/>
                </a:solidFill>
                <a:latin typeface="Avenir Next" pitchFamily="34" charset="0"/>
                <a:ea typeface="Avenir Next" pitchFamily="34" charset="-122"/>
                <a:cs typeface="Avenir Next" pitchFamily="34" charset="-120"/>
              </a:rPr>
              <a:t>ESSENTIAL SERVICES</a:t>
            </a:r>
            <a:endParaRPr lang="en-US" sz="950" dirty="0"/>
          </a:p>
        </p:txBody>
      </p:sp>
      <p:sp>
        <p:nvSpPr>
          <p:cNvPr id="20" name="Text 18"/>
          <p:cNvSpPr/>
          <p:nvPr/>
        </p:nvSpPr>
        <p:spPr>
          <a:xfrm>
            <a:off x="7242048" y="2752344"/>
            <a:ext cx="2048256" cy="1280160"/>
          </a:xfrm>
          <a:prstGeom prst="rect">
            <a:avLst/>
          </a:prstGeom>
          <a:noFill/>
          <a:ln/>
        </p:spPr>
        <p:txBody>
          <a:bodyPr wrap="square" lIns="0" tIns="0" rIns="0" bIns="0" rtlCol="0" anchor="t">
            <a:normAutofit/>
          </a:bodyPr>
          <a:lstStyle/>
          <a:p>
            <a:pPr indent="0" marL="0">
              <a:buNone/>
            </a:pPr>
            <a:r>
              <a:rPr lang="en-US" sz="1040" dirty="0">
                <a:solidFill>
                  <a:srgbClr val="F4F7F6"/>
                </a:solidFill>
                <a:latin typeface="Avenir Next" pitchFamily="34" charset="0"/>
                <a:ea typeface="Avenir Next" pitchFamily="34" charset="-122"/>
                <a:cs typeface="Avenir Next" pitchFamily="34" charset="-120"/>
              </a:rPr>
              <a:t>Liander / Stedin / Netbeheer NL</a:t>
            </a:r>
            <a:endParaRPr lang="en-US" sz="1040" dirty="0"/>
          </a:p>
          <a:p>
            <a:pPr indent="0" marL="0">
              <a:buNone/>
            </a:pPr>
            <a:r>
              <a:rPr lang="en-US" sz="1040" dirty="0">
                <a:solidFill>
                  <a:srgbClr val="F4F7F6"/>
                </a:solidFill>
                <a:latin typeface="Avenir Next" pitchFamily="34" charset="0"/>
                <a:ea typeface="Avenir Next" pitchFamily="34" charset="-122"/>
                <a:cs typeface="Avenir Next" pitchFamily="34" charset="-120"/>
              </a:rPr>
              <a:t>HWH · DAMO · GWSW / RDI / ENTSOG</a:t>
            </a:r>
            <a:endParaRPr lang="en-US" sz="1040" dirty="0"/>
          </a:p>
        </p:txBody>
      </p:sp>
      <p:sp>
        <p:nvSpPr>
          <p:cNvPr id="21" name="Shape 19"/>
          <p:cNvSpPr/>
          <p:nvPr/>
        </p:nvSpPr>
        <p:spPr>
          <a:xfrm>
            <a:off x="9619488" y="2267712"/>
            <a:ext cx="1828800" cy="1901952"/>
          </a:xfrm>
          <a:prstGeom prst="roundRect">
            <a:avLst>
              <a:gd name="adj" fmla="val 7000"/>
            </a:avLst>
          </a:prstGeom>
          <a:solidFill>
            <a:srgbClr val="0D1C21"/>
          </a:solidFill>
          <a:ln w="12700">
            <a:solidFill>
              <a:srgbClr val="294047"/>
            </a:solidFill>
            <a:prstDash val="solid"/>
          </a:ln>
        </p:spPr>
      </p:sp>
      <p:sp>
        <p:nvSpPr>
          <p:cNvPr id="22" name="Shape 20"/>
          <p:cNvSpPr/>
          <p:nvPr/>
        </p:nvSpPr>
        <p:spPr>
          <a:xfrm>
            <a:off x="9619488" y="2267712"/>
            <a:ext cx="50292" cy="1901952"/>
          </a:xfrm>
          <a:prstGeom prst="rect">
            <a:avLst/>
          </a:prstGeom>
          <a:solidFill>
            <a:srgbClr val="F56F7C"/>
          </a:solidFill>
          <a:ln w="12700">
            <a:solidFill>
              <a:srgbClr val="F56F7C"/>
            </a:solidFill>
            <a:prstDash val="solid"/>
          </a:ln>
        </p:spPr>
      </p:sp>
      <p:sp>
        <p:nvSpPr>
          <p:cNvPr id="23" name="Text 21"/>
          <p:cNvSpPr/>
          <p:nvPr/>
        </p:nvSpPr>
        <p:spPr>
          <a:xfrm>
            <a:off x="9857232" y="2441448"/>
            <a:ext cx="1417320" cy="219456"/>
          </a:xfrm>
          <a:prstGeom prst="rect">
            <a:avLst/>
          </a:prstGeom>
          <a:noFill/>
          <a:ln/>
        </p:spPr>
        <p:txBody>
          <a:bodyPr wrap="square" lIns="0" tIns="0" rIns="0" bIns="0" rtlCol="0" anchor="ctr">
            <a:normAutofit/>
          </a:bodyPr>
          <a:lstStyle/>
          <a:p>
            <a:pPr indent="0" marL="0">
              <a:buNone/>
            </a:pPr>
            <a:r>
              <a:rPr lang="en-US" sz="950" b="1" spc="100" kern="0" dirty="0">
                <a:solidFill>
                  <a:srgbClr val="F56F7C"/>
                </a:solidFill>
                <a:latin typeface="Avenir Next" pitchFamily="34" charset="0"/>
                <a:ea typeface="Avenir Next" pitchFamily="34" charset="-122"/>
                <a:cs typeface="Avenir Next" pitchFamily="34" charset="-120"/>
              </a:rPr>
              <a:t>FACILITIES</a:t>
            </a:r>
            <a:endParaRPr lang="en-US" sz="950" dirty="0"/>
          </a:p>
        </p:txBody>
      </p:sp>
      <p:sp>
        <p:nvSpPr>
          <p:cNvPr id="24" name="Text 22"/>
          <p:cNvSpPr/>
          <p:nvPr/>
        </p:nvSpPr>
        <p:spPr>
          <a:xfrm>
            <a:off x="9857232" y="2752344"/>
            <a:ext cx="1408176" cy="1280160"/>
          </a:xfrm>
          <a:prstGeom prst="rect">
            <a:avLst/>
          </a:prstGeom>
          <a:noFill/>
          <a:ln/>
        </p:spPr>
        <p:txBody>
          <a:bodyPr wrap="square" lIns="0" tIns="0" rIns="0" bIns="0" rtlCol="0" anchor="t">
            <a:normAutofit/>
          </a:bodyPr>
          <a:lstStyle/>
          <a:p>
            <a:pPr indent="0" marL="0">
              <a:buNone/>
            </a:pPr>
            <a:r>
              <a:rPr lang="en-US" sz="1040" dirty="0">
                <a:solidFill>
                  <a:srgbClr val="F4F7F6"/>
                </a:solidFill>
                <a:latin typeface="Avenir Next" pitchFamily="34" charset="0"/>
                <a:ea typeface="Avenir Next" pitchFamily="34" charset="-122"/>
                <a:cs typeface="Avenir Next" pitchFamily="34" charset="-120"/>
              </a:rPr>
              <a:t>KVK public services</a:t>
            </a:r>
            <a:endParaRPr lang="en-US" sz="1040" dirty="0"/>
          </a:p>
          <a:p>
            <a:pPr indent="0" marL="0">
              <a:buNone/>
            </a:pPr>
            <a:r>
              <a:rPr lang="en-US" sz="1040" dirty="0">
                <a:solidFill>
                  <a:srgbClr val="F4F7F6"/>
                </a:solidFill>
                <a:latin typeface="Avenir Next" pitchFamily="34" charset="0"/>
                <a:ea typeface="Avenir Next" pitchFamily="34" charset="-122"/>
                <a:cs typeface="Avenir Next" pitchFamily="34" charset="-120"/>
              </a:rPr>
              <a:t>RIVM acute care / DUO education</a:t>
            </a:r>
            <a:endParaRPr lang="en-US" sz="1040" dirty="0"/>
          </a:p>
        </p:txBody>
      </p:sp>
      <p:sp>
        <p:nvSpPr>
          <p:cNvPr id="25" name="Shape 23"/>
          <p:cNvSpPr/>
          <p:nvPr/>
        </p:nvSpPr>
        <p:spPr>
          <a:xfrm>
            <a:off x="658368" y="4645152"/>
            <a:ext cx="2523744" cy="941832"/>
          </a:xfrm>
          <a:prstGeom prst="roundRect">
            <a:avLst>
              <a:gd name="adj" fmla="val 13592"/>
            </a:avLst>
          </a:prstGeom>
          <a:solidFill>
            <a:srgbClr val="12272D"/>
          </a:solidFill>
          <a:ln w="12700">
            <a:solidFill>
              <a:srgbClr val="294047"/>
            </a:solidFill>
            <a:prstDash val="solid"/>
          </a:ln>
        </p:spPr>
      </p:sp>
      <p:sp>
        <p:nvSpPr>
          <p:cNvPr id="26" name="Text 24"/>
          <p:cNvSpPr/>
          <p:nvPr/>
        </p:nvSpPr>
        <p:spPr>
          <a:xfrm>
            <a:off x="859536" y="4800600"/>
            <a:ext cx="1143000" cy="347472"/>
          </a:xfrm>
          <a:prstGeom prst="rect">
            <a:avLst/>
          </a:prstGeom>
          <a:noFill/>
          <a:ln/>
        </p:spPr>
        <p:txBody>
          <a:bodyPr wrap="square" lIns="0" tIns="0" rIns="0" bIns="0" rtlCol="0" anchor="ctr">
            <a:normAutofit/>
          </a:bodyPr>
          <a:lstStyle/>
          <a:p>
            <a:pPr indent="0" marL="0">
              <a:buNone/>
            </a:pPr>
            <a:r>
              <a:rPr lang="en-US" sz="2000" b="1" dirty="0">
                <a:solidFill>
                  <a:srgbClr val="65E2CB"/>
                </a:solidFill>
                <a:latin typeface="Avenir Next" pitchFamily="34" charset="0"/>
                <a:ea typeface="Avenir Next" pitchFamily="34" charset="-122"/>
                <a:cs typeface="Avenir Next" pitchFamily="34" charset="-120"/>
              </a:rPr>
              <a:t>63,567</a:t>
            </a:r>
            <a:endParaRPr lang="en-US" sz="2000" dirty="0"/>
          </a:p>
        </p:txBody>
      </p:sp>
      <p:sp>
        <p:nvSpPr>
          <p:cNvPr id="27" name="Text 25"/>
          <p:cNvSpPr/>
          <p:nvPr/>
        </p:nvSpPr>
        <p:spPr>
          <a:xfrm>
            <a:off x="1984248" y="4855464"/>
            <a:ext cx="960120" cy="237744"/>
          </a:xfrm>
          <a:prstGeom prst="rect">
            <a:avLst/>
          </a:prstGeom>
          <a:noFill/>
          <a:ln/>
        </p:spPr>
        <p:txBody>
          <a:bodyPr wrap="square" lIns="0" tIns="0" rIns="0" bIns="0" rtlCol="0" anchor="ctr">
            <a:normAutofit/>
          </a:bodyPr>
          <a:lstStyle/>
          <a:p>
            <a:pPr algn="r" indent="0" marL="0">
              <a:buNone/>
            </a:pPr>
            <a:r>
              <a:rPr lang="en-US" sz="790" b="1" spc="60" kern="0" dirty="0">
                <a:solidFill>
                  <a:srgbClr val="9BB0B5"/>
                </a:solidFill>
                <a:latin typeface="Avenir Next" pitchFamily="34" charset="0"/>
                <a:ea typeface="Avenir Next" pitchFamily="34" charset="-122"/>
                <a:cs typeface="Avenir Next" pitchFamily="34" charset="-120"/>
              </a:rPr>
              <a:t>WATER ASSETS</a:t>
            </a:r>
            <a:endParaRPr lang="en-US" sz="790" dirty="0"/>
          </a:p>
        </p:txBody>
      </p:sp>
      <p:sp>
        <p:nvSpPr>
          <p:cNvPr id="28" name="Shape 26"/>
          <p:cNvSpPr/>
          <p:nvPr/>
        </p:nvSpPr>
        <p:spPr>
          <a:xfrm>
            <a:off x="3447288" y="4645152"/>
            <a:ext cx="2523744" cy="941832"/>
          </a:xfrm>
          <a:prstGeom prst="roundRect">
            <a:avLst>
              <a:gd name="adj" fmla="val 13592"/>
            </a:avLst>
          </a:prstGeom>
          <a:solidFill>
            <a:srgbClr val="12272D"/>
          </a:solidFill>
          <a:ln w="12700">
            <a:solidFill>
              <a:srgbClr val="294047"/>
            </a:solidFill>
            <a:prstDash val="solid"/>
          </a:ln>
        </p:spPr>
      </p:sp>
      <p:sp>
        <p:nvSpPr>
          <p:cNvPr id="29" name="Text 27"/>
          <p:cNvSpPr/>
          <p:nvPr/>
        </p:nvSpPr>
        <p:spPr>
          <a:xfrm>
            <a:off x="3648456" y="4800600"/>
            <a:ext cx="1143000" cy="347472"/>
          </a:xfrm>
          <a:prstGeom prst="rect">
            <a:avLst/>
          </a:prstGeom>
          <a:noFill/>
          <a:ln/>
        </p:spPr>
        <p:txBody>
          <a:bodyPr wrap="square" lIns="0" tIns="0" rIns="0" bIns="0" rtlCol="0" anchor="ctr">
            <a:normAutofit/>
          </a:bodyPr>
          <a:lstStyle/>
          <a:p>
            <a:pPr indent="0" marL="0">
              <a:buNone/>
            </a:pPr>
            <a:r>
              <a:rPr lang="en-US" sz="2000" b="1" dirty="0">
                <a:solidFill>
                  <a:srgbClr val="65E2CB"/>
                </a:solidFill>
                <a:latin typeface="Avenir Next" pitchFamily="34" charset="0"/>
                <a:ea typeface="Avenir Next" pitchFamily="34" charset="-122"/>
                <a:cs typeface="Avenir Next" pitchFamily="34" charset="-120"/>
              </a:rPr>
              <a:t>32,270</a:t>
            </a:r>
            <a:endParaRPr lang="en-US" sz="2000" dirty="0"/>
          </a:p>
        </p:txBody>
      </p:sp>
      <p:sp>
        <p:nvSpPr>
          <p:cNvPr id="30" name="Text 28"/>
          <p:cNvSpPr/>
          <p:nvPr/>
        </p:nvSpPr>
        <p:spPr>
          <a:xfrm>
            <a:off x="4773168" y="4855464"/>
            <a:ext cx="960120" cy="237744"/>
          </a:xfrm>
          <a:prstGeom prst="rect">
            <a:avLst/>
          </a:prstGeom>
          <a:noFill/>
          <a:ln/>
        </p:spPr>
        <p:txBody>
          <a:bodyPr wrap="square" lIns="0" tIns="0" rIns="0" bIns="0" rtlCol="0" anchor="ctr">
            <a:normAutofit/>
          </a:bodyPr>
          <a:lstStyle/>
          <a:p>
            <a:pPr algn="r" indent="0" marL="0">
              <a:buNone/>
            </a:pPr>
            <a:r>
              <a:rPr lang="en-US" sz="790" b="1" spc="60" kern="0" dirty="0">
                <a:solidFill>
                  <a:srgbClr val="9BB0B5"/>
                </a:solidFill>
                <a:latin typeface="Avenir Next" pitchFamily="34" charset="0"/>
                <a:ea typeface="Avenir Next" pitchFamily="34" charset="-122"/>
                <a:cs typeface="Avenir Next" pitchFamily="34" charset="-120"/>
              </a:rPr>
              <a:t>ANTENNA SITES</a:t>
            </a:r>
            <a:endParaRPr lang="en-US" sz="790" dirty="0"/>
          </a:p>
        </p:txBody>
      </p:sp>
      <p:sp>
        <p:nvSpPr>
          <p:cNvPr id="31" name="Shape 29"/>
          <p:cNvSpPr/>
          <p:nvPr/>
        </p:nvSpPr>
        <p:spPr>
          <a:xfrm>
            <a:off x="6236208" y="4645152"/>
            <a:ext cx="2523744" cy="941832"/>
          </a:xfrm>
          <a:prstGeom prst="roundRect">
            <a:avLst>
              <a:gd name="adj" fmla="val 13592"/>
            </a:avLst>
          </a:prstGeom>
          <a:solidFill>
            <a:srgbClr val="12272D"/>
          </a:solidFill>
          <a:ln w="12700">
            <a:solidFill>
              <a:srgbClr val="294047"/>
            </a:solidFill>
            <a:prstDash val="solid"/>
          </a:ln>
        </p:spPr>
      </p:sp>
      <p:sp>
        <p:nvSpPr>
          <p:cNvPr id="32" name="Text 30"/>
          <p:cNvSpPr/>
          <p:nvPr/>
        </p:nvSpPr>
        <p:spPr>
          <a:xfrm>
            <a:off x="6437376" y="4800600"/>
            <a:ext cx="1143000" cy="347472"/>
          </a:xfrm>
          <a:prstGeom prst="rect">
            <a:avLst/>
          </a:prstGeom>
          <a:noFill/>
          <a:ln/>
        </p:spPr>
        <p:txBody>
          <a:bodyPr wrap="square" lIns="0" tIns="0" rIns="0" bIns="0" rtlCol="0" anchor="ctr">
            <a:normAutofit/>
          </a:bodyPr>
          <a:lstStyle/>
          <a:p>
            <a:pPr indent="0" marL="0">
              <a:buNone/>
            </a:pPr>
            <a:r>
              <a:rPr lang="en-US" sz="2000" b="1" dirty="0">
                <a:solidFill>
                  <a:srgbClr val="65E2CB"/>
                </a:solidFill>
                <a:latin typeface="Avenir Next" pitchFamily="34" charset="0"/>
                <a:ea typeface="Avenir Next" pitchFamily="34" charset="-122"/>
                <a:cs typeface="Avenir Next" pitchFamily="34" charset="-120"/>
              </a:rPr>
              <a:t>12,883</a:t>
            </a:r>
            <a:endParaRPr lang="en-US" sz="2000" dirty="0"/>
          </a:p>
        </p:txBody>
      </p:sp>
      <p:sp>
        <p:nvSpPr>
          <p:cNvPr id="33" name="Text 31"/>
          <p:cNvSpPr/>
          <p:nvPr/>
        </p:nvSpPr>
        <p:spPr>
          <a:xfrm>
            <a:off x="7562088" y="4855464"/>
            <a:ext cx="960120" cy="237744"/>
          </a:xfrm>
          <a:prstGeom prst="rect">
            <a:avLst/>
          </a:prstGeom>
          <a:noFill/>
          <a:ln/>
        </p:spPr>
        <p:txBody>
          <a:bodyPr wrap="square" lIns="0" tIns="0" rIns="0" bIns="0" rtlCol="0" anchor="ctr">
            <a:normAutofit/>
          </a:bodyPr>
          <a:lstStyle/>
          <a:p>
            <a:pPr algn="r" indent="0" marL="0">
              <a:buNone/>
            </a:pPr>
            <a:r>
              <a:rPr lang="en-US" sz="790" b="1" spc="60" kern="0" dirty="0">
                <a:solidFill>
                  <a:srgbClr val="9BB0B5"/>
                </a:solidFill>
                <a:latin typeface="Avenir Next" pitchFamily="34" charset="0"/>
                <a:ea typeface="Avenir Next" pitchFamily="34" charset="-122"/>
                <a:cs typeface="Avenir Next" pitchFamily="34" charset="-120"/>
              </a:rPr>
              <a:t>EDUCATION LOCATIONS</a:t>
            </a:r>
            <a:endParaRPr lang="en-US" sz="790" dirty="0"/>
          </a:p>
        </p:txBody>
      </p:sp>
      <p:sp>
        <p:nvSpPr>
          <p:cNvPr id="34" name="Shape 32"/>
          <p:cNvSpPr/>
          <p:nvPr/>
        </p:nvSpPr>
        <p:spPr>
          <a:xfrm>
            <a:off x="9025128" y="4645152"/>
            <a:ext cx="2523744" cy="941832"/>
          </a:xfrm>
          <a:prstGeom prst="roundRect">
            <a:avLst>
              <a:gd name="adj" fmla="val 13592"/>
            </a:avLst>
          </a:prstGeom>
          <a:solidFill>
            <a:srgbClr val="12272D"/>
          </a:solidFill>
          <a:ln w="12700">
            <a:solidFill>
              <a:srgbClr val="294047"/>
            </a:solidFill>
            <a:prstDash val="solid"/>
          </a:ln>
        </p:spPr>
      </p:sp>
      <p:sp>
        <p:nvSpPr>
          <p:cNvPr id="35" name="Text 33"/>
          <p:cNvSpPr/>
          <p:nvPr/>
        </p:nvSpPr>
        <p:spPr>
          <a:xfrm>
            <a:off x="9226296" y="4800600"/>
            <a:ext cx="1143000" cy="347472"/>
          </a:xfrm>
          <a:prstGeom prst="rect">
            <a:avLst/>
          </a:prstGeom>
          <a:noFill/>
          <a:ln/>
        </p:spPr>
        <p:txBody>
          <a:bodyPr wrap="square" lIns="0" tIns="0" rIns="0" bIns="0" rtlCol="0" anchor="ctr">
            <a:normAutofit/>
          </a:bodyPr>
          <a:lstStyle/>
          <a:p>
            <a:pPr indent="0" marL="0">
              <a:buNone/>
            </a:pPr>
            <a:r>
              <a:rPr lang="en-US" sz="2000" b="1" dirty="0">
                <a:solidFill>
                  <a:srgbClr val="65E2CB"/>
                </a:solidFill>
                <a:latin typeface="Avenir Next" pitchFamily="34" charset="0"/>
                <a:ea typeface="Avenir Next" pitchFamily="34" charset="-122"/>
                <a:cs typeface="Avenir Next" pitchFamily="34" charset="-120"/>
              </a:rPr>
              <a:t>79</a:t>
            </a:r>
            <a:endParaRPr lang="en-US" sz="2000" dirty="0"/>
          </a:p>
        </p:txBody>
      </p:sp>
      <p:sp>
        <p:nvSpPr>
          <p:cNvPr id="36" name="Text 34"/>
          <p:cNvSpPr/>
          <p:nvPr/>
        </p:nvSpPr>
        <p:spPr>
          <a:xfrm>
            <a:off x="10351008" y="4855464"/>
            <a:ext cx="960120" cy="237744"/>
          </a:xfrm>
          <a:prstGeom prst="rect">
            <a:avLst/>
          </a:prstGeom>
          <a:noFill/>
          <a:ln/>
        </p:spPr>
        <p:txBody>
          <a:bodyPr wrap="square" lIns="0" tIns="0" rIns="0" bIns="0" rtlCol="0" anchor="ctr">
            <a:normAutofit/>
          </a:bodyPr>
          <a:lstStyle/>
          <a:p>
            <a:pPr algn="r" indent="0" marL="0">
              <a:buNone/>
            </a:pPr>
            <a:r>
              <a:rPr lang="en-US" sz="790" b="1" spc="60" kern="0" dirty="0">
                <a:solidFill>
                  <a:srgbClr val="9BB0B5"/>
                </a:solidFill>
                <a:latin typeface="Avenir Next" pitchFamily="34" charset="0"/>
                <a:ea typeface="Avenir Next" pitchFamily="34" charset="-122"/>
                <a:cs typeface="Avenir Next" pitchFamily="34" charset="-120"/>
              </a:rPr>
              <a:t>ACUTE-CARE LOCATIONS</a:t>
            </a:r>
            <a:endParaRPr lang="en-US" sz="790" dirty="0"/>
          </a:p>
        </p:txBody>
      </p:sp>
      <p:sp>
        <p:nvSpPr>
          <p:cNvPr id="37" name="Text 35"/>
          <p:cNvSpPr/>
          <p:nvPr/>
        </p:nvSpPr>
        <p:spPr>
          <a:xfrm>
            <a:off x="658368" y="5833872"/>
            <a:ext cx="10698480" cy="301752"/>
          </a:xfrm>
          <a:prstGeom prst="rect">
            <a:avLst/>
          </a:prstGeom>
          <a:noFill/>
          <a:ln/>
        </p:spPr>
        <p:txBody>
          <a:bodyPr wrap="square" lIns="0" tIns="0" rIns="0" bIns="0" rtlCol="0" anchor="ctr">
            <a:normAutofit/>
          </a:bodyPr>
          <a:lstStyle/>
          <a:p>
            <a:pPr algn="ctr" indent="0" marL="0">
              <a:buNone/>
            </a:pPr>
            <a:r>
              <a:rPr lang="en-US" sz="1300" b="1" dirty="0">
                <a:solidFill>
                  <a:srgbClr val="F4F7F6"/>
                </a:solidFill>
                <a:latin typeface="Avenir Next" pitchFamily="34" charset="0"/>
                <a:ea typeface="Avenir Next" pitchFamily="34" charset="-122"/>
                <a:cs typeface="Avenir Next" pitchFamily="34" charset="-120"/>
              </a:rPr>
              <a:t>Every refresh preserves source URL, edition, licence, retrieval time and caveats.</a:t>
            </a:r>
            <a:endParaRPr lang="en-US" sz="1300" dirty="0"/>
          </a:p>
        </p:txBody>
      </p:sp>
      <p:sp>
        <p:nvSpPr>
          <p:cNvPr id="38" name="Text 36"/>
          <p:cNvSpPr/>
          <p:nvPr/>
        </p:nvSpPr>
        <p:spPr>
          <a:xfrm>
            <a:off x="594360" y="6446520"/>
            <a:ext cx="8686800" cy="164592"/>
          </a:xfrm>
          <a:prstGeom prst="rect">
            <a:avLst/>
          </a:prstGeom>
          <a:noFill/>
          <a:ln/>
        </p:spPr>
        <p:txBody>
          <a:bodyPr wrap="square" lIns="0" tIns="0" rIns="0" bIns="0" rtlCol="0" anchor="ctr">
            <a:normAutofit/>
          </a:bodyPr>
          <a:lstStyle/>
          <a:p>
            <a:pPr indent="0" marL="0">
              <a:buNone/>
            </a:pPr>
            <a:r>
              <a:rPr lang="en-US" sz="760" dirty="0">
                <a:solidFill>
                  <a:srgbClr val="688087"/>
                </a:solidFill>
                <a:latin typeface="Avenir Next" pitchFamily="34" charset="0"/>
                <a:ea typeface="Avenir Next" pitchFamily="34" charset="-122"/>
                <a:cs typeface="Avenir Next" pitchFamily="34" charset="-120"/>
              </a:rPr>
              <a:t>Checked-in dataset counts from the current repository snapshot</a:t>
            </a:r>
            <a:endParaRPr lang="en-US" sz="760" dirty="0"/>
          </a:p>
        </p:txBody>
      </p:sp>
      <p:sp>
        <p:nvSpPr>
          <p:cNvPr id="40" name="Shape 37"/>
          <p:cNvSpPr/>
          <p:nvPr/>
        </p:nvSpPr>
        <p:spPr>
          <a:xfrm>
            <a:off x="502920" y="292608"/>
            <a:ext cx="310896" cy="310896"/>
          </a:xfrm>
          <a:prstGeom prst="ellipse">
            <a:avLst/>
          </a:prstGeom>
          <a:solidFill>
            <a:srgbClr val="12272D"/>
          </a:solidFill>
          <a:ln w="12700">
            <a:solidFill>
              <a:srgbClr val="65E2CB"/>
            </a:solidFill>
            <a:prstDash val="solid"/>
          </a:ln>
        </p:spPr>
      </p:sp>
      <p:sp>
        <p:nvSpPr>
          <p:cNvPr id="41" name="Shape 38"/>
          <p:cNvSpPr/>
          <p:nvPr/>
        </p:nvSpPr>
        <p:spPr>
          <a:xfrm>
            <a:off x="597103" y="374904"/>
            <a:ext cx="118872" cy="118872"/>
          </a:xfrm>
          <a:prstGeom prst="ellipse">
            <a:avLst/>
          </a:prstGeom>
          <a:solidFill>
            <a:srgbClr val="071216"/>
          </a:solidFill>
          <a:ln w="12700">
            <a:solidFill>
              <a:srgbClr val="65E2CB"/>
            </a:solidFill>
            <a:prstDash val="solid"/>
          </a:ln>
        </p:spPr>
      </p:sp>
      <p:sp>
        <p:nvSpPr>
          <p:cNvPr id="42" name="Shape 39"/>
          <p:cNvSpPr/>
          <p:nvPr/>
        </p:nvSpPr>
        <p:spPr>
          <a:xfrm>
            <a:off x="658368" y="356616"/>
            <a:ext cx="0" cy="182880"/>
          </a:xfrm>
          <a:prstGeom prst="line">
            <a:avLst/>
          </a:prstGeom>
          <a:noFill/>
          <a:ln w="15240">
            <a:solidFill>
              <a:srgbClr val="65E2CB"/>
            </a:solidFill>
            <a:prstDash val="solid"/>
            <a:headEnd type="none"/>
            <a:tailEnd type="none"/>
          </a:ln>
        </p:spPr>
      </p:sp>
      <p:sp>
        <p:nvSpPr>
          <p:cNvPr id="43" name="Text 40"/>
          <p:cNvSpPr/>
          <p:nvPr/>
        </p:nvSpPr>
        <p:spPr>
          <a:xfrm>
            <a:off x="896112" y="310896"/>
            <a:ext cx="2011680" cy="201168"/>
          </a:xfrm>
          <a:prstGeom prst="rect">
            <a:avLst/>
          </a:prstGeom>
          <a:noFill/>
          <a:ln/>
        </p:spPr>
        <p:txBody>
          <a:bodyPr wrap="square" lIns="0" tIns="0" rIns="0" bIns="0" rtlCol="0" anchor="ctr">
            <a:normAutofit/>
          </a:bodyPr>
          <a:lstStyle/>
          <a:p>
            <a:pPr indent="0" marL="0">
              <a:buNone/>
            </a:pPr>
            <a:r>
              <a:rPr lang="en-US" sz="900" b="1" spc="140" kern="0" dirty="0">
                <a:solidFill>
                  <a:srgbClr val="9BB0B5"/>
                </a:solidFill>
                <a:latin typeface="Avenir Next" pitchFamily="34" charset="0"/>
                <a:ea typeface="Avenir Next" pitchFamily="34" charset="-122"/>
                <a:cs typeface="Avenir Next" pitchFamily="34" charset="-120"/>
              </a:rPr>
              <a:t>NL RESILIENCE LAB</a:t>
            </a:r>
            <a:endParaRPr lang="en-US" sz="900" dirty="0"/>
          </a:p>
        </p:txBody>
      </p:sp>
      <p:sp>
        <p:nvSpPr>
          <p:cNvPr id="44" name="Text 41"/>
          <p:cNvSpPr/>
          <p:nvPr/>
        </p:nvSpPr>
        <p:spPr>
          <a:xfrm>
            <a:off x="9052560" y="310896"/>
            <a:ext cx="2514600" cy="201168"/>
          </a:xfrm>
          <a:prstGeom prst="rect">
            <a:avLst/>
          </a:prstGeom>
          <a:noFill/>
          <a:ln/>
        </p:spPr>
        <p:txBody>
          <a:bodyPr wrap="square" lIns="0" tIns="0" rIns="0" bIns="0" rtlCol="0" anchor="ctr">
            <a:normAutofit/>
          </a:bodyPr>
          <a:lstStyle/>
          <a:p>
            <a:pPr algn="r" indent="0" marL="0">
              <a:buNone/>
            </a:pPr>
            <a:r>
              <a:rPr lang="en-US" sz="850" b="1" spc="125" kern="0" dirty="0">
                <a:solidFill>
                  <a:srgbClr val="688087"/>
                </a:solidFill>
                <a:latin typeface="Avenir Next" pitchFamily="34" charset="0"/>
                <a:ea typeface="Avenir Next" pitchFamily="34" charset="-122"/>
                <a:cs typeface="Avenir Next" pitchFamily="34" charset="-120"/>
              </a:rPr>
              <a:t>DATA COUPLING</a:t>
            </a:r>
            <a:endParaRPr lang="en-US" sz="850" dirty="0"/>
          </a:p>
        </p:txBody>
      </p:sp>
      <p:sp>
        <p:nvSpPr>
          <p:cNvPr id="45" name="Shape 42"/>
          <p:cNvSpPr/>
          <p:nvPr/>
        </p:nvSpPr>
        <p:spPr>
          <a:xfrm>
            <a:off x="502920" y="749808"/>
            <a:ext cx="10680192" cy="0"/>
          </a:xfrm>
          <a:prstGeom prst="line">
            <a:avLst/>
          </a:prstGeom>
          <a:noFill/>
          <a:ln w="8890">
            <a:solidFill>
              <a:srgbClr val="294047"/>
            </a:solidFill>
            <a:prstDash val="solid"/>
            <a:headEnd type="none"/>
            <a:tailEnd type="none"/>
          </a:ln>
        </p:spPr>
      </p:sp>
      <p:sp>
        <p:nvSpPr>
          <p:cNvPr id="25" name="Slide Number Placeholder 0"/>
          <p:cNvSpPr>
            <a:spLocks noGrp="1"/>
          </p:cNvSpPr>
          <p:nvPr>
            <p:ph type="sldNum" sz="quarter" idx="4294967295"/>
          </p:nvPr>
        </p:nvSpPr>
        <p:spPr>
          <a:xfrm>
            <a:off x="11119104" y="6446520"/>
            <a:ext cx="475488"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8087"/>
                </a:solidFill>
                <a:latin typeface="Avenir Next"/>
                <a:ea typeface="Avenir Next"/>
                <a:cs typeface="Avenir Next"/>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216"/>
        </a:solidFill>
      </p:bgPr>
    </p:bg>
    <p:spTree>
      <p:nvGrpSpPr>
        <p:cNvPr id="1" name=""/>
        <p:cNvGrpSpPr/>
        <p:nvPr/>
      </p:nvGrpSpPr>
      <p:grpSpPr>
        <a:xfrm>
          <a:off x="0" y="0"/>
          <a:ext cx="0" cy="0"/>
          <a:chOff x="0" y="0"/>
          <a:chExt cx="0" cy="0"/>
        </a:xfrm>
      </p:grpSpPr>
      <p:sp>
        <p:nvSpPr>
          <p:cNvPr id="2" name="Text 0"/>
          <p:cNvSpPr/>
          <p:nvPr/>
        </p:nvSpPr>
        <p:spPr>
          <a:xfrm>
            <a:off x="594360" y="950976"/>
            <a:ext cx="2377440" cy="201168"/>
          </a:xfrm>
          <a:prstGeom prst="rect">
            <a:avLst/>
          </a:prstGeom>
          <a:noFill/>
          <a:ln/>
        </p:spPr>
        <p:txBody>
          <a:bodyPr wrap="square" lIns="0" tIns="0" rIns="0" bIns="0" rtlCol="0" anchor="ctr">
            <a:normAutofit/>
          </a:bodyPr>
          <a:lstStyle/>
          <a:p>
            <a:pPr indent="0" marL="0">
              <a:buNone/>
            </a:pPr>
            <a:r>
              <a:rPr lang="en-US" sz="900" b="1" spc="165" kern="0" dirty="0">
                <a:solidFill>
                  <a:srgbClr val="65E2CB"/>
                </a:solidFill>
                <a:latin typeface="Avenir Next" pitchFamily="34" charset="0"/>
                <a:ea typeface="Avenir Next" pitchFamily="34" charset="-122"/>
                <a:cs typeface="Avenir Next" pitchFamily="34" charset="-120"/>
              </a:rPr>
              <a:t>EVIDENCE</a:t>
            </a:r>
            <a:endParaRPr lang="en-US" sz="900" dirty="0"/>
          </a:p>
        </p:txBody>
      </p:sp>
      <p:sp>
        <p:nvSpPr>
          <p:cNvPr id="3" name="Text 1"/>
          <p:cNvSpPr/>
          <p:nvPr/>
        </p:nvSpPr>
        <p:spPr>
          <a:xfrm>
            <a:off x="594360" y="1188720"/>
            <a:ext cx="10972800" cy="566928"/>
          </a:xfrm>
          <a:prstGeom prst="rect">
            <a:avLst/>
          </a:prstGeom>
          <a:noFill/>
          <a:ln/>
        </p:spPr>
        <p:txBody>
          <a:bodyPr wrap="square" lIns="0" tIns="0" rIns="0" bIns="0" rtlCol="0" anchor="ctr">
            <a:normAutofit/>
          </a:bodyPr>
          <a:lstStyle/>
          <a:p>
            <a:pPr indent="0" marL="0">
              <a:buNone/>
            </a:pPr>
            <a:r>
              <a:rPr lang="en-US" sz="2900" b="1" dirty="0">
                <a:solidFill>
                  <a:srgbClr val="F4F7F6"/>
                </a:solidFill>
                <a:latin typeface="Avenir Next" pitchFamily="34" charset="0"/>
                <a:ea typeface="Avenir Next" pitchFamily="34" charset="-122"/>
                <a:cs typeface="Avenir Next" pitchFamily="34" charset="-120"/>
              </a:rPr>
              <a:t>Observed is not the same as simulated</a:t>
            </a:r>
            <a:endParaRPr lang="en-US" sz="2900" dirty="0"/>
          </a:p>
        </p:txBody>
      </p:sp>
      <p:sp>
        <p:nvSpPr>
          <p:cNvPr id="4" name="Text 2"/>
          <p:cNvSpPr/>
          <p:nvPr/>
        </p:nvSpPr>
        <p:spPr>
          <a:xfrm>
            <a:off x="594360" y="1746504"/>
            <a:ext cx="10789920" cy="393192"/>
          </a:xfrm>
          <a:prstGeom prst="rect">
            <a:avLst/>
          </a:prstGeom>
          <a:noFill/>
          <a:ln/>
        </p:spPr>
        <p:txBody>
          <a:bodyPr wrap="square" lIns="0" tIns="0" rIns="0" bIns="0" rtlCol="0" anchor="ctr">
            <a:normAutofit/>
          </a:bodyPr>
          <a:lstStyle/>
          <a:p>
            <a:pPr indent="0" marL="0">
              <a:buNone/>
            </a:pPr>
            <a:r>
              <a:rPr lang="en-US" sz="1250" dirty="0">
                <a:solidFill>
                  <a:srgbClr val="9BB0B5"/>
                </a:solidFill>
                <a:latin typeface="Avenir Next" pitchFamily="34" charset="0"/>
                <a:ea typeface="Avenir Next" pitchFamily="34" charset="-122"/>
                <a:cs typeface="Avenir Next" pitchFamily="34" charset="-120"/>
              </a:rPr>
              <a:t>Each layer tells the user what it can—and cannot—support.</a:t>
            </a:r>
            <a:endParaRPr lang="en-US" sz="1250" dirty="0"/>
          </a:p>
        </p:txBody>
      </p:sp>
      <p:sp>
        <p:nvSpPr>
          <p:cNvPr id="5" name="Shape 3"/>
          <p:cNvSpPr/>
          <p:nvPr/>
        </p:nvSpPr>
        <p:spPr>
          <a:xfrm>
            <a:off x="566928" y="2304288"/>
            <a:ext cx="2651760" cy="2880360"/>
          </a:xfrm>
          <a:prstGeom prst="roundRect">
            <a:avLst>
              <a:gd name="adj" fmla="val 5517"/>
            </a:avLst>
          </a:prstGeom>
          <a:solidFill>
            <a:srgbClr val="0D1C21"/>
          </a:solidFill>
          <a:ln w="12700">
            <a:solidFill>
              <a:srgbClr val="294047"/>
            </a:solidFill>
            <a:prstDash val="solid"/>
          </a:ln>
        </p:spPr>
      </p:sp>
      <p:sp>
        <p:nvSpPr>
          <p:cNvPr id="6" name="Shape 4"/>
          <p:cNvSpPr/>
          <p:nvPr/>
        </p:nvSpPr>
        <p:spPr>
          <a:xfrm>
            <a:off x="768096" y="2542032"/>
            <a:ext cx="164592" cy="164592"/>
          </a:xfrm>
          <a:prstGeom prst="ellipse">
            <a:avLst/>
          </a:prstGeom>
          <a:solidFill>
            <a:srgbClr val="59D5F6"/>
          </a:solidFill>
          <a:ln w="12700">
            <a:solidFill>
              <a:srgbClr val="59D5F6"/>
            </a:solidFill>
            <a:prstDash val="solid"/>
          </a:ln>
        </p:spPr>
      </p:sp>
      <p:sp>
        <p:nvSpPr>
          <p:cNvPr id="7" name="Text 5"/>
          <p:cNvSpPr/>
          <p:nvPr/>
        </p:nvSpPr>
        <p:spPr>
          <a:xfrm>
            <a:off x="1042416" y="2468880"/>
            <a:ext cx="1901952" cy="329184"/>
          </a:xfrm>
          <a:prstGeom prst="rect">
            <a:avLst/>
          </a:prstGeom>
          <a:noFill/>
          <a:ln/>
        </p:spPr>
        <p:txBody>
          <a:bodyPr wrap="square" lIns="0" tIns="0" rIns="0" bIns="0" rtlCol="0" anchor="ctr">
            <a:normAutofit/>
          </a:bodyPr>
          <a:lstStyle/>
          <a:p>
            <a:pPr indent="0" marL="0">
              <a:buNone/>
            </a:pPr>
            <a:r>
              <a:rPr lang="en-US" sz="950" b="1" spc="75" kern="0" dirty="0">
                <a:solidFill>
                  <a:srgbClr val="59D5F6"/>
                </a:solidFill>
                <a:latin typeface="Avenir Next" pitchFamily="34" charset="0"/>
                <a:ea typeface="Avenir Next" pitchFamily="34" charset="-122"/>
                <a:cs typeface="Avenir Next" pitchFamily="34" charset="-120"/>
              </a:rPr>
              <a:t>OFFICIAL CONTEXT</a:t>
            </a:r>
            <a:endParaRPr lang="en-US" sz="950" dirty="0"/>
          </a:p>
        </p:txBody>
      </p:sp>
      <p:sp>
        <p:nvSpPr>
          <p:cNvPr id="8" name="Text 6"/>
          <p:cNvSpPr/>
          <p:nvPr/>
        </p:nvSpPr>
        <p:spPr>
          <a:xfrm>
            <a:off x="786384" y="2999232"/>
            <a:ext cx="2212848" cy="777240"/>
          </a:xfrm>
          <a:prstGeom prst="rect">
            <a:avLst/>
          </a:prstGeom>
          <a:noFill/>
          <a:ln/>
        </p:spPr>
        <p:txBody>
          <a:bodyPr wrap="square" lIns="0" tIns="0" rIns="0" bIns="0" rtlCol="0" anchor="t">
            <a:normAutofit/>
          </a:bodyPr>
          <a:lstStyle/>
          <a:p>
            <a:pPr indent="0" marL="0">
              <a:buNone/>
            </a:pPr>
            <a:r>
              <a:rPr lang="en-US" sz="1200" dirty="0">
                <a:solidFill>
                  <a:srgbClr val="F4F7F6"/>
                </a:solidFill>
                <a:latin typeface="Avenir Next" pitchFamily="34" charset="0"/>
                <a:ea typeface="Avenir Next" pitchFamily="34" charset="-122"/>
                <a:cs typeface="Avenir Next" pitchFamily="34" charset="-120"/>
              </a:rPr>
              <a:t>Boundaries, assets, provider areas and registers</a:t>
            </a:r>
            <a:endParaRPr lang="en-US" sz="1200" dirty="0"/>
          </a:p>
        </p:txBody>
      </p:sp>
      <p:sp>
        <p:nvSpPr>
          <p:cNvPr id="9" name="Shape 7"/>
          <p:cNvSpPr/>
          <p:nvPr/>
        </p:nvSpPr>
        <p:spPr>
          <a:xfrm>
            <a:off x="786384" y="3968496"/>
            <a:ext cx="2212848" cy="0"/>
          </a:xfrm>
          <a:prstGeom prst="line">
            <a:avLst/>
          </a:prstGeom>
          <a:noFill/>
          <a:ln w="10160">
            <a:solidFill>
              <a:srgbClr val="294047"/>
            </a:solidFill>
            <a:prstDash val="solid"/>
            <a:headEnd type="none"/>
            <a:tailEnd type="none"/>
          </a:ln>
        </p:spPr>
      </p:sp>
      <p:sp>
        <p:nvSpPr>
          <p:cNvPr id="10" name="Text 8"/>
          <p:cNvSpPr/>
          <p:nvPr/>
        </p:nvSpPr>
        <p:spPr>
          <a:xfrm>
            <a:off x="786384" y="4224528"/>
            <a:ext cx="2212848" cy="530352"/>
          </a:xfrm>
          <a:prstGeom prst="rect">
            <a:avLst/>
          </a:prstGeom>
          <a:noFill/>
          <a:ln/>
        </p:spPr>
        <p:txBody>
          <a:bodyPr wrap="square" lIns="0" tIns="0" rIns="0" bIns="0" rtlCol="0" anchor="ctr">
            <a:normAutofit/>
          </a:bodyPr>
          <a:lstStyle/>
          <a:p>
            <a:pPr algn="ctr" indent="0" marL="0">
              <a:buNone/>
            </a:pPr>
            <a:r>
              <a:rPr lang="en-US" sz="1100" b="1" dirty="0">
                <a:solidFill>
                  <a:srgbClr val="9BB0B5"/>
                </a:solidFill>
                <a:latin typeface="Avenir Next" pitchFamily="34" charset="0"/>
                <a:ea typeface="Avenir Next" pitchFamily="34" charset="-122"/>
                <a:cs typeface="Avenir Next" pitchFamily="34" charset="-120"/>
              </a:rPr>
              <a:t>Where things are</a:t>
            </a:r>
            <a:endParaRPr lang="en-US" sz="1100" dirty="0"/>
          </a:p>
        </p:txBody>
      </p:sp>
      <p:sp>
        <p:nvSpPr>
          <p:cNvPr id="11" name="Shape 9"/>
          <p:cNvSpPr/>
          <p:nvPr/>
        </p:nvSpPr>
        <p:spPr>
          <a:xfrm>
            <a:off x="3447288" y="2304288"/>
            <a:ext cx="2651760" cy="2880360"/>
          </a:xfrm>
          <a:prstGeom prst="roundRect">
            <a:avLst>
              <a:gd name="adj" fmla="val 5517"/>
            </a:avLst>
          </a:prstGeom>
          <a:solidFill>
            <a:srgbClr val="0D1C21"/>
          </a:solidFill>
          <a:ln w="12700">
            <a:solidFill>
              <a:srgbClr val="294047"/>
            </a:solidFill>
            <a:prstDash val="solid"/>
          </a:ln>
        </p:spPr>
      </p:sp>
      <p:sp>
        <p:nvSpPr>
          <p:cNvPr id="12" name="Shape 10"/>
          <p:cNvSpPr/>
          <p:nvPr/>
        </p:nvSpPr>
        <p:spPr>
          <a:xfrm>
            <a:off x="3648456" y="2542032"/>
            <a:ext cx="164592" cy="164592"/>
          </a:xfrm>
          <a:prstGeom prst="ellipse">
            <a:avLst/>
          </a:prstGeom>
          <a:solidFill>
            <a:srgbClr val="65E2CB"/>
          </a:solidFill>
          <a:ln w="12700">
            <a:solidFill>
              <a:srgbClr val="65E2CB"/>
            </a:solidFill>
            <a:prstDash val="solid"/>
          </a:ln>
        </p:spPr>
      </p:sp>
      <p:sp>
        <p:nvSpPr>
          <p:cNvPr id="13" name="Text 11"/>
          <p:cNvSpPr/>
          <p:nvPr/>
        </p:nvSpPr>
        <p:spPr>
          <a:xfrm>
            <a:off x="3922776" y="2468880"/>
            <a:ext cx="1901952" cy="329184"/>
          </a:xfrm>
          <a:prstGeom prst="rect">
            <a:avLst/>
          </a:prstGeom>
          <a:noFill/>
          <a:ln/>
        </p:spPr>
        <p:txBody>
          <a:bodyPr wrap="square" lIns="0" tIns="0" rIns="0" bIns="0" rtlCol="0" anchor="ctr">
            <a:normAutofit/>
          </a:bodyPr>
          <a:lstStyle/>
          <a:p>
            <a:pPr indent="0" marL="0">
              <a:buNone/>
            </a:pPr>
            <a:r>
              <a:rPr lang="en-US" sz="950" b="1" spc="75" kern="0" dirty="0">
                <a:solidFill>
                  <a:srgbClr val="65E2CB"/>
                </a:solidFill>
                <a:latin typeface="Avenir Next" pitchFamily="34" charset="0"/>
                <a:ea typeface="Avenir Next" pitchFamily="34" charset="-122"/>
                <a:cs typeface="Avenir Next" pitchFamily="34" charset="-120"/>
              </a:rPr>
              <a:t>OBSERVED CONTEXT</a:t>
            </a:r>
            <a:endParaRPr lang="en-US" sz="950" dirty="0"/>
          </a:p>
        </p:txBody>
      </p:sp>
      <p:sp>
        <p:nvSpPr>
          <p:cNvPr id="14" name="Text 12"/>
          <p:cNvSpPr/>
          <p:nvPr/>
        </p:nvSpPr>
        <p:spPr>
          <a:xfrm>
            <a:off x="3666744" y="2999232"/>
            <a:ext cx="2212848" cy="777240"/>
          </a:xfrm>
          <a:prstGeom prst="rect">
            <a:avLst/>
          </a:prstGeom>
          <a:noFill/>
          <a:ln/>
        </p:spPr>
        <p:txBody>
          <a:bodyPr wrap="square" lIns="0" tIns="0" rIns="0" bIns="0" rtlCol="0" anchor="t">
            <a:normAutofit/>
          </a:bodyPr>
          <a:lstStyle/>
          <a:p>
            <a:pPr indent="0" marL="0">
              <a:buNone/>
            </a:pPr>
            <a:r>
              <a:rPr lang="en-US" sz="1200" dirty="0">
                <a:solidFill>
                  <a:srgbClr val="F4F7F6"/>
                </a:solidFill>
                <a:latin typeface="Avenir Next" pitchFamily="34" charset="0"/>
                <a:ea typeface="Avenir Next" pitchFamily="34" charset="-122"/>
                <a:cs typeface="Avenir Next" pitchFamily="34" charset="-120"/>
              </a:rPr>
              <a:t>Radar, stations, incidents and current measurements</a:t>
            </a:r>
            <a:endParaRPr lang="en-US" sz="1200" dirty="0"/>
          </a:p>
        </p:txBody>
      </p:sp>
      <p:sp>
        <p:nvSpPr>
          <p:cNvPr id="15" name="Shape 13"/>
          <p:cNvSpPr/>
          <p:nvPr/>
        </p:nvSpPr>
        <p:spPr>
          <a:xfrm>
            <a:off x="3666744" y="3968496"/>
            <a:ext cx="2212848" cy="0"/>
          </a:xfrm>
          <a:prstGeom prst="line">
            <a:avLst/>
          </a:prstGeom>
          <a:noFill/>
          <a:ln w="10160">
            <a:solidFill>
              <a:srgbClr val="294047"/>
            </a:solidFill>
            <a:prstDash val="solid"/>
            <a:headEnd type="none"/>
            <a:tailEnd type="none"/>
          </a:ln>
        </p:spPr>
      </p:sp>
      <p:sp>
        <p:nvSpPr>
          <p:cNvPr id="16" name="Text 14"/>
          <p:cNvSpPr/>
          <p:nvPr/>
        </p:nvSpPr>
        <p:spPr>
          <a:xfrm>
            <a:off x="3666744" y="4224528"/>
            <a:ext cx="2212848" cy="530352"/>
          </a:xfrm>
          <a:prstGeom prst="rect">
            <a:avLst/>
          </a:prstGeom>
          <a:noFill/>
          <a:ln/>
        </p:spPr>
        <p:txBody>
          <a:bodyPr wrap="square" lIns="0" tIns="0" rIns="0" bIns="0" rtlCol="0" anchor="ctr">
            <a:normAutofit/>
          </a:bodyPr>
          <a:lstStyle/>
          <a:p>
            <a:pPr algn="ctr" indent="0" marL="0">
              <a:buNone/>
            </a:pPr>
            <a:r>
              <a:rPr lang="en-US" sz="1100" b="1" dirty="0">
                <a:solidFill>
                  <a:srgbClr val="9BB0B5"/>
                </a:solidFill>
                <a:latin typeface="Avenir Next" pitchFamily="34" charset="0"/>
                <a:ea typeface="Avenir Next" pitchFamily="34" charset="-122"/>
                <a:cs typeface="Avenir Next" pitchFamily="34" charset="-120"/>
              </a:rPr>
              <a:t>What was observed</a:t>
            </a:r>
            <a:endParaRPr lang="en-US" sz="1100" dirty="0"/>
          </a:p>
        </p:txBody>
      </p:sp>
      <p:sp>
        <p:nvSpPr>
          <p:cNvPr id="17" name="Shape 15"/>
          <p:cNvSpPr/>
          <p:nvPr/>
        </p:nvSpPr>
        <p:spPr>
          <a:xfrm>
            <a:off x="6327648" y="2304288"/>
            <a:ext cx="2651760" cy="2880360"/>
          </a:xfrm>
          <a:prstGeom prst="roundRect">
            <a:avLst>
              <a:gd name="adj" fmla="val 5517"/>
            </a:avLst>
          </a:prstGeom>
          <a:solidFill>
            <a:srgbClr val="0D1C21"/>
          </a:solidFill>
          <a:ln w="12700">
            <a:solidFill>
              <a:srgbClr val="294047"/>
            </a:solidFill>
            <a:prstDash val="solid"/>
          </a:ln>
        </p:spPr>
      </p:sp>
      <p:sp>
        <p:nvSpPr>
          <p:cNvPr id="18" name="Shape 16"/>
          <p:cNvSpPr/>
          <p:nvPr/>
        </p:nvSpPr>
        <p:spPr>
          <a:xfrm>
            <a:off x="6528816" y="2542032"/>
            <a:ext cx="164592" cy="164592"/>
          </a:xfrm>
          <a:prstGeom prst="ellipse">
            <a:avLst/>
          </a:prstGeom>
          <a:solidFill>
            <a:srgbClr val="B784F5"/>
          </a:solidFill>
          <a:ln w="12700">
            <a:solidFill>
              <a:srgbClr val="B784F5"/>
            </a:solidFill>
            <a:prstDash val="solid"/>
          </a:ln>
        </p:spPr>
      </p:sp>
      <p:sp>
        <p:nvSpPr>
          <p:cNvPr id="19" name="Text 17"/>
          <p:cNvSpPr/>
          <p:nvPr/>
        </p:nvSpPr>
        <p:spPr>
          <a:xfrm>
            <a:off x="6803136" y="2468880"/>
            <a:ext cx="1901952" cy="329184"/>
          </a:xfrm>
          <a:prstGeom prst="rect">
            <a:avLst/>
          </a:prstGeom>
          <a:noFill/>
          <a:ln/>
        </p:spPr>
        <p:txBody>
          <a:bodyPr wrap="square" lIns="0" tIns="0" rIns="0" bIns="0" rtlCol="0" anchor="ctr">
            <a:normAutofit/>
          </a:bodyPr>
          <a:lstStyle/>
          <a:p>
            <a:pPr indent="0" marL="0">
              <a:buNone/>
            </a:pPr>
            <a:r>
              <a:rPr lang="en-US" sz="950" b="1" spc="75" kern="0" dirty="0">
                <a:solidFill>
                  <a:srgbClr val="B784F5"/>
                </a:solidFill>
                <a:latin typeface="Avenir Next" pitchFamily="34" charset="0"/>
                <a:ea typeface="Avenir Next" pitchFamily="34" charset="-122"/>
                <a:cs typeface="Avenir Next" pitchFamily="34" charset="-120"/>
              </a:rPr>
              <a:t>SCENARIO STATE</a:t>
            </a:r>
            <a:endParaRPr lang="en-US" sz="950" dirty="0"/>
          </a:p>
        </p:txBody>
      </p:sp>
      <p:sp>
        <p:nvSpPr>
          <p:cNvPr id="20" name="Text 18"/>
          <p:cNvSpPr/>
          <p:nvPr/>
        </p:nvSpPr>
        <p:spPr>
          <a:xfrm>
            <a:off x="6547104" y="2999232"/>
            <a:ext cx="2212848" cy="777240"/>
          </a:xfrm>
          <a:prstGeom prst="rect">
            <a:avLst/>
          </a:prstGeom>
          <a:noFill/>
          <a:ln/>
        </p:spPr>
        <p:txBody>
          <a:bodyPr wrap="square" lIns="0" tIns="0" rIns="0" bIns="0" rtlCol="0" anchor="t">
            <a:normAutofit/>
          </a:bodyPr>
          <a:lstStyle/>
          <a:p>
            <a:pPr indent="0" marL="0">
              <a:buNone/>
            </a:pPr>
            <a:r>
              <a:rPr lang="en-US" sz="1200" dirty="0">
                <a:solidFill>
                  <a:srgbClr val="F4F7F6"/>
                </a:solidFill>
                <a:latin typeface="Avenir Next" pitchFamily="34" charset="0"/>
                <a:ea typeface="Avenir Next" pitchFamily="34" charset="-122"/>
                <a:cs typeface="Avenir Next" pitchFamily="34" charset="-120"/>
              </a:rPr>
              <a:t>Synthetic hazard, availability, demand and recovery</a:t>
            </a:r>
            <a:endParaRPr lang="en-US" sz="1200" dirty="0"/>
          </a:p>
        </p:txBody>
      </p:sp>
      <p:sp>
        <p:nvSpPr>
          <p:cNvPr id="21" name="Shape 19"/>
          <p:cNvSpPr/>
          <p:nvPr/>
        </p:nvSpPr>
        <p:spPr>
          <a:xfrm>
            <a:off x="6547104" y="3968496"/>
            <a:ext cx="2212848" cy="0"/>
          </a:xfrm>
          <a:prstGeom prst="line">
            <a:avLst/>
          </a:prstGeom>
          <a:noFill/>
          <a:ln w="10160">
            <a:solidFill>
              <a:srgbClr val="294047"/>
            </a:solidFill>
            <a:prstDash val="solid"/>
            <a:headEnd type="none"/>
            <a:tailEnd type="none"/>
          </a:ln>
        </p:spPr>
      </p:sp>
      <p:sp>
        <p:nvSpPr>
          <p:cNvPr id="22" name="Text 20"/>
          <p:cNvSpPr/>
          <p:nvPr/>
        </p:nvSpPr>
        <p:spPr>
          <a:xfrm>
            <a:off x="6547104" y="4224528"/>
            <a:ext cx="2212848" cy="530352"/>
          </a:xfrm>
          <a:prstGeom prst="rect">
            <a:avLst/>
          </a:prstGeom>
          <a:noFill/>
          <a:ln/>
        </p:spPr>
        <p:txBody>
          <a:bodyPr wrap="square" lIns="0" tIns="0" rIns="0" bIns="0" rtlCol="0" anchor="ctr">
            <a:normAutofit/>
          </a:bodyPr>
          <a:lstStyle/>
          <a:p>
            <a:pPr algn="ctr" indent="0" marL="0">
              <a:buNone/>
            </a:pPr>
            <a:r>
              <a:rPr lang="en-US" sz="1100" b="1" dirty="0">
                <a:solidFill>
                  <a:srgbClr val="9BB0B5"/>
                </a:solidFill>
                <a:latin typeface="Avenir Next" pitchFamily="34" charset="0"/>
                <a:ea typeface="Avenir Next" pitchFamily="34" charset="-122"/>
                <a:cs typeface="Avenir Next" pitchFamily="34" charset="-120"/>
              </a:rPr>
              <a:t>What the model explores</a:t>
            </a:r>
            <a:endParaRPr lang="en-US" sz="1100" dirty="0"/>
          </a:p>
        </p:txBody>
      </p:sp>
      <p:sp>
        <p:nvSpPr>
          <p:cNvPr id="23" name="Shape 21"/>
          <p:cNvSpPr/>
          <p:nvPr/>
        </p:nvSpPr>
        <p:spPr>
          <a:xfrm>
            <a:off x="9208008" y="2304288"/>
            <a:ext cx="2651760" cy="2880360"/>
          </a:xfrm>
          <a:prstGeom prst="roundRect">
            <a:avLst>
              <a:gd name="adj" fmla="val 5517"/>
            </a:avLst>
          </a:prstGeom>
          <a:solidFill>
            <a:srgbClr val="0D1C21"/>
          </a:solidFill>
          <a:ln w="12700">
            <a:solidFill>
              <a:srgbClr val="294047"/>
            </a:solidFill>
            <a:prstDash val="solid"/>
          </a:ln>
        </p:spPr>
      </p:sp>
      <p:sp>
        <p:nvSpPr>
          <p:cNvPr id="24" name="Shape 22"/>
          <p:cNvSpPr/>
          <p:nvPr/>
        </p:nvSpPr>
        <p:spPr>
          <a:xfrm>
            <a:off x="9409176" y="2542032"/>
            <a:ext cx="164592" cy="164592"/>
          </a:xfrm>
          <a:prstGeom prst="ellipse">
            <a:avLst/>
          </a:prstGeom>
          <a:solidFill>
            <a:srgbClr val="F4B85D"/>
          </a:solidFill>
          <a:ln w="12700">
            <a:solidFill>
              <a:srgbClr val="F4B85D"/>
            </a:solidFill>
            <a:prstDash val="solid"/>
          </a:ln>
        </p:spPr>
      </p:sp>
      <p:sp>
        <p:nvSpPr>
          <p:cNvPr id="25" name="Text 23"/>
          <p:cNvSpPr/>
          <p:nvPr/>
        </p:nvSpPr>
        <p:spPr>
          <a:xfrm>
            <a:off x="9683496" y="2468880"/>
            <a:ext cx="1901952" cy="329184"/>
          </a:xfrm>
          <a:prstGeom prst="rect">
            <a:avLst/>
          </a:prstGeom>
          <a:noFill/>
          <a:ln/>
        </p:spPr>
        <p:txBody>
          <a:bodyPr wrap="square" lIns="0" tIns="0" rIns="0" bIns="0" rtlCol="0" anchor="ctr">
            <a:normAutofit/>
          </a:bodyPr>
          <a:lstStyle/>
          <a:p>
            <a:pPr indent="0" marL="0">
              <a:buNone/>
            </a:pPr>
            <a:r>
              <a:rPr lang="en-US" sz="950" b="1" spc="75" kern="0" dirty="0">
                <a:solidFill>
                  <a:srgbClr val="F4B85D"/>
                </a:solidFill>
                <a:latin typeface="Avenir Next" pitchFamily="34" charset="0"/>
                <a:ea typeface="Avenir Next" pitchFamily="34" charset="-122"/>
                <a:cs typeface="Avenir Next" pitchFamily="34" charset="-120"/>
              </a:rPr>
              <a:t>UNKNOWN / NODATA</a:t>
            </a:r>
            <a:endParaRPr lang="en-US" sz="950" dirty="0"/>
          </a:p>
        </p:txBody>
      </p:sp>
      <p:sp>
        <p:nvSpPr>
          <p:cNvPr id="26" name="Text 24"/>
          <p:cNvSpPr/>
          <p:nvPr/>
        </p:nvSpPr>
        <p:spPr>
          <a:xfrm>
            <a:off x="9427464" y="2999232"/>
            <a:ext cx="2212848" cy="777240"/>
          </a:xfrm>
          <a:prstGeom prst="rect">
            <a:avLst/>
          </a:prstGeom>
          <a:noFill/>
          <a:ln/>
        </p:spPr>
        <p:txBody>
          <a:bodyPr wrap="square" lIns="0" tIns="0" rIns="0" bIns="0" rtlCol="0" anchor="t">
            <a:normAutofit/>
          </a:bodyPr>
          <a:lstStyle/>
          <a:p>
            <a:pPr indent="0" marL="0">
              <a:buNone/>
            </a:pPr>
            <a:r>
              <a:rPr lang="en-US" sz="1200" dirty="0">
                <a:solidFill>
                  <a:srgbClr val="F4F7F6"/>
                </a:solidFill>
                <a:latin typeface="Avenir Next" pitchFamily="34" charset="0"/>
                <a:ea typeface="Avenir Next" pitchFamily="34" charset="-122"/>
                <a:cs typeface="Avenir Next" pitchFamily="34" charset="-120"/>
              </a:rPr>
              <a:t>Missing coverage, horizon, permission or semantics</a:t>
            </a:r>
            <a:endParaRPr lang="en-US" sz="1200" dirty="0"/>
          </a:p>
        </p:txBody>
      </p:sp>
      <p:sp>
        <p:nvSpPr>
          <p:cNvPr id="27" name="Shape 25"/>
          <p:cNvSpPr/>
          <p:nvPr/>
        </p:nvSpPr>
        <p:spPr>
          <a:xfrm>
            <a:off x="9427464" y="3968496"/>
            <a:ext cx="2212848" cy="0"/>
          </a:xfrm>
          <a:prstGeom prst="line">
            <a:avLst/>
          </a:prstGeom>
          <a:noFill/>
          <a:ln w="10160">
            <a:solidFill>
              <a:srgbClr val="294047"/>
            </a:solidFill>
            <a:prstDash val="solid"/>
            <a:headEnd type="none"/>
            <a:tailEnd type="none"/>
          </a:ln>
        </p:spPr>
      </p:sp>
      <p:sp>
        <p:nvSpPr>
          <p:cNvPr id="28" name="Text 26"/>
          <p:cNvSpPr/>
          <p:nvPr/>
        </p:nvSpPr>
        <p:spPr>
          <a:xfrm>
            <a:off x="9427464" y="4224528"/>
            <a:ext cx="2212848" cy="530352"/>
          </a:xfrm>
          <a:prstGeom prst="rect">
            <a:avLst/>
          </a:prstGeom>
          <a:noFill/>
          <a:ln/>
        </p:spPr>
        <p:txBody>
          <a:bodyPr wrap="square" lIns="0" tIns="0" rIns="0" bIns="0" rtlCol="0" anchor="ctr">
            <a:normAutofit/>
          </a:bodyPr>
          <a:lstStyle/>
          <a:p>
            <a:pPr algn="ctr" indent="0" marL="0">
              <a:buNone/>
            </a:pPr>
            <a:r>
              <a:rPr lang="en-US" sz="1100" b="1" dirty="0">
                <a:solidFill>
                  <a:srgbClr val="9BB0B5"/>
                </a:solidFill>
                <a:latin typeface="Avenir Next" pitchFamily="34" charset="0"/>
                <a:ea typeface="Avenir Next" pitchFamily="34" charset="-122"/>
                <a:cs typeface="Avenir Next" pitchFamily="34" charset="-120"/>
              </a:rPr>
              <a:t>What must not be inferred</a:t>
            </a:r>
            <a:endParaRPr lang="en-US" sz="1100" dirty="0"/>
          </a:p>
        </p:txBody>
      </p:sp>
      <p:sp>
        <p:nvSpPr>
          <p:cNvPr id="29" name="Shape 27"/>
          <p:cNvSpPr/>
          <p:nvPr/>
        </p:nvSpPr>
        <p:spPr>
          <a:xfrm>
            <a:off x="1234440" y="5559552"/>
            <a:ext cx="9738360" cy="512064"/>
          </a:xfrm>
          <a:prstGeom prst="roundRect">
            <a:avLst>
              <a:gd name="adj" fmla="val 25000"/>
            </a:avLst>
          </a:prstGeom>
          <a:solidFill>
            <a:srgbClr val="12272D"/>
          </a:solidFill>
          <a:ln w="12700">
            <a:solidFill>
              <a:srgbClr val="294047"/>
            </a:solidFill>
            <a:prstDash val="solid"/>
          </a:ln>
        </p:spPr>
      </p:sp>
      <p:sp>
        <p:nvSpPr>
          <p:cNvPr id="30" name="Text 28"/>
          <p:cNvSpPr/>
          <p:nvPr/>
        </p:nvSpPr>
        <p:spPr>
          <a:xfrm>
            <a:off x="1463040" y="5660136"/>
            <a:ext cx="9281160" cy="246888"/>
          </a:xfrm>
          <a:prstGeom prst="rect">
            <a:avLst/>
          </a:prstGeom>
          <a:noFill/>
          <a:ln/>
        </p:spPr>
        <p:txBody>
          <a:bodyPr wrap="square" lIns="0" tIns="0" rIns="0" bIns="0" rtlCol="0" anchor="ctr">
            <a:normAutofit/>
          </a:bodyPr>
          <a:lstStyle/>
          <a:p>
            <a:pPr algn="ctr" indent="0" marL="0">
              <a:buNone/>
            </a:pPr>
            <a:r>
              <a:rPr lang="en-US" sz="1300" b="1" spc="50" kern="0" dirty="0">
                <a:solidFill>
                  <a:srgbClr val="F56F7C"/>
                </a:solidFill>
                <a:latin typeface="Avenir Next" pitchFamily="34" charset="0"/>
                <a:ea typeface="Avenir Next" pitchFamily="34" charset="-122"/>
                <a:cs typeface="Avenir Next" pitchFamily="34" charset="-120"/>
              </a:rPr>
              <a:t>NO DATA  ≠  ZERO HAZARD  ≠  OPEN ROUTE  ≠  HEALTHY SERVICE</a:t>
            </a:r>
            <a:endParaRPr lang="en-US" sz="1300" dirty="0"/>
          </a:p>
        </p:txBody>
      </p:sp>
      <p:sp>
        <p:nvSpPr>
          <p:cNvPr id="32" name="Shape 29"/>
          <p:cNvSpPr/>
          <p:nvPr/>
        </p:nvSpPr>
        <p:spPr>
          <a:xfrm>
            <a:off x="502920" y="292608"/>
            <a:ext cx="310896" cy="310896"/>
          </a:xfrm>
          <a:prstGeom prst="ellipse">
            <a:avLst/>
          </a:prstGeom>
          <a:solidFill>
            <a:srgbClr val="12272D"/>
          </a:solidFill>
          <a:ln w="12700">
            <a:solidFill>
              <a:srgbClr val="65E2CB"/>
            </a:solidFill>
            <a:prstDash val="solid"/>
          </a:ln>
        </p:spPr>
      </p:sp>
      <p:sp>
        <p:nvSpPr>
          <p:cNvPr id="33" name="Shape 30"/>
          <p:cNvSpPr/>
          <p:nvPr/>
        </p:nvSpPr>
        <p:spPr>
          <a:xfrm>
            <a:off x="597103" y="374904"/>
            <a:ext cx="118872" cy="118872"/>
          </a:xfrm>
          <a:prstGeom prst="ellipse">
            <a:avLst/>
          </a:prstGeom>
          <a:solidFill>
            <a:srgbClr val="071216"/>
          </a:solidFill>
          <a:ln w="12700">
            <a:solidFill>
              <a:srgbClr val="65E2CB"/>
            </a:solidFill>
            <a:prstDash val="solid"/>
          </a:ln>
        </p:spPr>
      </p:sp>
      <p:sp>
        <p:nvSpPr>
          <p:cNvPr id="34" name="Shape 31"/>
          <p:cNvSpPr/>
          <p:nvPr/>
        </p:nvSpPr>
        <p:spPr>
          <a:xfrm>
            <a:off x="658368" y="356616"/>
            <a:ext cx="0" cy="182880"/>
          </a:xfrm>
          <a:prstGeom prst="line">
            <a:avLst/>
          </a:prstGeom>
          <a:noFill/>
          <a:ln w="15240">
            <a:solidFill>
              <a:srgbClr val="65E2CB"/>
            </a:solidFill>
            <a:prstDash val="solid"/>
            <a:headEnd type="none"/>
            <a:tailEnd type="none"/>
          </a:ln>
        </p:spPr>
      </p:sp>
      <p:sp>
        <p:nvSpPr>
          <p:cNvPr id="35" name="Text 32"/>
          <p:cNvSpPr/>
          <p:nvPr/>
        </p:nvSpPr>
        <p:spPr>
          <a:xfrm>
            <a:off x="896112" y="310896"/>
            <a:ext cx="2011680" cy="201168"/>
          </a:xfrm>
          <a:prstGeom prst="rect">
            <a:avLst/>
          </a:prstGeom>
          <a:noFill/>
          <a:ln/>
        </p:spPr>
        <p:txBody>
          <a:bodyPr wrap="square" lIns="0" tIns="0" rIns="0" bIns="0" rtlCol="0" anchor="ctr">
            <a:normAutofit/>
          </a:bodyPr>
          <a:lstStyle/>
          <a:p>
            <a:pPr indent="0" marL="0">
              <a:buNone/>
            </a:pPr>
            <a:r>
              <a:rPr lang="en-US" sz="900" b="1" spc="140" kern="0" dirty="0">
                <a:solidFill>
                  <a:srgbClr val="9BB0B5"/>
                </a:solidFill>
                <a:latin typeface="Avenir Next" pitchFamily="34" charset="0"/>
                <a:ea typeface="Avenir Next" pitchFamily="34" charset="-122"/>
                <a:cs typeface="Avenir Next" pitchFamily="34" charset="-120"/>
              </a:rPr>
              <a:t>NL RESILIENCE LAB</a:t>
            </a:r>
            <a:endParaRPr lang="en-US" sz="900" dirty="0"/>
          </a:p>
        </p:txBody>
      </p:sp>
      <p:sp>
        <p:nvSpPr>
          <p:cNvPr id="36" name="Text 33"/>
          <p:cNvSpPr/>
          <p:nvPr/>
        </p:nvSpPr>
        <p:spPr>
          <a:xfrm>
            <a:off x="9052560" y="310896"/>
            <a:ext cx="2514600" cy="201168"/>
          </a:xfrm>
          <a:prstGeom prst="rect">
            <a:avLst/>
          </a:prstGeom>
          <a:noFill/>
          <a:ln/>
        </p:spPr>
        <p:txBody>
          <a:bodyPr wrap="square" lIns="0" tIns="0" rIns="0" bIns="0" rtlCol="0" anchor="ctr">
            <a:normAutofit/>
          </a:bodyPr>
          <a:lstStyle/>
          <a:p>
            <a:pPr algn="r" indent="0" marL="0">
              <a:buNone/>
            </a:pPr>
            <a:r>
              <a:rPr lang="en-US" sz="850" b="1" spc="125" kern="0" dirty="0">
                <a:solidFill>
                  <a:srgbClr val="688087"/>
                </a:solidFill>
                <a:latin typeface="Avenir Next" pitchFamily="34" charset="0"/>
                <a:ea typeface="Avenir Next" pitchFamily="34" charset="-122"/>
                <a:cs typeface="Avenir Next" pitchFamily="34" charset="-120"/>
              </a:rPr>
              <a:t>DATA COUPLING</a:t>
            </a:r>
            <a:endParaRPr lang="en-US" sz="850" dirty="0"/>
          </a:p>
        </p:txBody>
      </p:sp>
      <p:sp>
        <p:nvSpPr>
          <p:cNvPr id="37" name="Shape 34"/>
          <p:cNvSpPr/>
          <p:nvPr/>
        </p:nvSpPr>
        <p:spPr>
          <a:xfrm>
            <a:off x="502920" y="749808"/>
            <a:ext cx="10680192" cy="0"/>
          </a:xfrm>
          <a:prstGeom prst="line">
            <a:avLst/>
          </a:prstGeom>
          <a:noFill/>
          <a:ln w="8890">
            <a:solidFill>
              <a:srgbClr val="294047"/>
            </a:solidFill>
            <a:prstDash val="solid"/>
            <a:headEnd type="none"/>
            <a:tailEnd type="none"/>
          </a:ln>
        </p:spPr>
      </p:sp>
      <p:sp>
        <p:nvSpPr>
          <p:cNvPr id="25" name="Slide Number Placeholder 0"/>
          <p:cNvSpPr>
            <a:spLocks noGrp="1"/>
          </p:cNvSpPr>
          <p:nvPr>
            <p:ph type="sldNum" sz="quarter" idx="4294967295"/>
          </p:nvPr>
        </p:nvSpPr>
        <p:spPr>
          <a:xfrm>
            <a:off x="11119104" y="6446520"/>
            <a:ext cx="475488"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8087"/>
                </a:solidFill>
                <a:latin typeface="Avenir Next"/>
                <a:ea typeface="Avenir Next"/>
                <a:cs typeface="Avenir Next"/>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1216"/>
        </a:solidFill>
      </p:bgPr>
    </p:bg>
    <p:spTree>
      <p:nvGrpSpPr>
        <p:cNvPr id="1" name=""/>
        <p:cNvGrpSpPr/>
        <p:nvPr/>
      </p:nvGrpSpPr>
      <p:grpSpPr>
        <a:xfrm>
          <a:off x="0" y="0"/>
          <a:ext cx="0" cy="0"/>
          <a:chOff x="0" y="0"/>
          <a:chExt cx="0" cy="0"/>
        </a:xfrm>
      </p:grpSpPr>
      <p:sp>
        <p:nvSpPr>
          <p:cNvPr id="2" name="Text 0"/>
          <p:cNvSpPr/>
          <p:nvPr/>
        </p:nvSpPr>
        <p:spPr>
          <a:xfrm>
            <a:off x="594360" y="950976"/>
            <a:ext cx="2377440" cy="201168"/>
          </a:xfrm>
          <a:prstGeom prst="rect">
            <a:avLst/>
          </a:prstGeom>
          <a:noFill/>
          <a:ln/>
        </p:spPr>
        <p:txBody>
          <a:bodyPr wrap="square" lIns="0" tIns="0" rIns="0" bIns="0" rtlCol="0" anchor="ctr">
            <a:normAutofit/>
          </a:bodyPr>
          <a:lstStyle/>
          <a:p>
            <a:pPr indent="0" marL="0">
              <a:buNone/>
            </a:pPr>
            <a:r>
              <a:rPr lang="en-US" sz="900" b="1" spc="165" kern="0" dirty="0">
                <a:solidFill>
                  <a:srgbClr val="65E2CB"/>
                </a:solidFill>
                <a:latin typeface="Avenir Next" pitchFamily="34" charset="0"/>
                <a:ea typeface="Avenir Next" pitchFamily="34" charset="-122"/>
                <a:cs typeface="Avenir Next" pitchFamily="34" charset="-120"/>
              </a:rPr>
              <a:t>WHY THIS STATE?</a:t>
            </a:r>
            <a:endParaRPr lang="en-US" sz="900" dirty="0"/>
          </a:p>
        </p:txBody>
      </p:sp>
      <p:sp>
        <p:nvSpPr>
          <p:cNvPr id="3" name="Text 1"/>
          <p:cNvSpPr/>
          <p:nvPr/>
        </p:nvSpPr>
        <p:spPr>
          <a:xfrm>
            <a:off x="594360" y="1188720"/>
            <a:ext cx="10972800" cy="566928"/>
          </a:xfrm>
          <a:prstGeom prst="rect">
            <a:avLst/>
          </a:prstGeom>
          <a:noFill/>
          <a:ln/>
        </p:spPr>
        <p:txBody>
          <a:bodyPr wrap="square" lIns="0" tIns="0" rIns="0" bIns="0" rtlCol="0" anchor="ctr">
            <a:normAutofit/>
          </a:bodyPr>
          <a:lstStyle/>
          <a:p>
            <a:pPr indent="0" marL="0">
              <a:buNone/>
            </a:pPr>
            <a:r>
              <a:rPr lang="en-US" sz="2900" b="1" dirty="0">
                <a:solidFill>
                  <a:srgbClr val="F4F7F6"/>
                </a:solidFill>
                <a:latin typeface="Avenir Next" pitchFamily="34" charset="0"/>
                <a:ea typeface="Avenir Next" pitchFamily="34" charset="-122"/>
                <a:cs typeface="Avenir Next" pitchFamily="34" charset="-120"/>
              </a:rPr>
              <a:t>Explainability is part of the engine</a:t>
            </a:r>
            <a:endParaRPr lang="en-US" sz="2900" dirty="0"/>
          </a:p>
        </p:txBody>
      </p:sp>
      <p:sp>
        <p:nvSpPr>
          <p:cNvPr id="4" name="Text 2"/>
          <p:cNvSpPr/>
          <p:nvPr/>
        </p:nvSpPr>
        <p:spPr>
          <a:xfrm>
            <a:off x="594360" y="1746504"/>
            <a:ext cx="10789920" cy="393192"/>
          </a:xfrm>
          <a:prstGeom prst="rect">
            <a:avLst/>
          </a:prstGeom>
          <a:noFill/>
          <a:ln/>
        </p:spPr>
        <p:txBody>
          <a:bodyPr wrap="square" lIns="0" tIns="0" rIns="0" bIns="0" rtlCol="0" anchor="ctr">
            <a:normAutofit/>
          </a:bodyPr>
          <a:lstStyle/>
          <a:p>
            <a:pPr indent="0" marL="0">
              <a:buNone/>
            </a:pPr>
            <a:r>
              <a:rPr lang="en-US" sz="1250" dirty="0">
                <a:solidFill>
                  <a:srgbClr val="9BB0B5"/>
                </a:solidFill>
                <a:latin typeface="Avenir Next" pitchFamily="34" charset="0"/>
                <a:ea typeface="Avenir Next" pitchFamily="34" charset="-122"/>
                <a:cs typeface="Avenir Next" pitchFamily="34" charset="-120"/>
              </a:rPr>
              <a:t>Every municipality frame returns its own drivers, stage deltas and counterfactuals.</a:t>
            </a:r>
            <a:endParaRPr lang="en-US" sz="1250" dirty="0"/>
          </a:p>
        </p:txBody>
      </p:sp>
      <p:sp>
        <p:nvSpPr>
          <p:cNvPr id="5" name="Shape 3"/>
          <p:cNvSpPr/>
          <p:nvPr/>
        </p:nvSpPr>
        <p:spPr>
          <a:xfrm>
            <a:off x="640080" y="2240280"/>
            <a:ext cx="4617720" cy="3520440"/>
          </a:xfrm>
          <a:prstGeom prst="roundRect">
            <a:avLst>
              <a:gd name="adj" fmla="val 4156"/>
            </a:avLst>
          </a:prstGeom>
          <a:solidFill>
            <a:srgbClr val="0D1C21"/>
          </a:solidFill>
          <a:ln w="12700">
            <a:solidFill>
              <a:srgbClr val="294047"/>
            </a:solidFill>
            <a:prstDash val="solid"/>
          </a:ln>
        </p:spPr>
      </p:sp>
      <p:sp>
        <p:nvSpPr>
          <p:cNvPr id="6" name="Text 4"/>
          <p:cNvSpPr/>
          <p:nvPr/>
        </p:nvSpPr>
        <p:spPr>
          <a:xfrm>
            <a:off x="914400" y="2487168"/>
            <a:ext cx="3063240" cy="237744"/>
          </a:xfrm>
          <a:prstGeom prst="rect">
            <a:avLst/>
          </a:prstGeom>
          <a:noFill/>
          <a:ln/>
        </p:spPr>
        <p:txBody>
          <a:bodyPr wrap="square" lIns="0" tIns="0" rIns="0" bIns="0" rtlCol="0" anchor="ctr">
            <a:normAutofit/>
          </a:bodyPr>
          <a:lstStyle/>
          <a:p>
            <a:pPr indent="0" marL="0">
              <a:buNone/>
            </a:pPr>
            <a:r>
              <a:rPr lang="en-US" sz="950" b="1" spc="100" kern="0" dirty="0">
                <a:solidFill>
                  <a:srgbClr val="65E2CB"/>
                </a:solidFill>
                <a:latin typeface="Avenir Next" pitchFamily="34" charset="0"/>
                <a:ea typeface="Avenir Next" pitchFamily="34" charset="-122"/>
                <a:cs typeface="Avenir Next" pitchFamily="34" charset="-120"/>
              </a:rPr>
              <a:t>SERVICE AVAILABILITY TRACE</a:t>
            </a:r>
            <a:endParaRPr lang="en-US" sz="950" dirty="0"/>
          </a:p>
        </p:txBody>
      </p:sp>
      <p:sp>
        <p:nvSpPr>
          <p:cNvPr id="7" name="Shape 5"/>
          <p:cNvSpPr/>
          <p:nvPr/>
        </p:nvSpPr>
        <p:spPr>
          <a:xfrm>
            <a:off x="932688" y="2953512"/>
            <a:ext cx="100584" cy="100584"/>
          </a:xfrm>
          <a:prstGeom prst="ellipse">
            <a:avLst/>
          </a:prstGeom>
          <a:solidFill>
            <a:srgbClr val="59D5F6"/>
          </a:solidFill>
          <a:ln w="12700">
            <a:solidFill>
              <a:srgbClr val="59D5F6"/>
            </a:solidFill>
            <a:prstDash val="solid"/>
          </a:ln>
        </p:spPr>
      </p:sp>
      <p:sp>
        <p:nvSpPr>
          <p:cNvPr id="8" name="Text 6"/>
          <p:cNvSpPr/>
          <p:nvPr/>
        </p:nvSpPr>
        <p:spPr>
          <a:xfrm>
            <a:off x="1170432" y="2880360"/>
            <a:ext cx="2212848" cy="228600"/>
          </a:xfrm>
          <a:prstGeom prst="rect">
            <a:avLst/>
          </a:prstGeom>
          <a:noFill/>
          <a:ln/>
        </p:spPr>
        <p:txBody>
          <a:bodyPr wrap="square" lIns="0" tIns="0" rIns="0" bIns="0" rtlCol="0" anchor="ctr">
            <a:normAutofit/>
          </a:bodyPr>
          <a:lstStyle/>
          <a:p>
            <a:pPr indent="0" marL="0">
              <a:buNone/>
            </a:pPr>
            <a:r>
              <a:rPr lang="en-US" sz="880" b="1" spc="45" kern="0" dirty="0">
                <a:solidFill>
                  <a:srgbClr val="F4F7F6"/>
                </a:solidFill>
                <a:latin typeface="Avenir Next" pitchFamily="34" charset="0"/>
                <a:ea typeface="Avenir Next" pitchFamily="34" charset="-122"/>
                <a:cs typeface="Avenir Next" pitchFamily="34" charset="-120"/>
              </a:rPr>
              <a:t>BASELINE RESILIENCE</a:t>
            </a:r>
            <a:endParaRPr lang="en-US" sz="880" dirty="0"/>
          </a:p>
        </p:txBody>
      </p:sp>
      <p:sp>
        <p:nvSpPr>
          <p:cNvPr id="9" name="Text 7"/>
          <p:cNvSpPr/>
          <p:nvPr/>
        </p:nvSpPr>
        <p:spPr>
          <a:xfrm>
            <a:off x="3310128" y="2880360"/>
            <a:ext cx="1572768" cy="228600"/>
          </a:xfrm>
          <a:prstGeom prst="rect">
            <a:avLst/>
          </a:prstGeom>
          <a:noFill/>
          <a:ln/>
        </p:spPr>
        <p:txBody>
          <a:bodyPr wrap="square" lIns="0" tIns="0" rIns="0" bIns="0" rtlCol="0" anchor="ctr">
            <a:normAutofit/>
          </a:bodyPr>
          <a:lstStyle/>
          <a:p>
            <a:pPr algn="r" indent="0" marL="0">
              <a:buNone/>
            </a:pPr>
            <a:r>
              <a:rPr lang="en-US" sz="850" dirty="0">
                <a:solidFill>
                  <a:srgbClr val="9BB0B5"/>
                </a:solidFill>
                <a:latin typeface="Avenir Next" pitchFamily="34" charset="0"/>
                <a:ea typeface="Avenir Next" pitchFamily="34" charset="-122"/>
                <a:cs typeface="Avenir Next" pitchFamily="34" charset="-120"/>
              </a:rPr>
              <a:t>starting state</a:t>
            </a:r>
            <a:endParaRPr lang="en-US" sz="850" dirty="0"/>
          </a:p>
        </p:txBody>
      </p:sp>
      <p:sp>
        <p:nvSpPr>
          <p:cNvPr id="10" name="Shape 8"/>
          <p:cNvSpPr/>
          <p:nvPr/>
        </p:nvSpPr>
        <p:spPr>
          <a:xfrm>
            <a:off x="978408" y="3081528"/>
            <a:ext cx="0" cy="265176"/>
          </a:xfrm>
          <a:prstGeom prst="line">
            <a:avLst/>
          </a:prstGeom>
          <a:noFill/>
          <a:ln w="10160">
            <a:solidFill>
              <a:srgbClr val="294047"/>
            </a:solidFill>
            <a:prstDash val="solid"/>
            <a:headEnd type="none"/>
            <a:tailEnd type="none"/>
          </a:ln>
        </p:spPr>
      </p:sp>
      <p:sp>
        <p:nvSpPr>
          <p:cNvPr id="11" name="Shape 9"/>
          <p:cNvSpPr/>
          <p:nvPr/>
        </p:nvSpPr>
        <p:spPr>
          <a:xfrm>
            <a:off x="932688" y="3392424"/>
            <a:ext cx="100584" cy="100584"/>
          </a:xfrm>
          <a:prstGeom prst="ellipse">
            <a:avLst/>
          </a:prstGeom>
          <a:solidFill>
            <a:srgbClr val="F56F7C"/>
          </a:solidFill>
          <a:ln w="12700">
            <a:solidFill>
              <a:srgbClr val="F56F7C"/>
            </a:solidFill>
            <a:prstDash val="solid"/>
          </a:ln>
        </p:spPr>
      </p:sp>
      <p:sp>
        <p:nvSpPr>
          <p:cNvPr id="12" name="Text 10"/>
          <p:cNvSpPr/>
          <p:nvPr/>
        </p:nvSpPr>
        <p:spPr>
          <a:xfrm>
            <a:off x="1170432" y="3319272"/>
            <a:ext cx="2212848" cy="228600"/>
          </a:xfrm>
          <a:prstGeom prst="rect">
            <a:avLst/>
          </a:prstGeom>
          <a:noFill/>
          <a:ln/>
        </p:spPr>
        <p:txBody>
          <a:bodyPr wrap="square" lIns="0" tIns="0" rIns="0" bIns="0" rtlCol="0" anchor="ctr">
            <a:normAutofit/>
          </a:bodyPr>
          <a:lstStyle/>
          <a:p>
            <a:pPr indent="0" marL="0">
              <a:buNone/>
            </a:pPr>
            <a:r>
              <a:rPr lang="en-US" sz="880" b="1" spc="45" kern="0" dirty="0">
                <a:solidFill>
                  <a:srgbClr val="F4F7F6"/>
                </a:solidFill>
                <a:latin typeface="Avenir Next" pitchFamily="34" charset="0"/>
                <a:ea typeface="Avenir Next" pitchFamily="34" charset="-122"/>
                <a:cs typeface="Avenir Next" pitchFamily="34" charset="-120"/>
              </a:rPr>
              <a:t>DIRECT HAZARD</a:t>
            </a:r>
            <a:endParaRPr lang="en-US" sz="880" dirty="0"/>
          </a:p>
        </p:txBody>
      </p:sp>
      <p:sp>
        <p:nvSpPr>
          <p:cNvPr id="13" name="Text 11"/>
          <p:cNvSpPr/>
          <p:nvPr/>
        </p:nvSpPr>
        <p:spPr>
          <a:xfrm>
            <a:off x="3310128" y="3319272"/>
            <a:ext cx="1572768" cy="228600"/>
          </a:xfrm>
          <a:prstGeom prst="rect">
            <a:avLst/>
          </a:prstGeom>
          <a:noFill/>
          <a:ln/>
        </p:spPr>
        <p:txBody>
          <a:bodyPr wrap="square" lIns="0" tIns="0" rIns="0" bIns="0" rtlCol="0" anchor="ctr">
            <a:normAutofit/>
          </a:bodyPr>
          <a:lstStyle/>
          <a:p>
            <a:pPr algn="r" indent="0" marL="0">
              <a:buNone/>
            </a:pPr>
            <a:r>
              <a:rPr lang="en-US" sz="850" dirty="0">
                <a:solidFill>
                  <a:srgbClr val="9BB0B5"/>
                </a:solidFill>
                <a:latin typeface="Avenir Next" pitchFamily="34" charset="0"/>
                <a:ea typeface="Avenir Next" pitchFamily="34" charset="-122"/>
                <a:cs typeface="Avenir Next" pitchFamily="34" charset="-120"/>
              </a:rPr>
              <a:t>exact stage change</a:t>
            </a:r>
            <a:endParaRPr lang="en-US" sz="850" dirty="0"/>
          </a:p>
        </p:txBody>
      </p:sp>
      <p:sp>
        <p:nvSpPr>
          <p:cNvPr id="14" name="Shape 12"/>
          <p:cNvSpPr/>
          <p:nvPr/>
        </p:nvSpPr>
        <p:spPr>
          <a:xfrm>
            <a:off x="978408" y="3520440"/>
            <a:ext cx="0" cy="265176"/>
          </a:xfrm>
          <a:prstGeom prst="line">
            <a:avLst/>
          </a:prstGeom>
          <a:noFill/>
          <a:ln w="10160">
            <a:solidFill>
              <a:srgbClr val="294047"/>
            </a:solidFill>
            <a:prstDash val="solid"/>
            <a:headEnd type="none"/>
            <a:tailEnd type="none"/>
          </a:ln>
        </p:spPr>
      </p:sp>
      <p:sp>
        <p:nvSpPr>
          <p:cNvPr id="15" name="Shape 13"/>
          <p:cNvSpPr/>
          <p:nvPr/>
        </p:nvSpPr>
        <p:spPr>
          <a:xfrm>
            <a:off x="932688" y="3831336"/>
            <a:ext cx="100584" cy="100584"/>
          </a:xfrm>
          <a:prstGeom prst="ellipse">
            <a:avLst/>
          </a:prstGeom>
          <a:solidFill>
            <a:srgbClr val="89D49A"/>
          </a:solidFill>
          <a:ln w="12700">
            <a:solidFill>
              <a:srgbClr val="89D49A"/>
            </a:solidFill>
            <a:prstDash val="solid"/>
          </a:ln>
        </p:spPr>
      </p:sp>
      <p:sp>
        <p:nvSpPr>
          <p:cNvPr id="16" name="Text 14"/>
          <p:cNvSpPr/>
          <p:nvPr/>
        </p:nvSpPr>
        <p:spPr>
          <a:xfrm>
            <a:off x="1170432" y="3758184"/>
            <a:ext cx="2212848" cy="228600"/>
          </a:xfrm>
          <a:prstGeom prst="rect">
            <a:avLst/>
          </a:prstGeom>
          <a:noFill/>
          <a:ln/>
        </p:spPr>
        <p:txBody>
          <a:bodyPr wrap="square" lIns="0" tIns="0" rIns="0" bIns="0" rtlCol="0" anchor="ctr">
            <a:normAutofit/>
          </a:bodyPr>
          <a:lstStyle/>
          <a:p>
            <a:pPr indent="0" marL="0">
              <a:buNone/>
            </a:pPr>
            <a:r>
              <a:rPr lang="en-US" sz="880" b="1" spc="45" kern="0" dirty="0">
                <a:solidFill>
                  <a:srgbClr val="F4F7F6"/>
                </a:solidFill>
                <a:latin typeface="Avenir Next" pitchFamily="34" charset="0"/>
                <a:ea typeface="Avenir Next" pitchFamily="34" charset="-122"/>
                <a:cs typeface="Avenir Next" pitchFamily="34" charset="-120"/>
              </a:rPr>
              <a:t>RESTORATION</a:t>
            </a:r>
            <a:endParaRPr lang="en-US" sz="880" dirty="0"/>
          </a:p>
        </p:txBody>
      </p:sp>
      <p:sp>
        <p:nvSpPr>
          <p:cNvPr id="17" name="Text 15"/>
          <p:cNvSpPr/>
          <p:nvPr/>
        </p:nvSpPr>
        <p:spPr>
          <a:xfrm>
            <a:off x="3310128" y="3758184"/>
            <a:ext cx="1572768" cy="228600"/>
          </a:xfrm>
          <a:prstGeom prst="rect">
            <a:avLst/>
          </a:prstGeom>
          <a:noFill/>
          <a:ln/>
        </p:spPr>
        <p:txBody>
          <a:bodyPr wrap="square" lIns="0" tIns="0" rIns="0" bIns="0" rtlCol="0" anchor="ctr">
            <a:normAutofit/>
          </a:bodyPr>
          <a:lstStyle/>
          <a:p>
            <a:pPr algn="r" indent="0" marL="0">
              <a:buNone/>
            </a:pPr>
            <a:r>
              <a:rPr lang="en-US" sz="850" dirty="0">
                <a:solidFill>
                  <a:srgbClr val="9BB0B5"/>
                </a:solidFill>
                <a:latin typeface="Avenir Next" pitchFamily="34" charset="0"/>
                <a:ea typeface="Avenir Next" pitchFamily="34" charset="-122"/>
                <a:cs typeface="Avenir Next" pitchFamily="34" charset="-120"/>
              </a:rPr>
              <a:t>repair progress</a:t>
            </a:r>
            <a:endParaRPr lang="en-US" sz="850" dirty="0"/>
          </a:p>
        </p:txBody>
      </p:sp>
      <p:sp>
        <p:nvSpPr>
          <p:cNvPr id="18" name="Shape 16"/>
          <p:cNvSpPr/>
          <p:nvPr/>
        </p:nvSpPr>
        <p:spPr>
          <a:xfrm>
            <a:off x="978408" y="3959352"/>
            <a:ext cx="0" cy="265176"/>
          </a:xfrm>
          <a:prstGeom prst="line">
            <a:avLst/>
          </a:prstGeom>
          <a:noFill/>
          <a:ln w="10160">
            <a:solidFill>
              <a:srgbClr val="294047"/>
            </a:solidFill>
            <a:prstDash val="solid"/>
            <a:headEnd type="none"/>
            <a:tailEnd type="none"/>
          </a:ln>
        </p:spPr>
      </p:sp>
      <p:sp>
        <p:nvSpPr>
          <p:cNvPr id="19" name="Shape 17"/>
          <p:cNvSpPr/>
          <p:nvPr/>
        </p:nvSpPr>
        <p:spPr>
          <a:xfrm>
            <a:off x="932688" y="4270248"/>
            <a:ext cx="100584" cy="100584"/>
          </a:xfrm>
          <a:prstGeom prst="ellipse">
            <a:avLst/>
          </a:prstGeom>
          <a:solidFill>
            <a:srgbClr val="F4B85D"/>
          </a:solidFill>
          <a:ln w="12700">
            <a:solidFill>
              <a:srgbClr val="F4B85D"/>
            </a:solidFill>
            <a:prstDash val="solid"/>
          </a:ln>
        </p:spPr>
      </p:sp>
      <p:sp>
        <p:nvSpPr>
          <p:cNvPr id="20" name="Text 18"/>
          <p:cNvSpPr/>
          <p:nvPr/>
        </p:nvSpPr>
        <p:spPr>
          <a:xfrm>
            <a:off x="1170432" y="4197096"/>
            <a:ext cx="2212848" cy="228600"/>
          </a:xfrm>
          <a:prstGeom prst="rect">
            <a:avLst/>
          </a:prstGeom>
          <a:noFill/>
          <a:ln/>
        </p:spPr>
        <p:txBody>
          <a:bodyPr wrap="square" lIns="0" tIns="0" rIns="0" bIns="0" rtlCol="0" anchor="ctr">
            <a:normAutofit/>
          </a:bodyPr>
          <a:lstStyle/>
          <a:p>
            <a:pPr indent="0" marL="0">
              <a:buNone/>
            </a:pPr>
            <a:r>
              <a:rPr lang="en-US" sz="880" b="1" spc="45" kern="0" dirty="0">
                <a:solidFill>
                  <a:srgbClr val="F4F7F6"/>
                </a:solidFill>
                <a:latin typeface="Avenir Next" pitchFamily="34" charset="0"/>
                <a:ea typeface="Avenir Next" pitchFamily="34" charset="-122"/>
                <a:cs typeface="Avenir Next" pitchFamily="34" charset="-120"/>
              </a:rPr>
              <a:t>UPSTREAM DEPENDENCY</a:t>
            </a:r>
            <a:endParaRPr lang="en-US" sz="880" dirty="0"/>
          </a:p>
        </p:txBody>
      </p:sp>
      <p:sp>
        <p:nvSpPr>
          <p:cNvPr id="21" name="Text 19"/>
          <p:cNvSpPr/>
          <p:nvPr/>
        </p:nvSpPr>
        <p:spPr>
          <a:xfrm>
            <a:off x="3310128" y="4197096"/>
            <a:ext cx="1572768" cy="228600"/>
          </a:xfrm>
          <a:prstGeom prst="rect">
            <a:avLst/>
          </a:prstGeom>
          <a:noFill/>
          <a:ln/>
        </p:spPr>
        <p:txBody>
          <a:bodyPr wrap="square" lIns="0" tIns="0" rIns="0" bIns="0" rtlCol="0" anchor="ctr">
            <a:normAutofit/>
          </a:bodyPr>
          <a:lstStyle/>
          <a:p>
            <a:pPr algn="r" indent="0" marL="0">
              <a:buNone/>
            </a:pPr>
            <a:r>
              <a:rPr lang="en-US" sz="850" dirty="0">
                <a:solidFill>
                  <a:srgbClr val="9BB0B5"/>
                </a:solidFill>
                <a:latin typeface="Avenir Next" pitchFamily="34" charset="0"/>
                <a:ea typeface="Avenir Next" pitchFamily="34" charset="-122"/>
                <a:cs typeface="Avenir Next" pitchFamily="34" charset="-120"/>
              </a:rPr>
              <a:t>power / mobility effect</a:t>
            </a:r>
            <a:endParaRPr lang="en-US" sz="850" dirty="0"/>
          </a:p>
        </p:txBody>
      </p:sp>
      <p:sp>
        <p:nvSpPr>
          <p:cNvPr id="22" name="Shape 20"/>
          <p:cNvSpPr/>
          <p:nvPr/>
        </p:nvSpPr>
        <p:spPr>
          <a:xfrm>
            <a:off x="978408" y="4398264"/>
            <a:ext cx="0" cy="265176"/>
          </a:xfrm>
          <a:prstGeom prst="line">
            <a:avLst/>
          </a:prstGeom>
          <a:noFill/>
          <a:ln w="10160">
            <a:solidFill>
              <a:srgbClr val="294047"/>
            </a:solidFill>
            <a:prstDash val="solid"/>
            <a:headEnd type="none"/>
            <a:tailEnd type="none"/>
          </a:ln>
        </p:spPr>
      </p:sp>
      <p:sp>
        <p:nvSpPr>
          <p:cNvPr id="23" name="Shape 21"/>
          <p:cNvSpPr/>
          <p:nvPr/>
        </p:nvSpPr>
        <p:spPr>
          <a:xfrm>
            <a:off x="932688" y="4709160"/>
            <a:ext cx="100584" cy="100584"/>
          </a:xfrm>
          <a:prstGeom prst="ellipse">
            <a:avLst/>
          </a:prstGeom>
          <a:solidFill>
            <a:srgbClr val="B784F5"/>
          </a:solidFill>
          <a:ln w="12700">
            <a:solidFill>
              <a:srgbClr val="B784F5"/>
            </a:solidFill>
            <a:prstDash val="solid"/>
          </a:ln>
        </p:spPr>
      </p:sp>
      <p:sp>
        <p:nvSpPr>
          <p:cNvPr id="24" name="Text 22"/>
          <p:cNvSpPr/>
          <p:nvPr/>
        </p:nvSpPr>
        <p:spPr>
          <a:xfrm>
            <a:off x="1170432" y="4636008"/>
            <a:ext cx="2212848" cy="228600"/>
          </a:xfrm>
          <a:prstGeom prst="rect">
            <a:avLst/>
          </a:prstGeom>
          <a:noFill/>
          <a:ln/>
        </p:spPr>
        <p:txBody>
          <a:bodyPr wrap="square" lIns="0" tIns="0" rIns="0" bIns="0" rtlCol="0" anchor="ctr">
            <a:normAutofit/>
          </a:bodyPr>
          <a:lstStyle/>
          <a:p>
            <a:pPr indent="0" marL="0">
              <a:buNone/>
            </a:pPr>
            <a:r>
              <a:rPr lang="en-US" sz="880" b="1" spc="45" kern="0" dirty="0">
                <a:solidFill>
                  <a:srgbClr val="F4F7F6"/>
                </a:solidFill>
                <a:latin typeface="Avenir Next" pitchFamily="34" charset="0"/>
                <a:ea typeface="Avenir Next" pitchFamily="34" charset="-122"/>
                <a:cs typeface="Avenir Next" pitchFamily="34" charset="-120"/>
              </a:rPr>
              <a:t>INTERVENTION</a:t>
            </a:r>
            <a:endParaRPr lang="en-US" sz="880" dirty="0"/>
          </a:p>
        </p:txBody>
      </p:sp>
      <p:sp>
        <p:nvSpPr>
          <p:cNvPr id="25" name="Text 23"/>
          <p:cNvSpPr/>
          <p:nvPr/>
        </p:nvSpPr>
        <p:spPr>
          <a:xfrm>
            <a:off x="3310128" y="4636008"/>
            <a:ext cx="1572768" cy="228600"/>
          </a:xfrm>
          <a:prstGeom prst="rect">
            <a:avLst/>
          </a:prstGeom>
          <a:noFill/>
          <a:ln/>
        </p:spPr>
        <p:txBody>
          <a:bodyPr wrap="square" lIns="0" tIns="0" rIns="0" bIns="0" rtlCol="0" anchor="ctr">
            <a:normAutofit/>
          </a:bodyPr>
          <a:lstStyle/>
          <a:p>
            <a:pPr algn="r" indent="0" marL="0">
              <a:buNone/>
            </a:pPr>
            <a:r>
              <a:rPr lang="en-US" sz="850" dirty="0">
                <a:solidFill>
                  <a:srgbClr val="9BB0B5"/>
                </a:solidFill>
                <a:latin typeface="Avenir Next" pitchFamily="34" charset="0"/>
                <a:ea typeface="Avenir Next" pitchFamily="34" charset="-122"/>
                <a:cs typeface="Avenir Next" pitchFamily="34" charset="-120"/>
              </a:rPr>
              <a:t>selected policy effect</a:t>
            </a:r>
            <a:endParaRPr lang="en-US" sz="850" dirty="0"/>
          </a:p>
        </p:txBody>
      </p:sp>
      <p:sp>
        <p:nvSpPr>
          <p:cNvPr id="26" name="Shape 24"/>
          <p:cNvSpPr/>
          <p:nvPr/>
        </p:nvSpPr>
        <p:spPr>
          <a:xfrm>
            <a:off x="978408" y="4837176"/>
            <a:ext cx="0" cy="265176"/>
          </a:xfrm>
          <a:prstGeom prst="line">
            <a:avLst/>
          </a:prstGeom>
          <a:noFill/>
          <a:ln w="10160">
            <a:solidFill>
              <a:srgbClr val="294047"/>
            </a:solidFill>
            <a:prstDash val="solid"/>
            <a:headEnd type="none"/>
            <a:tailEnd type="none"/>
          </a:ln>
        </p:spPr>
      </p:sp>
      <p:sp>
        <p:nvSpPr>
          <p:cNvPr id="27" name="Shape 25"/>
          <p:cNvSpPr/>
          <p:nvPr/>
        </p:nvSpPr>
        <p:spPr>
          <a:xfrm>
            <a:off x="932688" y="5148072"/>
            <a:ext cx="100584" cy="100584"/>
          </a:xfrm>
          <a:prstGeom prst="ellipse">
            <a:avLst/>
          </a:prstGeom>
          <a:solidFill>
            <a:srgbClr val="65E2CB"/>
          </a:solidFill>
          <a:ln w="12700">
            <a:solidFill>
              <a:srgbClr val="65E2CB"/>
            </a:solidFill>
            <a:prstDash val="solid"/>
          </a:ln>
        </p:spPr>
      </p:sp>
      <p:sp>
        <p:nvSpPr>
          <p:cNvPr id="28" name="Text 26"/>
          <p:cNvSpPr/>
          <p:nvPr/>
        </p:nvSpPr>
        <p:spPr>
          <a:xfrm>
            <a:off x="1170432" y="5074920"/>
            <a:ext cx="2212848" cy="228600"/>
          </a:xfrm>
          <a:prstGeom prst="rect">
            <a:avLst/>
          </a:prstGeom>
          <a:noFill/>
          <a:ln/>
        </p:spPr>
        <p:txBody>
          <a:bodyPr wrap="square" lIns="0" tIns="0" rIns="0" bIns="0" rtlCol="0" anchor="ctr">
            <a:normAutofit/>
          </a:bodyPr>
          <a:lstStyle/>
          <a:p>
            <a:pPr indent="0" marL="0">
              <a:buNone/>
            </a:pPr>
            <a:r>
              <a:rPr lang="en-US" sz="880" b="1" spc="45" kern="0" dirty="0">
                <a:solidFill>
                  <a:srgbClr val="F4F7F6"/>
                </a:solidFill>
                <a:latin typeface="Avenir Next" pitchFamily="34" charset="0"/>
                <a:ea typeface="Avenir Next" pitchFamily="34" charset="-122"/>
                <a:cs typeface="Avenir Next" pitchFamily="34" charset="-120"/>
              </a:rPr>
              <a:t>NETWORK TRANSFER</a:t>
            </a:r>
            <a:endParaRPr lang="en-US" sz="880" dirty="0"/>
          </a:p>
        </p:txBody>
      </p:sp>
      <p:sp>
        <p:nvSpPr>
          <p:cNvPr id="29" name="Text 27"/>
          <p:cNvSpPr/>
          <p:nvPr/>
        </p:nvSpPr>
        <p:spPr>
          <a:xfrm>
            <a:off x="3310128" y="5074920"/>
            <a:ext cx="1572768" cy="228600"/>
          </a:xfrm>
          <a:prstGeom prst="rect">
            <a:avLst/>
          </a:prstGeom>
          <a:noFill/>
          <a:ln/>
        </p:spPr>
        <p:txBody>
          <a:bodyPr wrap="square" lIns="0" tIns="0" rIns="0" bIns="0" rtlCol="0" anchor="ctr">
            <a:normAutofit/>
          </a:bodyPr>
          <a:lstStyle/>
          <a:p>
            <a:pPr algn="r" indent="0" marL="0">
              <a:buNone/>
            </a:pPr>
            <a:r>
              <a:rPr lang="en-US" sz="850" dirty="0">
                <a:solidFill>
                  <a:srgbClr val="9BB0B5"/>
                </a:solidFill>
                <a:latin typeface="Avenir Next" pitchFamily="34" charset="0"/>
                <a:ea typeface="Avenir Next" pitchFamily="34" charset="-122"/>
                <a:cs typeface="Avenir Next" pitchFamily="34" charset="-120"/>
              </a:rPr>
              <a:t>supported route effect</a:t>
            </a:r>
            <a:endParaRPr lang="en-US" sz="850" dirty="0"/>
          </a:p>
        </p:txBody>
      </p:sp>
      <p:sp>
        <p:nvSpPr>
          <p:cNvPr id="30" name="Shape 28"/>
          <p:cNvSpPr/>
          <p:nvPr/>
        </p:nvSpPr>
        <p:spPr>
          <a:xfrm>
            <a:off x="5669280" y="2267712"/>
            <a:ext cx="2633472" cy="1298448"/>
          </a:xfrm>
          <a:prstGeom prst="roundRect">
            <a:avLst>
              <a:gd name="adj" fmla="val 9859"/>
            </a:avLst>
          </a:prstGeom>
          <a:solidFill>
            <a:srgbClr val="0D1C21"/>
          </a:solidFill>
          <a:ln w="12700">
            <a:solidFill>
              <a:srgbClr val="294047"/>
            </a:solidFill>
            <a:prstDash val="solid"/>
          </a:ln>
        </p:spPr>
      </p:sp>
      <p:sp>
        <p:nvSpPr>
          <p:cNvPr id="31" name="Shape 29"/>
          <p:cNvSpPr/>
          <p:nvPr/>
        </p:nvSpPr>
        <p:spPr>
          <a:xfrm>
            <a:off x="5669280" y="2267712"/>
            <a:ext cx="50292" cy="1298448"/>
          </a:xfrm>
          <a:prstGeom prst="rect">
            <a:avLst/>
          </a:prstGeom>
          <a:solidFill>
            <a:srgbClr val="59D5F6"/>
          </a:solidFill>
          <a:ln w="12700">
            <a:solidFill>
              <a:srgbClr val="59D5F6"/>
            </a:solidFill>
            <a:prstDash val="solid"/>
          </a:ln>
        </p:spPr>
      </p:sp>
      <p:sp>
        <p:nvSpPr>
          <p:cNvPr id="32" name="Text 30"/>
          <p:cNvSpPr/>
          <p:nvPr/>
        </p:nvSpPr>
        <p:spPr>
          <a:xfrm>
            <a:off x="5907024" y="2441448"/>
            <a:ext cx="2221992" cy="219456"/>
          </a:xfrm>
          <a:prstGeom prst="rect">
            <a:avLst/>
          </a:prstGeom>
          <a:noFill/>
          <a:ln/>
        </p:spPr>
        <p:txBody>
          <a:bodyPr wrap="square" lIns="0" tIns="0" rIns="0" bIns="0" rtlCol="0" anchor="ctr">
            <a:normAutofit/>
          </a:bodyPr>
          <a:lstStyle/>
          <a:p>
            <a:pPr indent="0" marL="0">
              <a:buNone/>
            </a:pPr>
            <a:r>
              <a:rPr lang="en-US" sz="950" b="1" spc="100" kern="0" dirty="0">
                <a:solidFill>
                  <a:srgbClr val="59D5F6"/>
                </a:solidFill>
                <a:latin typeface="Avenir Next" pitchFamily="34" charset="0"/>
                <a:ea typeface="Avenir Next" pitchFamily="34" charset="-122"/>
                <a:cs typeface="Avenir Next" pitchFamily="34" charset="-120"/>
              </a:rPr>
              <a:t>DRIVERS</a:t>
            </a:r>
            <a:endParaRPr lang="en-US" sz="950" dirty="0"/>
          </a:p>
        </p:txBody>
      </p:sp>
      <p:sp>
        <p:nvSpPr>
          <p:cNvPr id="33" name="Text 31"/>
          <p:cNvSpPr/>
          <p:nvPr/>
        </p:nvSpPr>
        <p:spPr>
          <a:xfrm>
            <a:off x="5907024" y="2752344"/>
            <a:ext cx="2212848" cy="676656"/>
          </a:xfrm>
          <a:prstGeom prst="rect">
            <a:avLst/>
          </a:prstGeom>
          <a:noFill/>
          <a:ln/>
        </p:spPr>
        <p:txBody>
          <a:bodyPr wrap="square" lIns="0" tIns="0" rIns="0" bIns="0" rtlCol="0" anchor="t">
            <a:normAutofit/>
          </a:bodyPr>
          <a:lstStyle/>
          <a:p>
            <a:pPr indent="0" marL="0">
              <a:buNone/>
            </a:pPr>
            <a:r>
              <a:rPr lang="en-US" sz="1040" dirty="0">
                <a:solidFill>
                  <a:srgbClr val="F4F7F6"/>
                </a:solidFill>
                <a:latin typeface="Avenir Next" pitchFamily="34" charset="0"/>
                <a:ea typeface="Avenir Next" pitchFamily="34" charset="-122"/>
                <a:cs typeface="Avenir Next" pitchFamily="34" charset="-120"/>
              </a:rPr>
              <a:t>Which inputs and assumptions were active?</a:t>
            </a:r>
            <a:endParaRPr lang="en-US" sz="1040" dirty="0"/>
          </a:p>
        </p:txBody>
      </p:sp>
      <p:sp>
        <p:nvSpPr>
          <p:cNvPr id="34" name="Shape 32"/>
          <p:cNvSpPr/>
          <p:nvPr/>
        </p:nvSpPr>
        <p:spPr>
          <a:xfrm>
            <a:off x="8549640" y="2267712"/>
            <a:ext cx="2633472" cy="1298448"/>
          </a:xfrm>
          <a:prstGeom prst="roundRect">
            <a:avLst>
              <a:gd name="adj" fmla="val 9859"/>
            </a:avLst>
          </a:prstGeom>
          <a:solidFill>
            <a:srgbClr val="0D1C21"/>
          </a:solidFill>
          <a:ln w="12700">
            <a:solidFill>
              <a:srgbClr val="294047"/>
            </a:solidFill>
            <a:prstDash val="solid"/>
          </a:ln>
        </p:spPr>
      </p:sp>
      <p:sp>
        <p:nvSpPr>
          <p:cNvPr id="35" name="Shape 33"/>
          <p:cNvSpPr/>
          <p:nvPr/>
        </p:nvSpPr>
        <p:spPr>
          <a:xfrm>
            <a:off x="8549640" y="2267712"/>
            <a:ext cx="50292" cy="1298448"/>
          </a:xfrm>
          <a:prstGeom prst="rect">
            <a:avLst/>
          </a:prstGeom>
          <a:solidFill>
            <a:srgbClr val="65E2CB"/>
          </a:solidFill>
          <a:ln w="12700">
            <a:solidFill>
              <a:srgbClr val="65E2CB"/>
            </a:solidFill>
            <a:prstDash val="solid"/>
          </a:ln>
        </p:spPr>
      </p:sp>
      <p:sp>
        <p:nvSpPr>
          <p:cNvPr id="36" name="Text 34"/>
          <p:cNvSpPr/>
          <p:nvPr/>
        </p:nvSpPr>
        <p:spPr>
          <a:xfrm>
            <a:off x="8787384" y="2441448"/>
            <a:ext cx="2221992" cy="219456"/>
          </a:xfrm>
          <a:prstGeom prst="rect">
            <a:avLst/>
          </a:prstGeom>
          <a:noFill/>
          <a:ln/>
        </p:spPr>
        <p:txBody>
          <a:bodyPr wrap="square" lIns="0" tIns="0" rIns="0" bIns="0" rtlCol="0" anchor="ctr">
            <a:normAutofit/>
          </a:bodyPr>
          <a:lstStyle/>
          <a:p>
            <a:pPr indent="0" marL="0">
              <a:buNone/>
            </a:pPr>
            <a:r>
              <a:rPr lang="en-US" sz="950" b="1" spc="100" kern="0" dirty="0">
                <a:solidFill>
                  <a:srgbClr val="65E2CB"/>
                </a:solidFill>
                <a:latin typeface="Avenir Next" pitchFamily="34" charset="0"/>
                <a:ea typeface="Avenir Next" pitchFamily="34" charset="-122"/>
                <a:cs typeface="Avenir Next" pitchFamily="34" charset="-120"/>
              </a:rPr>
              <a:t>CONTRIBUTIONS</a:t>
            </a:r>
            <a:endParaRPr lang="en-US" sz="950" dirty="0"/>
          </a:p>
        </p:txBody>
      </p:sp>
      <p:sp>
        <p:nvSpPr>
          <p:cNvPr id="37" name="Text 35"/>
          <p:cNvSpPr/>
          <p:nvPr/>
        </p:nvSpPr>
        <p:spPr>
          <a:xfrm>
            <a:off x="8787384" y="2752344"/>
            <a:ext cx="2212848" cy="676656"/>
          </a:xfrm>
          <a:prstGeom prst="rect">
            <a:avLst/>
          </a:prstGeom>
          <a:noFill/>
          <a:ln/>
        </p:spPr>
        <p:txBody>
          <a:bodyPr wrap="square" lIns="0" tIns="0" rIns="0" bIns="0" rtlCol="0" anchor="t">
            <a:normAutofit/>
          </a:bodyPr>
          <a:lstStyle/>
          <a:p>
            <a:pPr indent="0" marL="0">
              <a:buNone/>
            </a:pPr>
            <a:r>
              <a:rPr lang="en-US" sz="1040" dirty="0">
                <a:solidFill>
                  <a:srgbClr val="F4F7F6"/>
                </a:solidFill>
                <a:latin typeface="Avenir Next" pitchFamily="34" charset="0"/>
                <a:ea typeface="Avenir Next" pitchFamily="34" charset="-122"/>
                <a:cs typeface="Avenir Next" pitchFamily="34" charset="-120"/>
              </a:rPr>
              <a:t>Which stage increased or reduced availability?</a:t>
            </a:r>
            <a:endParaRPr lang="en-US" sz="1040" dirty="0"/>
          </a:p>
        </p:txBody>
      </p:sp>
      <p:sp>
        <p:nvSpPr>
          <p:cNvPr id="38" name="Shape 36"/>
          <p:cNvSpPr/>
          <p:nvPr/>
        </p:nvSpPr>
        <p:spPr>
          <a:xfrm>
            <a:off x="5669280" y="3840480"/>
            <a:ext cx="2633472" cy="1298448"/>
          </a:xfrm>
          <a:prstGeom prst="roundRect">
            <a:avLst>
              <a:gd name="adj" fmla="val 9859"/>
            </a:avLst>
          </a:prstGeom>
          <a:solidFill>
            <a:srgbClr val="0D1C21"/>
          </a:solidFill>
          <a:ln w="12700">
            <a:solidFill>
              <a:srgbClr val="294047"/>
            </a:solidFill>
            <a:prstDash val="solid"/>
          </a:ln>
        </p:spPr>
      </p:sp>
      <p:sp>
        <p:nvSpPr>
          <p:cNvPr id="39" name="Shape 37"/>
          <p:cNvSpPr/>
          <p:nvPr/>
        </p:nvSpPr>
        <p:spPr>
          <a:xfrm>
            <a:off x="5669280" y="3840480"/>
            <a:ext cx="50292" cy="1298448"/>
          </a:xfrm>
          <a:prstGeom prst="rect">
            <a:avLst/>
          </a:prstGeom>
          <a:solidFill>
            <a:srgbClr val="F4B85D"/>
          </a:solidFill>
          <a:ln w="12700">
            <a:solidFill>
              <a:srgbClr val="F4B85D"/>
            </a:solidFill>
            <a:prstDash val="solid"/>
          </a:ln>
        </p:spPr>
      </p:sp>
      <p:sp>
        <p:nvSpPr>
          <p:cNvPr id="40" name="Text 38"/>
          <p:cNvSpPr/>
          <p:nvPr/>
        </p:nvSpPr>
        <p:spPr>
          <a:xfrm>
            <a:off x="5907024" y="4014216"/>
            <a:ext cx="2221992" cy="219456"/>
          </a:xfrm>
          <a:prstGeom prst="rect">
            <a:avLst/>
          </a:prstGeom>
          <a:noFill/>
          <a:ln/>
        </p:spPr>
        <p:txBody>
          <a:bodyPr wrap="square" lIns="0" tIns="0" rIns="0" bIns="0" rtlCol="0" anchor="ctr">
            <a:normAutofit/>
          </a:bodyPr>
          <a:lstStyle/>
          <a:p>
            <a:pPr indent="0" marL="0">
              <a:buNone/>
            </a:pPr>
            <a:r>
              <a:rPr lang="en-US" sz="950" b="1" spc="100" kern="0" dirty="0">
                <a:solidFill>
                  <a:srgbClr val="F4B85D"/>
                </a:solidFill>
                <a:latin typeface="Avenir Next" pitchFamily="34" charset="0"/>
                <a:ea typeface="Avenir Next" pitchFamily="34" charset="-122"/>
                <a:cs typeface="Avenir Next" pitchFamily="34" charset="-120"/>
              </a:rPr>
              <a:t>DEPENDENCY CHAIN</a:t>
            </a:r>
            <a:endParaRPr lang="en-US" sz="950" dirty="0"/>
          </a:p>
        </p:txBody>
      </p:sp>
      <p:sp>
        <p:nvSpPr>
          <p:cNvPr id="41" name="Text 39"/>
          <p:cNvSpPr/>
          <p:nvPr/>
        </p:nvSpPr>
        <p:spPr>
          <a:xfrm>
            <a:off x="5907024" y="4325112"/>
            <a:ext cx="2212848" cy="676656"/>
          </a:xfrm>
          <a:prstGeom prst="rect">
            <a:avLst/>
          </a:prstGeom>
          <a:noFill/>
          <a:ln/>
        </p:spPr>
        <p:txBody>
          <a:bodyPr wrap="square" lIns="0" tIns="0" rIns="0" bIns="0" rtlCol="0" anchor="t">
            <a:normAutofit/>
          </a:bodyPr>
          <a:lstStyle/>
          <a:p>
            <a:pPr indent="0" marL="0">
              <a:buNone/>
            </a:pPr>
            <a:r>
              <a:rPr lang="en-US" sz="1040" dirty="0">
                <a:solidFill>
                  <a:srgbClr val="F4F7F6"/>
                </a:solidFill>
                <a:latin typeface="Avenir Next" pitchFamily="34" charset="0"/>
                <a:ea typeface="Avenir Next" pitchFamily="34" charset="-122"/>
                <a:cs typeface="Avenir Next" pitchFamily="34" charset="-120"/>
              </a:rPr>
              <a:t>Which upstream service caused the constraint?</a:t>
            </a:r>
            <a:endParaRPr lang="en-US" sz="1040" dirty="0"/>
          </a:p>
        </p:txBody>
      </p:sp>
      <p:sp>
        <p:nvSpPr>
          <p:cNvPr id="42" name="Shape 40"/>
          <p:cNvSpPr/>
          <p:nvPr/>
        </p:nvSpPr>
        <p:spPr>
          <a:xfrm>
            <a:off x="8549640" y="3840480"/>
            <a:ext cx="2633472" cy="1298448"/>
          </a:xfrm>
          <a:prstGeom prst="roundRect">
            <a:avLst>
              <a:gd name="adj" fmla="val 9859"/>
            </a:avLst>
          </a:prstGeom>
          <a:solidFill>
            <a:srgbClr val="0D1C21"/>
          </a:solidFill>
          <a:ln w="12700">
            <a:solidFill>
              <a:srgbClr val="294047"/>
            </a:solidFill>
            <a:prstDash val="solid"/>
          </a:ln>
        </p:spPr>
      </p:sp>
      <p:sp>
        <p:nvSpPr>
          <p:cNvPr id="43" name="Shape 41"/>
          <p:cNvSpPr/>
          <p:nvPr/>
        </p:nvSpPr>
        <p:spPr>
          <a:xfrm>
            <a:off x="8549640" y="3840480"/>
            <a:ext cx="50292" cy="1298448"/>
          </a:xfrm>
          <a:prstGeom prst="rect">
            <a:avLst/>
          </a:prstGeom>
          <a:solidFill>
            <a:srgbClr val="B784F5"/>
          </a:solidFill>
          <a:ln w="12700">
            <a:solidFill>
              <a:srgbClr val="B784F5"/>
            </a:solidFill>
            <a:prstDash val="solid"/>
          </a:ln>
        </p:spPr>
      </p:sp>
      <p:sp>
        <p:nvSpPr>
          <p:cNvPr id="44" name="Text 42"/>
          <p:cNvSpPr/>
          <p:nvPr/>
        </p:nvSpPr>
        <p:spPr>
          <a:xfrm>
            <a:off x="8787384" y="4014216"/>
            <a:ext cx="2221992" cy="219456"/>
          </a:xfrm>
          <a:prstGeom prst="rect">
            <a:avLst/>
          </a:prstGeom>
          <a:noFill/>
          <a:ln/>
        </p:spPr>
        <p:txBody>
          <a:bodyPr wrap="square" lIns="0" tIns="0" rIns="0" bIns="0" rtlCol="0" anchor="ctr">
            <a:normAutofit/>
          </a:bodyPr>
          <a:lstStyle/>
          <a:p>
            <a:pPr indent="0" marL="0">
              <a:buNone/>
            </a:pPr>
            <a:r>
              <a:rPr lang="en-US" sz="950" b="1" spc="100" kern="0" dirty="0">
                <a:solidFill>
                  <a:srgbClr val="B784F5"/>
                </a:solidFill>
                <a:latin typeface="Avenir Next" pitchFamily="34" charset="0"/>
                <a:ea typeface="Avenir Next" pitchFamily="34" charset="-122"/>
                <a:cs typeface="Avenir Next" pitchFamily="34" charset="-120"/>
              </a:rPr>
              <a:t>COUNTERFACTUALS</a:t>
            </a:r>
            <a:endParaRPr lang="en-US" sz="950" dirty="0"/>
          </a:p>
        </p:txBody>
      </p:sp>
      <p:sp>
        <p:nvSpPr>
          <p:cNvPr id="45" name="Text 43"/>
          <p:cNvSpPr/>
          <p:nvPr/>
        </p:nvSpPr>
        <p:spPr>
          <a:xfrm>
            <a:off x="8787384" y="4325112"/>
            <a:ext cx="2212848" cy="676656"/>
          </a:xfrm>
          <a:prstGeom prst="rect">
            <a:avLst/>
          </a:prstGeom>
          <a:noFill/>
          <a:ln/>
        </p:spPr>
        <p:txBody>
          <a:bodyPr wrap="square" lIns="0" tIns="0" rIns="0" bIns="0" rtlCol="0" anchor="t">
            <a:normAutofit/>
          </a:bodyPr>
          <a:lstStyle/>
          <a:p>
            <a:pPr indent="0" marL="0">
              <a:buNone/>
            </a:pPr>
            <a:r>
              <a:rPr lang="en-US" sz="1040" dirty="0">
                <a:solidFill>
                  <a:srgbClr val="F4F7F6"/>
                </a:solidFill>
                <a:latin typeface="Avenir Next" pitchFamily="34" charset="0"/>
                <a:ea typeface="Avenir Next" pitchFamily="34" charset="-122"/>
                <a:cs typeface="Avenir Next" pitchFamily="34" charset="-120"/>
              </a:rPr>
              <a:t>What changes without damage, delay or dependency?</a:t>
            </a:r>
            <a:endParaRPr lang="en-US" sz="1040" dirty="0"/>
          </a:p>
        </p:txBody>
      </p:sp>
      <p:sp>
        <p:nvSpPr>
          <p:cNvPr id="46" name="Shape 44"/>
          <p:cNvSpPr/>
          <p:nvPr/>
        </p:nvSpPr>
        <p:spPr>
          <a:xfrm>
            <a:off x="5669280" y="5440680"/>
            <a:ext cx="5513832" cy="384048"/>
          </a:xfrm>
          <a:prstGeom prst="roundRect">
            <a:avLst>
              <a:gd name="adj" fmla="val 28571"/>
            </a:avLst>
          </a:prstGeom>
          <a:solidFill>
            <a:srgbClr val="12272D"/>
          </a:solidFill>
          <a:ln w="12700">
            <a:solidFill>
              <a:srgbClr val="294047"/>
            </a:solidFill>
            <a:prstDash val="solid"/>
          </a:ln>
        </p:spPr>
      </p:sp>
      <p:sp>
        <p:nvSpPr>
          <p:cNvPr id="47" name="Text 45"/>
          <p:cNvSpPr/>
          <p:nvPr/>
        </p:nvSpPr>
        <p:spPr>
          <a:xfrm>
            <a:off x="5925312" y="5513832"/>
            <a:ext cx="5010912" cy="201168"/>
          </a:xfrm>
          <a:prstGeom prst="rect">
            <a:avLst/>
          </a:prstGeom>
          <a:noFill/>
          <a:ln/>
        </p:spPr>
        <p:txBody>
          <a:bodyPr wrap="square" lIns="0" tIns="0" rIns="0" bIns="0" rtlCol="0" anchor="ctr">
            <a:normAutofit/>
          </a:bodyPr>
          <a:lstStyle/>
          <a:p>
            <a:pPr algn="ctr" indent="0" marL="0">
              <a:buNone/>
            </a:pPr>
            <a:r>
              <a:rPr lang="en-US" sz="1080" b="1" dirty="0">
                <a:solidFill>
                  <a:srgbClr val="F4F7F6"/>
                </a:solidFill>
                <a:latin typeface="Avenir Next" pitchFamily="34" charset="0"/>
                <a:ea typeface="Avenir Next" pitchFamily="34" charset="-122"/>
                <a:cs typeface="Avenir Next" pitchFamily="34" charset="-120"/>
              </a:rPr>
              <a:t>Generated by deterministic reruns—not post-hoc AI prose.</a:t>
            </a:r>
            <a:endParaRPr lang="en-US" sz="1080" dirty="0"/>
          </a:p>
        </p:txBody>
      </p:sp>
      <p:sp>
        <p:nvSpPr>
          <p:cNvPr id="49" name="Shape 46"/>
          <p:cNvSpPr/>
          <p:nvPr/>
        </p:nvSpPr>
        <p:spPr>
          <a:xfrm>
            <a:off x="502920" y="292608"/>
            <a:ext cx="310896" cy="310896"/>
          </a:xfrm>
          <a:prstGeom prst="ellipse">
            <a:avLst/>
          </a:prstGeom>
          <a:solidFill>
            <a:srgbClr val="12272D"/>
          </a:solidFill>
          <a:ln w="12700">
            <a:solidFill>
              <a:srgbClr val="65E2CB"/>
            </a:solidFill>
            <a:prstDash val="solid"/>
          </a:ln>
        </p:spPr>
      </p:sp>
      <p:sp>
        <p:nvSpPr>
          <p:cNvPr id="50" name="Shape 47"/>
          <p:cNvSpPr/>
          <p:nvPr/>
        </p:nvSpPr>
        <p:spPr>
          <a:xfrm>
            <a:off x="597103" y="374904"/>
            <a:ext cx="118872" cy="118872"/>
          </a:xfrm>
          <a:prstGeom prst="ellipse">
            <a:avLst/>
          </a:prstGeom>
          <a:solidFill>
            <a:srgbClr val="071216"/>
          </a:solidFill>
          <a:ln w="12700">
            <a:solidFill>
              <a:srgbClr val="65E2CB"/>
            </a:solidFill>
            <a:prstDash val="solid"/>
          </a:ln>
        </p:spPr>
      </p:sp>
      <p:sp>
        <p:nvSpPr>
          <p:cNvPr id="51" name="Shape 48"/>
          <p:cNvSpPr/>
          <p:nvPr/>
        </p:nvSpPr>
        <p:spPr>
          <a:xfrm>
            <a:off x="658368" y="356616"/>
            <a:ext cx="0" cy="182880"/>
          </a:xfrm>
          <a:prstGeom prst="line">
            <a:avLst/>
          </a:prstGeom>
          <a:noFill/>
          <a:ln w="15240">
            <a:solidFill>
              <a:srgbClr val="65E2CB"/>
            </a:solidFill>
            <a:prstDash val="solid"/>
            <a:headEnd type="none"/>
            <a:tailEnd type="none"/>
          </a:ln>
        </p:spPr>
      </p:sp>
      <p:sp>
        <p:nvSpPr>
          <p:cNvPr id="52" name="Text 49"/>
          <p:cNvSpPr/>
          <p:nvPr/>
        </p:nvSpPr>
        <p:spPr>
          <a:xfrm>
            <a:off x="896112" y="310896"/>
            <a:ext cx="2011680" cy="201168"/>
          </a:xfrm>
          <a:prstGeom prst="rect">
            <a:avLst/>
          </a:prstGeom>
          <a:noFill/>
          <a:ln/>
        </p:spPr>
        <p:txBody>
          <a:bodyPr wrap="square" lIns="0" tIns="0" rIns="0" bIns="0" rtlCol="0" anchor="ctr">
            <a:normAutofit/>
          </a:bodyPr>
          <a:lstStyle/>
          <a:p>
            <a:pPr indent="0" marL="0">
              <a:buNone/>
            </a:pPr>
            <a:r>
              <a:rPr lang="en-US" sz="900" b="1" spc="140" kern="0" dirty="0">
                <a:solidFill>
                  <a:srgbClr val="9BB0B5"/>
                </a:solidFill>
                <a:latin typeface="Avenir Next" pitchFamily="34" charset="0"/>
                <a:ea typeface="Avenir Next" pitchFamily="34" charset="-122"/>
                <a:cs typeface="Avenir Next" pitchFamily="34" charset="-120"/>
              </a:rPr>
              <a:t>NL RESILIENCE LAB</a:t>
            </a:r>
            <a:endParaRPr lang="en-US" sz="900" dirty="0"/>
          </a:p>
        </p:txBody>
      </p:sp>
      <p:sp>
        <p:nvSpPr>
          <p:cNvPr id="53" name="Text 50"/>
          <p:cNvSpPr/>
          <p:nvPr/>
        </p:nvSpPr>
        <p:spPr>
          <a:xfrm>
            <a:off x="9052560" y="310896"/>
            <a:ext cx="2514600" cy="201168"/>
          </a:xfrm>
          <a:prstGeom prst="rect">
            <a:avLst/>
          </a:prstGeom>
          <a:noFill/>
          <a:ln/>
        </p:spPr>
        <p:txBody>
          <a:bodyPr wrap="square" lIns="0" tIns="0" rIns="0" bIns="0" rtlCol="0" anchor="ctr">
            <a:normAutofit/>
          </a:bodyPr>
          <a:lstStyle/>
          <a:p>
            <a:pPr algn="r" indent="0" marL="0">
              <a:buNone/>
            </a:pPr>
            <a:r>
              <a:rPr lang="en-US" sz="850" b="1" spc="125" kern="0" dirty="0">
                <a:solidFill>
                  <a:srgbClr val="688087"/>
                </a:solidFill>
                <a:latin typeface="Avenir Next" pitchFamily="34" charset="0"/>
                <a:ea typeface="Avenir Next" pitchFamily="34" charset="-122"/>
                <a:cs typeface="Avenir Next" pitchFamily="34" charset="-120"/>
              </a:rPr>
              <a:t>EXPLAINABILITY</a:t>
            </a:r>
            <a:endParaRPr lang="en-US" sz="850" dirty="0"/>
          </a:p>
        </p:txBody>
      </p:sp>
      <p:sp>
        <p:nvSpPr>
          <p:cNvPr id="54" name="Shape 51"/>
          <p:cNvSpPr/>
          <p:nvPr/>
        </p:nvSpPr>
        <p:spPr>
          <a:xfrm>
            <a:off x="502920" y="749808"/>
            <a:ext cx="10680192" cy="0"/>
          </a:xfrm>
          <a:prstGeom prst="line">
            <a:avLst/>
          </a:prstGeom>
          <a:noFill/>
          <a:ln w="8890">
            <a:solidFill>
              <a:srgbClr val="294047"/>
            </a:solidFill>
            <a:prstDash val="solid"/>
            <a:headEnd type="none"/>
            <a:tailEnd type="none"/>
          </a:ln>
        </p:spPr>
      </p:sp>
      <p:sp>
        <p:nvSpPr>
          <p:cNvPr id="25" name="Slide Number Placeholder 0"/>
          <p:cNvSpPr>
            <a:spLocks noGrp="1"/>
          </p:cNvSpPr>
          <p:nvPr>
            <p:ph type="sldNum" sz="quarter" idx="4294967295"/>
          </p:nvPr>
        </p:nvSpPr>
        <p:spPr>
          <a:xfrm>
            <a:off x="11119104" y="6446520"/>
            <a:ext cx="475488"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8087"/>
                </a:solidFill>
                <a:latin typeface="Avenir Next"/>
                <a:ea typeface="Avenir Next"/>
                <a:cs typeface="Avenir Next"/>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1216"/>
        </a:solidFill>
      </p:bgPr>
    </p:bg>
    <p:spTree>
      <p:nvGrpSpPr>
        <p:cNvPr id="1" name=""/>
        <p:cNvGrpSpPr/>
        <p:nvPr/>
      </p:nvGrpSpPr>
      <p:grpSpPr>
        <a:xfrm>
          <a:off x="0" y="0"/>
          <a:ext cx="0" cy="0"/>
          <a:chOff x="0" y="0"/>
          <a:chExt cx="0" cy="0"/>
        </a:xfrm>
      </p:grpSpPr>
      <p:sp>
        <p:nvSpPr>
          <p:cNvPr id="2" name="Text 0"/>
          <p:cNvSpPr/>
          <p:nvPr/>
        </p:nvSpPr>
        <p:spPr>
          <a:xfrm>
            <a:off x="594360" y="950976"/>
            <a:ext cx="2377440" cy="201168"/>
          </a:xfrm>
          <a:prstGeom prst="rect">
            <a:avLst/>
          </a:prstGeom>
          <a:noFill/>
          <a:ln/>
        </p:spPr>
        <p:txBody>
          <a:bodyPr wrap="square" lIns="0" tIns="0" rIns="0" bIns="0" rtlCol="0" anchor="ctr">
            <a:normAutofit/>
          </a:bodyPr>
          <a:lstStyle/>
          <a:p>
            <a:pPr indent="0" marL="0">
              <a:buNone/>
            </a:pPr>
            <a:r>
              <a:rPr lang="en-US" sz="900" b="1" spc="165" kern="0" dirty="0">
                <a:solidFill>
                  <a:srgbClr val="65E2CB"/>
                </a:solidFill>
                <a:latin typeface="Avenir Next" pitchFamily="34" charset="0"/>
                <a:ea typeface="Avenir Next" pitchFamily="34" charset="-122"/>
                <a:cs typeface="Avenir Next" pitchFamily="34" charset="-120"/>
              </a:rPr>
              <a:t>SCENARIO LAB</a:t>
            </a:r>
            <a:endParaRPr lang="en-US" sz="900" dirty="0"/>
          </a:p>
        </p:txBody>
      </p:sp>
      <p:sp>
        <p:nvSpPr>
          <p:cNvPr id="3" name="Text 1"/>
          <p:cNvSpPr/>
          <p:nvPr/>
        </p:nvSpPr>
        <p:spPr>
          <a:xfrm>
            <a:off x="594360" y="1188720"/>
            <a:ext cx="10972800" cy="566928"/>
          </a:xfrm>
          <a:prstGeom prst="rect">
            <a:avLst/>
          </a:prstGeom>
          <a:noFill/>
          <a:ln/>
        </p:spPr>
        <p:txBody>
          <a:bodyPr wrap="square" lIns="0" tIns="0" rIns="0" bIns="0" rtlCol="0" anchor="ctr">
            <a:normAutofit/>
          </a:bodyPr>
          <a:lstStyle/>
          <a:p>
            <a:pPr indent="0" marL="0">
              <a:buNone/>
            </a:pPr>
            <a:r>
              <a:rPr lang="en-US" sz="2900" b="1" dirty="0">
                <a:solidFill>
                  <a:srgbClr val="F4F7F6"/>
                </a:solidFill>
                <a:latin typeface="Avenir Next" pitchFamily="34" charset="0"/>
                <a:ea typeface="Avenir Next" pitchFamily="34" charset="-122"/>
                <a:cs typeface="Avenir Next" pitchFamily="34" charset="-120"/>
              </a:rPr>
              <a:t>Ten starting points, many controlled variants</a:t>
            </a:r>
            <a:endParaRPr lang="en-US" sz="2900" dirty="0"/>
          </a:p>
        </p:txBody>
      </p:sp>
      <p:sp>
        <p:nvSpPr>
          <p:cNvPr id="4" name="Text 2"/>
          <p:cNvSpPr/>
          <p:nvPr/>
        </p:nvSpPr>
        <p:spPr>
          <a:xfrm>
            <a:off x="594360" y="1746504"/>
            <a:ext cx="10789920" cy="393192"/>
          </a:xfrm>
          <a:prstGeom prst="rect">
            <a:avLst/>
          </a:prstGeom>
          <a:noFill/>
          <a:ln/>
        </p:spPr>
        <p:txBody>
          <a:bodyPr wrap="square" lIns="0" tIns="0" rIns="0" bIns="0" rtlCol="0" anchor="ctr">
            <a:normAutofit/>
          </a:bodyPr>
          <a:lstStyle/>
          <a:p>
            <a:pPr indent="0" marL="0">
              <a:buNone/>
            </a:pPr>
            <a:r>
              <a:rPr lang="en-US" sz="1250" dirty="0">
                <a:solidFill>
                  <a:srgbClr val="9BB0B5"/>
                </a:solidFill>
                <a:latin typeface="Avenir Next" pitchFamily="34" charset="0"/>
                <a:ea typeface="Avenir Next" pitchFamily="34" charset="-122"/>
                <a:cs typeface="Avenir Next" pitchFamily="34" charset="-120"/>
              </a:rPr>
              <a:t>Presets provide a reproducible baseline; operators can then test assumptions.</a:t>
            </a:r>
            <a:endParaRPr lang="en-US" sz="1250" dirty="0"/>
          </a:p>
        </p:txBody>
      </p:sp>
      <p:sp>
        <p:nvSpPr>
          <p:cNvPr id="5" name="Text 3"/>
          <p:cNvSpPr/>
          <p:nvPr/>
        </p:nvSpPr>
        <p:spPr>
          <a:xfrm>
            <a:off x="658368" y="2267712"/>
            <a:ext cx="2743200" cy="228600"/>
          </a:xfrm>
          <a:prstGeom prst="rect">
            <a:avLst/>
          </a:prstGeom>
          <a:noFill/>
          <a:ln/>
        </p:spPr>
        <p:txBody>
          <a:bodyPr wrap="square" lIns="0" tIns="0" rIns="0" bIns="0" rtlCol="0" anchor="ctr">
            <a:normAutofit/>
          </a:bodyPr>
          <a:lstStyle/>
          <a:p>
            <a:pPr indent="0" marL="0">
              <a:buNone/>
            </a:pPr>
            <a:r>
              <a:rPr lang="en-US" sz="950" b="1" spc="120" kern="0" dirty="0">
                <a:solidFill>
                  <a:srgbClr val="59D5F6"/>
                </a:solidFill>
                <a:latin typeface="Avenir Next" pitchFamily="34" charset="0"/>
                <a:ea typeface="Avenir Next" pitchFamily="34" charset="-122"/>
                <a:cs typeface="Avenir Next" pitchFamily="34" charset="-120"/>
              </a:rPr>
              <a:t>WEATHER + WATER</a:t>
            </a:r>
            <a:endParaRPr lang="en-US" sz="950" dirty="0"/>
          </a:p>
        </p:txBody>
      </p:sp>
      <p:sp>
        <p:nvSpPr>
          <p:cNvPr id="6" name="Shape 4"/>
          <p:cNvSpPr/>
          <p:nvPr/>
        </p:nvSpPr>
        <p:spPr>
          <a:xfrm>
            <a:off x="658368" y="2624328"/>
            <a:ext cx="2212848" cy="310896"/>
          </a:xfrm>
          <a:prstGeom prst="roundRect">
            <a:avLst>
              <a:gd name="adj" fmla="val 50000"/>
            </a:avLst>
          </a:prstGeom>
          <a:solidFill>
            <a:srgbClr val="12272D"/>
          </a:solidFill>
          <a:ln w="12700">
            <a:solidFill>
              <a:srgbClr val="294047"/>
            </a:solidFill>
            <a:prstDash val="solid"/>
          </a:ln>
        </p:spPr>
      </p:sp>
      <p:sp>
        <p:nvSpPr>
          <p:cNvPr id="7" name="Shape 5"/>
          <p:cNvSpPr/>
          <p:nvPr/>
        </p:nvSpPr>
        <p:spPr>
          <a:xfrm>
            <a:off x="786384" y="2738628"/>
            <a:ext cx="82296" cy="82296"/>
          </a:xfrm>
          <a:prstGeom prst="ellipse">
            <a:avLst/>
          </a:prstGeom>
          <a:solidFill>
            <a:srgbClr val="59D5F6"/>
          </a:solidFill>
          <a:ln w="12700">
            <a:solidFill>
              <a:srgbClr val="59D5F6"/>
            </a:solidFill>
            <a:prstDash val="solid"/>
          </a:ln>
        </p:spPr>
      </p:sp>
      <p:sp>
        <p:nvSpPr>
          <p:cNvPr id="8" name="Text 6"/>
          <p:cNvSpPr/>
          <p:nvPr/>
        </p:nvSpPr>
        <p:spPr>
          <a:xfrm>
            <a:off x="950976" y="2670048"/>
            <a:ext cx="1828800" cy="219456"/>
          </a:xfrm>
          <a:prstGeom prst="rect">
            <a:avLst/>
          </a:prstGeom>
          <a:noFill/>
          <a:ln/>
        </p:spPr>
        <p:txBody>
          <a:bodyPr wrap="square" lIns="0" tIns="0" rIns="0" bIns="0" rtlCol="0" anchor="ctr">
            <a:normAutofit/>
          </a:bodyPr>
          <a:lstStyle/>
          <a:p>
            <a:pPr indent="0" marL="0">
              <a:buNone/>
            </a:pPr>
            <a:r>
              <a:rPr lang="en-US" sz="950" b="1" spc="20" kern="0" dirty="0">
                <a:solidFill>
                  <a:srgbClr val="F4F7F6"/>
                </a:solidFill>
                <a:latin typeface="Avenir Next" pitchFamily="34" charset="0"/>
                <a:ea typeface="Avenir Next" pitchFamily="34" charset="-122"/>
                <a:cs typeface="Avenir Next" pitchFamily="34" charset="-120"/>
              </a:rPr>
              <a:t>SEVERE WINDSTORM</a:t>
            </a:r>
            <a:endParaRPr lang="en-US" sz="950" dirty="0"/>
          </a:p>
        </p:txBody>
      </p:sp>
      <p:sp>
        <p:nvSpPr>
          <p:cNvPr id="9" name="Shape 7"/>
          <p:cNvSpPr/>
          <p:nvPr/>
        </p:nvSpPr>
        <p:spPr>
          <a:xfrm>
            <a:off x="3081528" y="2624328"/>
            <a:ext cx="2212848" cy="310896"/>
          </a:xfrm>
          <a:prstGeom prst="roundRect">
            <a:avLst>
              <a:gd name="adj" fmla="val 50000"/>
            </a:avLst>
          </a:prstGeom>
          <a:solidFill>
            <a:srgbClr val="12272D"/>
          </a:solidFill>
          <a:ln w="12700">
            <a:solidFill>
              <a:srgbClr val="294047"/>
            </a:solidFill>
            <a:prstDash val="solid"/>
          </a:ln>
        </p:spPr>
      </p:sp>
      <p:sp>
        <p:nvSpPr>
          <p:cNvPr id="10" name="Shape 8"/>
          <p:cNvSpPr/>
          <p:nvPr/>
        </p:nvSpPr>
        <p:spPr>
          <a:xfrm>
            <a:off x="3209544" y="2738628"/>
            <a:ext cx="82296" cy="82296"/>
          </a:xfrm>
          <a:prstGeom prst="ellipse">
            <a:avLst/>
          </a:prstGeom>
          <a:solidFill>
            <a:srgbClr val="59D5F6"/>
          </a:solidFill>
          <a:ln w="12700">
            <a:solidFill>
              <a:srgbClr val="59D5F6"/>
            </a:solidFill>
            <a:prstDash val="solid"/>
          </a:ln>
        </p:spPr>
      </p:sp>
      <p:sp>
        <p:nvSpPr>
          <p:cNvPr id="11" name="Text 9"/>
          <p:cNvSpPr/>
          <p:nvPr/>
        </p:nvSpPr>
        <p:spPr>
          <a:xfrm>
            <a:off x="3374136" y="2670048"/>
            <a:ext cx="1828800" cy="219456"/>
          </a:xfrm>
          <a:prstGeom prst="rect">
            <a:avLst/>
          </a:prstGeom>
          <a:noFill/>
          <a:ln/>
        </p:spPr>
        <p:txBody>
          <a:bodyPr wrap="square" lIns="0" tIns="0" rIns="0" bIns="0" rtlCol="0" anchor="ctr">
            <a:normAutofit/>
          </a:bodyPr>
          <a:lstStyle/>
          <a:p>
            <a:pPr indent="0" marL="0">
              <a:buNone/>
            </a:pPr>
            <a:r>
              <a:rPr lang="en-US" sz="950" b="1" spc="20" kern="0" dirty="0">
                <a:solidFill>
                  <a:srgbClr val="F4F7F6"/>
                </a:solidFill>
                <a:latin typeface="Avenir Next" pitchFamily="34" charset="0"/>
                <a:ea typeface="Avenir Next" pitchFamily="34" charset="-122"/>
                <a:cs typeface="Avenir Next" pitchFamily="34" charset="-120"/>
              </a:rPr>
              <a:t>URBAN CLOUDBURST</a:t>
            </a:r>
            <a:endParaRPr lang="en-US" sz="950" dirty="0"/>
          </a:p>
        </p:txBody>
      </p:sp>
      <p:sp>
        <p:nvSpPr>
          <p:cNvPr id="12" name="Shape 10"/>
          <p:cNvSpPr/>
          <p:nvPr/>
        </p:nvSpPr>
        <p:spPr>
          <a:xfrm>
            <a:off x="658368" y="3154680"/>
            <a:ext cx="2212848" cy="310896"/>
          </a:xfrm>
          <a:prstGeom prst="roundRect">
            <a:avLst>
              <a:gd name="adj" fmla="val 50000"/>
            </a:avLst>
          </a:prstGeom>
          <a:solidFill>
            <a:srgbClr val="12272D"/>
          </a:solidFill>
          <a:ln w="12700">
            <a:solidFill>
              <a:srgbClr val="294047"/>
            </a:solidFill>
            <a:prstDash val="solid"/>
          </a:ln>
        </p:spPr>
      </p:sp>
      <p:sp>
        <p:nvSpPr>
          <p:cNvPr id="13" name="Shape 11"/>
          <p:cNvSpPr/>
          <p:nvPr/>
        </p:nvSpPr>
        <p:spPr>
          <a:xfrm>
            <a:off x="786384" y="3268980"/>
            <a:ext cx="82296" cy="82296"/>
          </a:xfrm>
          <a:prstGeom prst="ellipse">
            <a:avLst/>
          </a:prstGeom>
          <a:solidFill>
            <a:srgbClr val="59D5F6"/>
          </a:solidFill>
          <a:ln w="12700">
            <a:solidFill>
              <a:srgbClr val="59D5F6"/>
            </a:solidFill>
            <a:prstDash val="solid"/>
          </a:ln>
        </p:spPr>
      </p:sp>
      <p:sp>
        <p:nvSpPr>
          <p:cNvPr id="14" name="Text 12"/>
          <p:cNvSpPr/>
          <p:nvPr/>
        </p:nvSpPr>
        <p:spPr>
          <a:xfrm>
            <a:off x="950976" y="3200400"/>
            <a:ext cx="1828800" cy="219456"/>
          </a:xfrm>
          <a:prstGeom prst="rect">
            <a:avLst/>
          </a:prstGeom>
          <a:noFill/>
          <a:ln/>
        </p:spPr>
        <p:txBody>
          <a:bodyPr wrap="square" lIns="0" tIns="0" rIns="0" bIns="0" rtlCol="0" anchor="ctr">
            <a:normAutofit/>
          </a:bodyPr>
          <a:lstStyle/>
          <a:p>
            <a:pPr indent="0" marL="0">
              <a:buNone/>
            </a:pPr>
            <a:r>
              <a:rPr lang="en-US" sz="950" b="1" spc="20" kern="0" dirty="0">
                <a:solidFill>
                  <a:srgbClr val="F4F7F6"/>
                </a:solidFill>
                <a:latin typeface="Avenir Next" pitchFamily="34" charset="0"/>
                <a:ea typeface="Avenir Next" pitchFamily="34" charset="-122"/>
                <a:cs typeface="Avenir Next" pitchFamily="34" charset="-120"/>
              </a:rPr>
              <a:t>RIVER HIGH WATER</a:t>
            </a:r>
            <a:endParaRPr lang="en-US" sz="950" dirty="0"/>
          </a:p>
        </p:txBody>
      </p:sp>
      <p:sp>
        <p:nvSpPr>
          <p:cNvPr id="15" name="Shape 13"/>
          <p:cNvSpPr/>
          <p:nvPr/>
        </p:nvSpPr>
        <p:spPr>
          <a:xfrm>
            <a:off x="3081528" y="3154680"/>
            <a:ext cx="2212848" cy="310896"/>
          </a:xfrm>
          <a:prstGeom prst="roundRect">
            <a:avLst>
              <a:gd name="adj" fmla="val 50000"/>
            </a:avLst>
          </a:prstGeom>
          <a:solidFill>
            <a:srgbClr val="12272D"/>
          </a:solidFill>
          <a:ln w="12700">
            <a:solidFill>
              <a:srgbClr val="294047"/>
            </a:solidFill>
            <a:prstDash val="solid"/>
          </a:ln>
        </p:spPr>
      </p:sp>
      <p:sp>
        <p:nvSpPr>
          <p:cNvPr id="16" name="Shape 14"/>
          <p:cNvSpPr/>
          <p:nvPr/>
        </p:nvSpPr>
        <p:spPr>
          <a:xfrm>
            <a:off x="3209544" y="3268980"/>
            <a:ext cx="82296" cy="82296"/>
          </a:xfrm>
          <a:prstGeom prst="ellipse">
            <a:avLst/>
          </a:prstGeom>
          <a:solidFill>
            <a:srgbClr val="59D5F6"/>
          </a:solidFill>
          <a:ln w="12700">
            <a:solidFill>
              <a:srgbClr val="59D5F6"/>
            </a:solidFill>
            <a:prstDash val="solid"/>
          </a:ln>
        </p:spPr>
      </p:sp>
      <p:sp>
        <p:nvSpPr>
          <p:cNvPr id="17" name="Text 15"/>
          <p:cNvSpPr/>
          <p:nvPr/>
        </p:nvSpPr>
        <p:spPr>
          <a:xfrm>
            <a:off x="3374136" y="3200400"/>
            <a:ext cx="1828800" cy="219456"/>
          </a:xfrm>
          <a:prstGeom prst="rect">
            <a:avLst/>
          </a:prstGeom>
          <a:noFill/>
          <a:ln/>
        </p:spPr>
        <p:txBody>
          <a:bodyPr wrap="square" lIns="0" tIns="0" rIns="0" bIns="0" rtlCol="0" anchor="ctr">
            <a:normAutofit/>
          </a:bodyPr>
          <a:lstStyle/>
          <a:p>
            <a:pPr indent="0" marL="0">
              <a:buNone/>
            </a:pPr>
            <a:r>
              <a:rPr lang="en-US" sz="950" b="1" spc="20" kern="0" dirty="0">
                <a:solidFill>
                  <a:srgbClr val="F4F7F6"/>
                </a:solidFill>
                <a:latin typeface="Avenir Next" pitchFamily="34" charset="0"/>
                <a:ea typeface="Avenir Next" pitchFamily="34" charset="-122"/>
                <a:cs typeface="Avenir Next" pitchFamily="34" charset="-120"/>
              </a:rPr>
              <a:t>COASTAL SURGE</a:t>
            </a:r>
            <a:endParaRPr lang="en-US" sz="950" dirty="0"/>
          </a:p>
        </p:txBody>
      </p:sp>
      <p:sp>
        <p:nvSpPr>
          <p:cNvPr id="18" name="Shape 16"/>
          <p:cNvSpPr/>
          <p:nvPr/>
        </p:nvSpPr>
        <p:spPr>
          <a:xfrm>
            <a:off x="658368" y="3685032"/>
            <a:ext cx="2212848" cy="310896"/>
          </a:xfrm>
          <a:prstGeom prst="roundRect">
            <a:avLst>
              <a:gd name="adj" fmla="val 50000"/>
            </a:avLst>
          </a:prstGeom>
          <a:solidFill>
            <a:srgbClr val="12272D"/>
          </a:solidFill>
          <a:ln w="12700">
            <a:solidFill>
              <a:srgbClr val="294047"/>
            </a:solidFill>
            <a:prstDash val="solid"/>
          </a:ln>
        </p:spPr>
      </p:sp>
      <p:sp>
        <p:nvSpPr>
          <p:cNvPr id="19" name="Shape 17"/>
          <p:cNvSpPr/>
          <p:nvPr/>
        </p:nvSpPr>
        <p:spPr>
          <a:xfrm>
            <a:off x="786384" y="3799332"/>
            <a:ext cx="82296" cy="82296"/>
          </a:xfrm>
          <a:prstGeom prst="ellipse">
            <a:avLst/>
          </a:prstGeom>
          <a:solidFill>
            <a:srgbClr val="59D5F6"/>
          </a:solidFill>
          <a:ln w="12700">
            <a:solidFill>
              <a:srgbClr val="59D5F6"/>
            </a:solidFill>
            <a:prstDash val="solid"/>
          </a:ln>
        </p:spPr>
      </p:sp>
      <p:sp>
        <p:nvSpPr>
          <p:cNvPr id="20" name="Text 18"/>
          <p:cNvSpPr/>
          <p:nvPr/>
        </p:nvSpPr>
        <p:spPr>
          <a:xfrm>
            <a:off x="950976" y="3730752"/>
            <a:ext cx="1828800" cy="219456"/>
          </a:xfrm>
          <a:prstGeom prst="rect">
            <a:avLst/>
          </a:prstGeom>
          <a:noFill/>
          <a:ln/>
        </p:spPr>
        <p:txBody>
          <a:bodyPr wrap="square" lIns="0" tIns="0" rIns="0" bIns="0" rtlCol="0" anchor="ctr">
            <a:normAutofit/>
          </a:bodyPr>
          <a:lstStyle/>
          <a:p>
            <a:pPr indent="0" marL="0">
              <a:buNone/>
            </a:pPr>
            <a:r>
              <a:rPr lang="en-US" sz="950" b="1" spc="20" kern="0" dirty="0">
                <a:solidFill>
                  <a:srgbClr val="F4F7F6"/>
                </a:solidFill>
                <a:latin typeface="Avenir Next" pitchFamily="34" charset="0"/>
                <a:ea typeface="Avenir Next" pitchFamily="34" charset="-122"/>
                <a:cs typeface="Avenir Next" pitchFamily="34" charset="-120"/>
              </a:rPr>
              <a:t>HEATWAVE + DROUGHT</a:t>
            </a:r>
            <a:endParaRPr lang="en-US" sz="950" dirty="0"/>
          </a:p>
        </p:txBody>
      </p:sp>
      <p:sp>
        <p:nvSpPr>
          <p:cNvPr id="21" name="Shape 19"/>
          <p:cNvSpPr/>
          <p:nvPr/>
        </p:nvSpPr>
        <p:spPr>
          <a:xfrm>
            <a:off x="3081528" y="3685032"/>
            <a:ext cx="2212848" cy="310896"/>
          </a:xfrm>
          <a:prstGeom prst="roundRect">
            <a:avLst>
              <a:gd name="adj" fmla="val 50000"/>
            </a:avLst>
          </a:prstGeom>
          <a:solidFill>
            <a:srgbClr val="12272D"/>
          </a:solidFill>
          <a:ln w="12700">
            <a:solidFill>
              <a:srgbClr val="294047"/>
            </a:solidFill>
            <a:prstDash val="solid"/>
          </a:ln>
        </p:spPr>
      </p:sp>
      <p:sp>
        <p:nvSpPr>
          <p:cNvPr id="22" name="Shape 20"/>
          <p:cNvSpPr/>
          <p:nvPr/>
        </p:nvSpPr>
        <p:spPr>
          <a:xfrm>
            <a:off x="3209544" y="3799332"/>
            <a:ext cx="82296" cy="82296"/>
          </a:xfrm>
          <a:prstGeom prst="ellipse">
            <a:avLst/>
          </a:prstGeom>
          <a:solidFill>
            <a:srgbClr val="59D5F6"/>
          </a:solidFill>
          <a:ln w="12700">
            <a:solidFill>
              <a:srgbClr val="59D5F6"/>
            </a:solidFill>
            <a:prstDash val="solid"/>
          </a:ln>
        </p:spPr>
      </p:sp>
      <p:sp>
        <p:nvSpPr>
          <p:cNvPr id="23" name="Text 21"/>
          <p:cNvSpPr/>
          <p:nvPr/>
        </p:nvSpPr>
        <p:spPr>
          <a:xfrm>
            <a:off x="3374136" y="3730752"/>
            <a:ext cx="1828800" cy="219456"/>
          </a:xfrm>
          <a:prstGeom prst="rect">
            <a:avLst/>
          </a:prstGeom>
          <a:noFill/>
          <a:ln/>
        </p:spPr>
        <p:txBody>
          <a:bodyPr wrap="square" lIns="0" tIns="0" rIns="0" bIns="0" rtlCol="0" anchor="ctr">
            <a:normAutofit/>
          </a:bodyPr>
          <a:lstStyle/>
          <a:p>
            <a:pPr indent="0" marL="0">
              <a:buNone/>
            </a:pPr>
            <a:r>
              <a:rPr lang="en-US" sz="950" b="1" spc="20" kern="0" dirty="0">
                <a:solidFill>
                  <a:srgbClr val="F4F7F6"/>
                </a:solidFill>
                <a:latin typeface="Avenir Next" pitchFamily="34" charset="0"/>
                <a:ea typeface="Avenir Next" pitchFamily="34" charset="-122"/>
                <a:cs typeface="Avenir Next" pitchFamily="34" charset="-120"/>
              </a:rPr>
              <a:t>WINTER STORM</a:t>
            </a:r>
            <a:endParaRPr lang="en-US" sz="950" dirty="0"/>
          </a:p>
        </p:txBody>
      </p:sp>
      <p:sp>
        <p:nvSpPr>
          <p:cNvPr id="24" name="Text 22"/>
          <p:cNvSpPr/>
          <p:nvPr/>
        </p:nvSpPr>
        <p:spPr>
          <a:xfrm>
            <a:off x="5715000" y="2267712"/>
            <a:ext cx="2926080" cy="228600"/>
          </a:xfrm>
          <a:prstGeom prst="rect">
            <a:avLst/>
          </a:prstGeom>
          <a:noFill/>
          <a:ln/>
        </p:spPr>
        <p:txBody>
          <a:bodyPr wrap="square" lIns="0" tIns="0" rIns="0" bIns="0" rtlCol="0" anchor="ctr">
            <a:normAutofit/>
          </a:bodyPr>
          <a:lstStyle/>
          <a:p>
            <a:pPr indent="0" marL="0">
              <a:buNone/>
            </a:pPr>
            <a:r>
              <a:rPr lang="en-US" sz="950" b="1" spc="120" kern="0" dirty="0">
                <a:solidFill>
                  <a:srgbClr val="B784F5"/>
                </a:solidFill>
                <a:latin typeface="Avenir Next" pitchFamily="34" charset="0"/>
                <a:ea typeface="Avenir Next" pitchFamily="34" charset="-122"/>
                <a:cs typeface="Avenir Next" pitchFamily="34" charset="-120"/>
              </a:rPr>
              <a:t>SYSTEM + GEOPHYSICAL</a:t>
            </a:r>
            <a:endParaRPr lang="en-US" sz="950" dirty="0"/>
          </a:p>
        </p:txBody>
      </p:sp>
      <p:sp>
        <p:nvSpPr>
          <p:cNvPr id="25" name="Shape 23"/>
          <p:cNvSpPr/>
          <p:nvPr/>
        </p:nvSpPr>
        <p:spPr>
          <a:xfrm>
            <a:off x="5715000" y="2624328"/>
            <a:ext cx="2304288" cy="310896"/>
          </a:xfrm>
          <a:prstGeom prst="roundRect">
            <a:avLst>
              <a:gd name="adj" fmla="val 50000"/>
            </a:avLst>
          </a:prstGeom>
          <a:solidFill>
            <a:srgbClr val="12272D"/>
          </a:solidFill>
          <a:ln w="12700">
            <a:solidFill>
              <a:srgbClr val="294047"/>
            </a:solidFill>
            <a:prstDash val="solid"/>
          </a:ln>
        </p:spPr>
      </p:sp>
      <p:sp>
        <p:nvSpPr>
          <p:cNvPr id="26" name="Shape 24"/>
          <p:cNvSpPr/>
          <p:nvPr/>
        </p:nvSpPr>
        <p:spPr>
          <a:xfrm>
            <a:off x="5843016" y="2738628"/>
            <a:ext cx="82296" cy="82296"/>
          </a:xfrm>
          <a:prstGeom prst="ellipse">
            <a:avLst/>
          </a:prstGeom>
          <a:solidFill>
            <a:srgbClr val="B784F5"/>
          </a:solidFill>
          <a:ln w="12700">
            <a:solidFill>
              <a:srgbClr val="B784F5"/>
            </a:solidFill>
            <a:prstDash val="solid"/>
          </a:ln>
        </p:spPr>
      </p:sp>
      <p:sp>
        <p:nvSpPr>
          <p:cNvPr id="27" name="Text 25"/>
          <p:cNvSpPr/>
          <p:nvPr/>
        </p:nvSpPr>
        <p:spPr>
          <a:xfrm>
            <a:off x="6007608" y="2670048"/>
            <a:ext cx="1920240" cy="219456"/>
          </a:xfrm>
          <a:prstGeom prst="rect">
            <a:avLst/>
          </a:prstGeom>
          <a:noFill/>
          <a:ln/>
        </p:spPr>
        <p:txBody>
          <a:bodyPr wrap="square" lIns="0" tIns="0" rIns="0" bIns="0" rtlCol="0" anchor="ctr">
            <a:normAutofit/>
          </a:bodyPr>
          <a:lstStyle/>
          <a:p>
            <a:pPr indent="0" marL="0">
              <a:buNone/>
            </a:pPr>
            <a:r>
              <a:rPr lang="en-US" sz="950" b="1" spc="20" kern="0" dirty="0">
                <a:solidFill>
                  <a:srgbClr val="F4F7F6"/>
                </a:solidFill>
                <a:latin typeface="Avenir Next" pitchFamily="34" charset="0"/>
                <a:ea typeface="Avenir Next" pitchFamily="34" charset="-122"/>
                <a:cs typeface="Avenir Next" pitchFamily="34" charset="-120"/>
              </a:rPr>
              <a:t>CYBERATTACK</a:t>
            </a:r>
            <a:endParaRPr lang="en-US" sz="950" dirty="0"/>
          </a:p>
        </p:txBody>
      </p:sp>
      <p:sp>
        <p:nvSpPr>
          <p:cNvPr id="28" name="Shape 26"/>
          <p:cNvSpPr/>
          <p:nvPr/>
        </p:nvSpPr>
        <p:spPr>
          <a:xfrm>
            <a:off x="8229600" y="2624328"/>
            <a:ext cx="2304288" cy="310896"/>
          </a:xfrm>
          <a:prstGeom prst="roundRect">
            <a:avLst>
              <a:gd name="adj" fmla="val 50000"/>
            </a:avLst>
          </a:prstGeom>
          <a:solidFill>
            <a:srgbClr val="12272D"/>
          </a:solidFill>
          <a:ln w="12700">
            <a:solidFill>
              <a:srgbClr val="294047"/>
            </a:solidFill>
            <a:prstDash val="solid"/>
          </a:ln>
        </p:spPr>
      </p:sp>
      <p:sp>
        <p:nvSpPr>
          <p:cNvPr id="29" name="Shape 27"/>
          <p:cNvSpPr/>
          <p:nvPr/>
        </p:nvSpPr>
        <p:spPr>
          <a:xfrm>
            <a:off x="8357616" y="2738628"/>
            <a:ext cx="82296" cy="82296"/>
          </a:xfrm>
          <a:prstGeom prst="ellipse">
            <a:avLst/>
          </a:prstGeom>
          <a:solidFill>
            <a:srgbClr val="B784F5"/>
          </a:solidFill>
          <a:ln w="12700">
            <a:solidFill>
              <a:srgbClr val="B784F5"/>
            </a:solidFill>
            <a:prstDash val="solid"/>
          </a:ln>
        </p:spPr>
      </p:sp>
      <p:sp>
        <p:nvSpPr>
          <p:cNvPr id="30" name="Text 28"/>
          <p:cNvSpPr/>
          <p:nvPr/>
        </p:nvSpPr>
        <p:spPr>
          <a:xfrm>
            <a:off x="8522208" y="2670048"/>
            <a:ext cx="1920240" cy="219456"/>
          </a:xfrm>
          <a:prstGeom prst="rect">
            <a:avLst/>
          </a:prstGeom>
          <a:noFill/>
          <a:ln/>
        </p:spPr>
        <p:txBody>
          <a:bodyPr wrap="square" lIns="0" tIns="0" rIns="0" bIns="0" rtlCol="0" anchor="ctr">
            <a:normAutofit/>
          </a:bodyPr>
          <a:lstStyle/>
          <a:p>
            <a:pPr indent="0" marL="0">
              <a:buNone/>
            </a:pPr>
            <a:r>
              <a:rPr lang="en-US" sz="950" b="1" spc="20" kern="0" dirty="0">
                <a:solidFill>
                  <a:srgbClr val="F4F7F6"/>
                </a:solidFill>
                <a:latin typeface="Avenir Next" pitchFamily="34" charset="0"/>
                <a:ea typeface="Avenir Next" pitchFamily="34" charset="-122"/>
                <a:cs typeface="Avenir Next" pitchFamily="34" charset="-120"/>
              </a:rPr>
              <a:t>GRONINGEN EARTHQUAKE</a:t>
            </a:r>
            <a:endParaRPr lang="en-US" sz="950" dirty="0"/>
          </a:p>
        </p:txBody>
      </p:sp>
      <p:sp>
        <p:nvSpPr>
          <p:cNvPr id="31" name="Shape 29"/>
          <p:cNvSpPr/>
          <p:nvPr/>
        </p:nvSpPr>
        <p:spPr>
          <a:xfrm>
            <a:off x="5715000" y="3154680"/>
            <a:ext cx="2304288" cy="310896"/>
          </a:xfrm>
          <a:prstGeom prst="roundRect">
            <a:avLst>
              <a:gd name="adj" fmla="val 50000"/>
            </a:avLst>
          </a:prstGeom>
          <a:solidFill>
            <a:srgbClr val="12272D"/>
          </a:solidFill>
          <a:ln w="12700">
            <a:solidFill>
              <a:srgbClr val="294047"/>
            </a:solidFill>
            <a:prstDash val="solid"/>
          </a:ln>
        </p:spPr>
      </p:sp>
      <p:sp>
        <p:nvSpPr>
          <p:cNvPr id="32" name="Shape 30"/>
          <p:cNvSpPr/>
          <p:nvPr/>
        </p:nvSpPr>
        <p:spPr>
          <a:xfrm>
            <a:off x="5843016" y="3268980"/>
            <a:ext cx="82296" cy="82296"/>
          </a:xfrm>
          <a:prstGeom prst="ellipse">
            <a:avLst/>
          </a:prstGeom>
          <a:solidFill>
            <a:srgbClr val="B784F5"/>
          </a:solidFill>
          <a:ln w="12700">
            <a:solidFill>
              <a:srgbClr val="B784F5"/>
            </a:solidFill>
            <a:prstDash val="solid"/>
          </a:ln>
        </p:spPr>
      </p:sp>
      <p:sp>
        <p:nvSpPr>
          <p:cNvPr id="33" name="Text 31"/>
          <p:cNvSpPr/>
          <p:nvPr/>
        </p:nvSpPr>
        <p:spPr>
          <a:xfrm>
            <a:off x="6007608" y="3200400"/>
            <a:ext cx="1920240" cy="219456"/>
          </a:xfrm>
          <a:prstGeom prst="rect">
            <a:avLst/>
          </a:prstGeom>
          <a:noFill/>
          <a:ln/>
        </p:spPr>
        <p:txBody>
          <a:bodyPr wrap="square" lIns="0" tIns="0" rIns="0" bIns="0" rtlCol="0" anchor="ctr">
            <a:normAutofit/>
          </a:bodyPr>
          <a:lstStyle/>
          <a:p>
            <a:pPr indent="0" marL="0">
              <a:buNone/>
            </a:pPr>
            <a:r>
              <a:rPr lang="en-US" sz="950" b="1" spc="20" kern="0" dirty="0">
                <a:solidFill>
                  <a:srgbClr val="F4F7F6"/>
                </a:solidFill>
                <a:latin typeface="Avenir Next" pitchFamily="34" charset="0"/>
                <a:ea typeface="Avenir Next" pitchFamily="34" charset="-122"/>
                <a:cs typeface="Avenir Next" pitchFamily="34" charset="-120"/>
              </a:rPr>
              <a:t>WILDFIRE + SMOKE</a:t>
            </a:r>
            <a:endParaRPr lang="en-US" sz="950" dirty="0"/>
          </a:p>
        </p:txBody>
      </p:sp>
      <p:sp>
        <p:nvSpPr>
          <p:cNvPr id="34" name="Shape 32"/>
          <p:cNvSpPr/>
          <p:nvPr/>
        </p:nvSpPr>
        <p:spPr>
          <a:xfrm>
            <a:off x="8229600" y="3154680"/>
            <a:ext cx="2304288" cy="310896"/>
          </a:xfrm>
          <a:prstGeom prst="roundRect">
            <a:avLst>
              <a:gd name="adj" fmla="val 50000"/>
            </a:avLst>
          </a:prstGeom>
          <a:solidFill>
            <a:srgbClr val="12272D"/>
          </a:solidFill>
          <a:ln w="12700">
            <a:solidFill>
              <a:srgbClr val="294047"/>
            </a:solidFill>
            <a:prstDash val="solid"/>
          </a:ln>
        </p:spPr>
      </p:sp>
      <p:sp>
        <p:nvSpPr>
          <p:cNvPr id="35" name="Shape 33"/>
          <p:cNvSpPr/>
          <p:nvPr/>
        </p:nvSpPr>
        <p:spPr>
          <a:xfrm>
            <a:off x="8357616" y="3268980"/>
            <a:ext cx="82296" cy="82296"/>
          </a:xfrm>
          <a:prstGeom prst="ellipse">
            <a:avLst/>
          </a:prstGeom>
          <a:solidFill>
            <a:srgbClr val="F56F7C"/>
          </a:solidFill>
          <a:ln w="12700">
            <a:solidFill>
              <a:srgbClr val="F56F7C"/>
            </a:solidFill>
            <a:prstDash val="solid"/>
          </a:ln>
        </p:spPr>
      </p:sp>
      <p:sp>
        <p:nvSpPr>
          <p:cNvPr id="36" name="Text 34"/>
          <p:cNvSpPr/>
          <p:nvPr/>
        </p:nvSpPr>
        <p:spPr>
          <a:xfrm>
            <a:off x="8522208" y="3200400"/>
            <a:ext cx="1920240" cy="219456"/>
          </a:xfrm>
          <a:prstGeom prst="rect">
            <a:avLst/>
          </a:prstGeom>
          <a:noFill/>
          <a:ln/>
        </p:spPr>
        <p:txBody>
          <a:bodyPr wrap="square" lIns="0" tIns="0" rIns="0" bIns="0" rtlCol="0" anchor="ctr">
            <a:normAutofit/>
          </a:bodyPr>
          <a:lstStyle/>
          <a:p>
            <a:pPr indent="0" marL="0">
              <a:buNone/>
            </a:pPr>
            <a:r>
              <a:rPr lang="en-US" sz="950" b="1" spc="20" kern="0" dirty="0">
                <a:solidFill>
                  <a:srgbClr val="F4F7F6"/>
                </a:solidFill>
                <a:latin typeface="Avenir Next" pitchFamily="34" charset="0"/>
                <a:ea typeface="Avenir Next" pitchFamily="34" charset="-122"/>
                <a:cs typeface="Avenir Next" pitchFamily="34" charset="-120"/>
              </a:rPr>
              <a:t>COMPOUND CASCADE</a:t>
            </a:r>
            <a:endParaRPr lang="en-US" sz="950" dirty="0"/>
          </a:p>
        </p:txBody>
      </p:sp>
      <p:sp>
        <p:nvSpPr>
          <p:cNvPr id="37" name="Shape 35"/>
          <p:cNvSpPr/>
          <p:nvPr/>
        </p:nvSpPr>
        <p:spPr>
          <a:xfrm>
            <a:off x="658368" y="4590288"/>
            <a:ext cx="10863072" cy="1078992"/>
          </a:xfrm>
          <a:prstGeom prst="roundRect">
            <a:avLst>
              <a:gd name="adj" fmla="val 11864"/>
            </a:avLst>
          </a:prstGeom>
          <a:solidFill>
            <a:srgbClr val="0D1C21"/>
          </a:solidFill>
          <a:ln w="12700">
            <a:solidFill>
              <a:srgbClr val="294047"/>
            </a:solidFill>
            <a:prstDash val="solid"/>
          </a:ln>
        </p:spPr>
      </p:sp>
      <p:sp>
        <p:nvSpPr>
          <p:cNvPr id="38" name="Text 36"/>
          <p:cNvSpPr/>
          <p:nvPr/>
        </p:nvSpPr>
        <p:spPr>
          <a:xfrm>
            <a:off x="896112" y="4791456"/>
            <a:ext cx="1499616" cy="201168"/>
          </a:xfrm>
          <a:prstGeom prst="rect">
            <a:avLst/>
          </a:prstGeom>
          <a:noFill/>
          <a:ln/>
        </p:spPr>
        <p:txBody>
          <a:bodyPr wrap="square" lIns="0" tIns="0" rIns="0" bIns="0" rtlCol="0" anchor="ctr">
            <a:normAutofit/>
          </a:bodyPr>
          <a:lstStyle/>
          <a:p>
            <a:pPr indent="0" marL="0">
              <a:buNone/>
            </a:pPr>
            <a:r>
              <a:rPr lang="en-US" sz="930" b="1" spc="110" kern="0" dirty="0">
                <a:solidFill>
                  <a:srgbClr val="65E2CB"/>
                </a:solidFill>
                <a:latin typeface="Avenir Next" pitchFamily="34" charset="0"/>
                <a:ea typeface="Avenir Next" pitchFamily="34" charset="-122"/>
                <a:cs typeface="Avenir Next" pitchFamily="34" charset="-120"/>
              </a:rPr>
              <a:t>CONTROL LEVERS</a:t>
            </a:r>
            <a:endParaRPr lang="en-US" sz="930" dirty="0"/>
          </a:p>
        </p:txBody>
      </p:sp>
      <p:sp>
        <p:nvSpPr>
          <p:cNvPr id="39" name="Text 37"/>
          <p:cNvSpPr/>
          <p:nvPr/>
        </p:nvSpPr>
        <p:spPr>
          <a:xfrm>
            <a:off x="2578608" y="4718304"/>
            <a:ext cx="8394192" cy="283464"/>
          </a:xfrm>
          <a:prstGeom prst="rect">
            <a:avLst/>
          </a:prstGeom>
          <a:noFill/>
          <a:ln/>
        </p:spPr>
        <p:txBody>
          <a:bodyPr wrap="square" lIns="0" tIns="0" rIns="0" bIns="0" rtlCol="0" anchor="ctr">
            <a:normAutofit/>
          </a:bodyPr>
          <a:lstStyle/>
          <a:p>
            <a:pPr indent="0" marL="0">
              <a:buNone/>
            </a:pPr>
            <a:r>
              <a:rPr lang="en-US" sz="1150" b="1" dirty="0">
                <a:solidFill>
                  <a:srgbClr val="F4F7F6"/>
                </a:solidFill>
                <a:latin typeface="Avenir Next" pitchFamily="34" charset="0"/>
                <a:ea typeface="Avenir Next" pitchFamily="34" charset="-122"/>
                <a:cs typeface="Avenir Next" pitchFamily="34" charset="-120"/>
              </a:rPr>
              <a:t>season · KNMI’23 path + horizon · intensity · duration · response delay · infrastructure preparedness</a:t>
            </a:r>
            <a:endParaRPr lang="en-US" sz="1150" dirty="0"/>
          </a:p>
        </p:txBody>
      </p:sp>
      <p:sp>
        <p:nvSpPr>
          <p:cNvPr id="40" name="Text 38"/>
          <p:cNvSpPr/>
          <p:nvPr/>
        </p:nvSpPr>
        <p:spPr>
          <a:xfrm>
            <a:off x="2578608" y="5138928"/>
            <a:ext cx="8394192" cy="283464"/>
          </a:xfrm>
          <a:prstGeom prst="rect">
            <a:avLst/>
          </a:prstGeom>
          <a:noFill/>
          <a:ln/>
        </p:spPr>
        <p:txBody>
          <a:bodyPr wrap="square" lIns="0" tIns="0" rIns="0" bIns="0" rtlCol="0" anchor="ctr">
            <a:normAutofit/>
          </a:bodyPr>
          <a:lstStyle/>
          <a:p>
            <a:pPr indent="0" marL="0">
              <a:buNone/>
            </a:pPr>
            <a:r>
              <a:rPr lang="en-US" sz="1020" dirty="0">
                <a:solidFill>
                  <a:srgbClr val="9BB0B5"/>
                </a:solidFill>
                <a:latin typeface="Avenir Next" pitchFamily="34" charset="0"/>
                <a:ea typeface="Avenir Next" pitchFamily="34" charset="-122"/>
                <a:cs typeface="Avenir Next" pitchFamily="34" charset="-120"/>
              </a:rPr>
              <a:t>day type · local start time · demand · backup · repair · network capacity · household preparedness · reference date</a:t>
            </a:r>
            <a:endParaRPr lang="en-US" sz="1020" dirty="0"/>
          </a:p>
        </p:txBody>
      </p:sp>
      <p:sp>
        <p:nvSpPr>
          <p:cNvPr id="42" name="Shape 39"/>
          <p:cNvSpPr/>
          <p:nvPr/>
        </p:nvSpPr>
        <p:spPr>
          <a:xfrm>
            <a:off x="502920" y="292608"/>
            <a:ext cx="310896" cy="310896"/>
          </a:xfrm>
          <a:prstGeom prst="ellipse">
            <a:avLst/>
          </a:prstGeom>
          <a:solidFill>
            <a:srgbClr val="12272D"/>
          </a:solidFill>
          <a:ln w="12700">
            <a:solidFill>
              <a:srgbClr val="65E2CB"/>
            </a:solidFill>
            <a:prstDash val="solid"/>
          </a:ln>
        </p:spPr>
      </p:sp>
      <p:sp>
        <p:nvSpPr>
          <p:cNvPr id="43" name="Shape 40"/>
          <p:cNvSpPr/>
          <p:nvPr/>
        </p:nvSpPr>
        <p:spPr>
          <a:xfrm>
            <a:off x="597103" y="374904"/>
            <a:ext cx="118872" cy="118872"/>
          </a:xfrm>
          <a:prstGeom prst="ellipse">
            <a:avLst/>
          </a:prstGeom>
          <a:solidFill>
            <a:srgbClr val="071216"/>
          </a:solidFill>
          <a:ln w="12700">
            <a:solidFill>
              <a:srgbClr val="65E2CB"/>
            </a:solidFill>
            <a:prstDash val="solid"/>
          </a:ln>
        </p:spPr>
      </p:sp>
      <p:sp>
        <p:nvSpPr>
          <p:cNvPr id="44" name="Shape 41"/>
          <p:cNvSpPr/>
          <p:nvPr/>
        </p:nvSpPr>
        <p:spPr>
          <a:xfrm>
            <a:off x="658368" y="356616"/>
            <a:ext cx="0" cy="182880"/>
          </a:xfrm>
          <a:prstGeom prst="line">
            <a:avLst/>
          </a:prstGeom>
          <a:noFill/>
          <a:ln w="15240">
            <a:solidFill>
              <a:srgbClr val="65E2CB"/>
            </a:solidFill>
            <a:prstDash val="solid"/>
            <a:headEnd type="none"/>
            <a:tailEnd type="none"/>
          </a:ln>
        </p:spPr>
      </p:sp>
      <p:sp>
        <p:nvSpPr>
          <p:cNvPr id="45" name="Text 42"/>
          <p:cNvSpPr/>
          <p:nvPr/>
        </p:nvSpPr>
        <p:spPr>
          <a:xfrm>
            <a:off x="896112" y="310896"/>
            <a:ext cx="2011680" cy="201168"/>
          </a:xfrm>
          <a:prstGeom prst="rect">
            <a:avLst/>
          </a:prstGeom>
          <a:noFill/>
          <a:ln/>
        </p:spPr>
        <p:txBody>
          <a:bodyPr wrap="square" lIns="0" tIns="0" rIns="0" bIns="0" rtlCol="0" anchor="ctr">
            <a:normAutofit/>
          </a:bodyPr>
          <a:lstStyle/>
          <a:p>
            <a:pPr indent="0" marL="0">
              <a:buNone/>
            </a:pPr>
            <a:r>
              <a:rPr lang="en-US" sz="900" b="1" spc="140" kern="0" dirty="0">
                <a:solidFill>
                  <a:srgbClr val="9BB0B5"/>
                </a:solidFill>
                <a:latin typeface="Avenir Next" pitchFamily="34" charset="0"/>
                <a:ea typeface="Avenir Next" pitchFamily="34" charset="-122"/>
                <a:cs typeface="Avenir Next" pitchFamily="34" charset="-120"/>
              </a:rPr>
              <a:t>NL RESILIENCE LAB</a:t>
            </a:r>
            <a:endParaRPr lang="en-US" sz="900" dirty="0"/>
          </a:p>
        </p:txBody>
      </p:sp>
      <p:sp>
        <p:nvSpPr>
          <p:cNvPr id="46" name="Text 43"/>
          <p:cNvSpPr/>
          <p:nvPr/>
        </p:nvSpPr>
        <p:spPr>
          <a:xfrm>
            <a:off x="9052560" y="310896"/>
            <a:ext cx="2514600" cy="201168"/>
          </a:xfrm>
          <a:prstGeom prst="rect">
            <a:avLst/>
          </a:prstGeom>
          <a:noFill/>
          <a:ln/>
        </p:spPr>
        <p:txBody>
          <a:bodyPr wrap="square" lIns="0" tIns="0" rIns="0" bIns="0" rtlCol="0" anchor="ctr">
            <a:normAutofit/>
          </a:bodyPr>
          <a:lstStyle/>
          <a:p>
            <a:pPr algn="r" indent="0" marL="0">
              <a:buNone/>
            </a:pPr>
            <a:r>
              <a:rPr lang="en-US" sz="850" b="1" spc="125" kern="0" dirty="0">
                <a:solidFill>
                  <a:srgbClr val="688087"/>
                </a:solidFill>
                <a:latin typeface="Avenir Next" pitchFamily="34" charset="0"/>
                <a:ea typeface="Avenir Next" pitchFamily="34" charset="-122"/>
                <a:cs typeface="Avenir Next" pitchFamily="34" charset="-120"/>
              </a:rPr>
              <a:t>SCENARIO DESIGN</a:t>
            </a:r>
            <a:endParaRPr lang="en-US" sz="850" dirty="0"/>
          </a:p>
        </p:txBody>
      </p:sp>
      <p:sp>
        <p:nvSpPr>
          <p:cNvPr id="47" name="Shape 44"/>
          <p:cNvSpPr/>
          <p:nvPr/>
        </p:nvSpPr>
        <p:spPr>
          <a:xfrm>
            <a:off x="502920" y="749808"/>
            <a:ext cx="10680192" cy="0"/>
          </a:xfrm>
          <a:prstGeom prst="line">
            <a:avLst/>
          </a:prstGeom>
          <a:noFill/>
          <a:ln w="8890">
            <a:solidFill>
              <a:srgbClr val="294047"/>
            </a:solidFill>
            <a:prstDash val="solid"/>
            <a:headEnd type="none"/>
            <a:tailEnd type="none"/>
          </a:ln>
        </p:spPr>
      </p:sp>
      <p:sp>
        <p:nvSpPr>
          <p:cNvPr id="25" name="Slide Number Placeholder 0"/>
          <p:cNvSpPr>
            <a:spLocks noGrp="1"/>
          </p:cNvSpPr>
          <p:nvPr>
            <p:ph type="sldNum" sz="quarter" idx="4294967295"/>
          </p:nvPr>
        </p:nvSpPr>
        <p:spPr>
          <a:xfrm>
            <a:off x="11119104" y="6446520"/>
            <a:ext cx="475488"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8087"/>
                </a:solidFill>
                <a:latin typeface="Avenir Next"/>
                <a:ea typeface="Avenir Next"/>
                <a:cs typeface="Avenir Next"/>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1216"/>
        </a:solidFill>
      </p:bgPr>
    </p:bg>
    <p:spTree>
      <p:nvGrpSpPr>
        <p:cNvPr id="1" name=""/>
        <p:cNvGrpSpPr/>
        <p:nvPr/>
      </p:nvGrpSpPr>
      <p:grpSpPr>
        <a:xfrm>
          <a:off x="0" y="0"/>
          <a:ext cx="0" cy="0"/>
          <a:chOff x="0" y="0"/>
          <a:chExt cx="0" cy="0"/>
        </a:xfrm>
      </p:grpSpPr>
      <p:sp>
        <p:nvSpPr>
          <p:cNvPr id="2" name="Text 0"/>
          <p:cNvSpPr/>
          <p:nvPr/>
        </p:nvSpPr>
        <p:spPr>
          <a:xfrm>
            <a:off x="594360" y="950976"/>
            <a:ext cx="2377440" cy="201168"/>
          </a:xfrm>
          <a:prstGeom prst="rect">
            <a:avLst/>
          </a:prstGeom>
          <a:noFill/>
          <a:ln/>
        </p:spPr>
        <p:txBody>
          <a:bodyPr wrap="square" lIns="0" tIns="0" rIns="0" bIns="0" rtlCol="0" anchor="ctr">
            <a:normAutofit/>
          </a:bodyPr>
          <a:lstStyle/>
          <a:p>
            <a:pPr indent="0" marL="0">
              <a:buNone/>
            </a:pPr>
            <a:r>
              <a:rPr lang="en-US" sz="900" b="1" spc="165" kern="0" dirty="0">
                <a:solidFill>
                  <a:srgbClr val="65E2CB"/>
                </a:solidFill>
                <a:latin typeface="Avenir Next" pitchFamily="34" charset="0"/>
                <a:ea typeface="Avenir Next" pitchFamily="34" charset="-122"/>
                <a:cs typeface="Avenir Next" pitchFamily="34" charset="-120"/>
              </a:rPr>
              <a:t>SAFETY GUARDS</a:t>
            </a:r>
            <a:endParaRPr lang="en-US" sz="900" dirty="0"/>
          </a:p>
        </p:txBody>
      </p:sp>
      <p:sp>
        <p:nvSpPr>
          <p:cNvPr id="3" name="Text 1"/>
          <p:cNvSpPr/>
          <p:nvPr/>
        </p:nvSpPr>
        <p:spPr>
          <a:xfrm>
            <a:off x="594360" y="1188720"/>
            <a:ext cx="10972800" cy="566928"/>
          </a:xfrm>
          <a:prstGeom prst="rect">
            <a:avLst/>
          </a:prstGeom>
          <a:noFill/>
          <a:ln/>
        </p:spPr>
        <p:txBody>
          <a:bodyPr wrap="square" lIns="0" tIns="0" rIns="0" bIns="0" rtlCol="0" anchor="ctr">
            <a:normAutofit/>
          </a:bodyPr>
          <a:lstStyle/>
          <a:p>
            <a:pPr indent="0" marL="0">
              <a:buNone/>
            </a:pPr>
            <a:r>
              <a:rPr lang="en-US" sz="2900" b="1" dirty="0">
                <a:solidFill>
                  <a:srgbClr val="F4F7F6"/>
                </a:solidFill>
                <a:latin typeface="Avenir Next" pitchFamily="34" charset="0"/>
                <a:ea typeface="Avenir Next" pitchFamily="34" charset="-122"/>
                <a:cs typeface="Avenir Next" pitchFamily="34" charset="-120"/>
              </a:rPr>
              <a:t>Designed to fail safely</a:t>
            </a:r>
            <a:endParaRPr lang="en-US" sz="2900" dirty="0"/>
          </a:p>
        </p:txBody>
      </p:sp>
      <p:sp>
        <p:nvSpPr>
          <p:cNvPr id="4" name="Text 2"/>
          <p:cNvSpPr/>
          <p:nvPr/>
        </p:nvSpPr>
        <p:spPr>
          <a:xfrm>
            <a:off x="594360" y="1746504"/>
            <a:ext cx="10789920" cy="393192"/>
          </a:xfrm>
          <a:prstGeom prst="rect">
            <a:avLst/>
          </a:prstGeom>
          <a:noFill/>
          <a:ln/>
        </p:spPr>
        <p:txBody>
          <a:bodyPr wrap="square" lIns="0" tIns="0" rIns="0" bIns="0" rtlCol="0" anchor="ctr">
            <a:normAutofit/>
          </a:bodyPr>
          <a:lstStyle/>
          <a:p>
            <a:pPr indent="0" marL="0">
              <a:buNone/>
            </a:pPr>
            <a:r>
              <a:rPr lang="en-US" sz="1250" dirty="0">
                <a:solidFill>
                  <a:srgbClr val="9BB0B5"/>
                </a:solidFill>
                <a:latin typeface="Avenir Next" pitchFamily="34" charset="0"/>
                <a:ea typeface="Avenir Next" pitchFamily="34" charset="-122"/>
                <a:cs typeface="Avenir Next" pitchFamily="34" charset="-120"/>
              </a:rPr>
              <a:t>Unsupported local precision is withheld instead of rendered as confident detail.</a:t>
            </a:r>
            <a:endParaRPr lang="en-US" sz="1250" dirty="0"/>
          </a:p>
        </p:txBody>
      </p:sp>
      <p:sp>
        <p:nvSpPr>
          <p:cNvPr id="5" name="Text 3"/>
          <p:cNvSpPr/>
          <p:nvPr/>
        </p:nvSpPr>
        <p:spPr>
          <a:xfrm>
            <a:off x="713232" y="2395728"/>
            <a:ext cx="2304288" cy="749808"/>
          </a:xfrm>
          <a:prstGeom prst="rect">
            <a:avLst/>
          </a:prstGeom>
          <a:noFill/>
          <a:ln/>
        </p:spPr>
        <p:txBody>
          <a:bodyPr wrap="square" lIns="0" tIns="0" rIns="0" bIns="0" rtlCol="0" anchor="ctr">
            <a:normAutofit/>
          </a:bodyPr>
          <a:lstStyle/>
          <a:p>
            <a:pPr indent="0" marL="0">
              <a:buNone/>
            </a:pPr>
            <a:r>
              <a:rPr lang="en-US" sz="4200" b="1" dirty="0">
                <a:solidFill>
                  <a:srgbClr val="65E2CB"/>
                </a:solidFill>
                <a:latin typeface="Avenir Next" pitchFamily="34" charset="0"/>
                <a:ea typeface="Avenir Next" pitchFamily="34" charset="-122"/>
                <a:cs typeface="Avenir Next" pitchFamily="34" charset="-120"/>
              </a:rPr>
              <a:t>245</a:t>
            </a:r>
            <a:endParaRPr lang="en-US" sz="4200" dirty="0"/>
          </a:p>
        </p:txBody>
      </p:sp>
      <p:sp>
        <p:nvSpPr>
          <p:cNvPr id="6" name="Text 4"/>
          <p:cNvSpPr/>
          <p:nvPr/>
        </p:nvSpPr>
        <p:spPr>
          <a:xfrm>
            <a:off x="749808" y="3163824"/>
            <a:ext cx="2377440" cy="566928"/>
          </a:xfrm>
          <a:prstGeom prst="rect">
            <a:avLst/>
          </a:prstGeom>
          <a:noFill/>
          <a:ln/>
        </p:spPr>
        <p:txBody>
          <a:bodyPr wrap="square" lIns="0" tIns="0" rIns="0" bIns="0" rtlCol="0" anchor="ctr">
            <a:normAutofit/>
          </a:bodyPr>
          <a:lstStyle/>
          <a:p>
            <a:pPr indent="0" marL="0">
              <a:buNone/>
            </a:pPr>
            <a:r>
              <a:rPr lang="en-US" sz="1000" b="1" spc="80" kern="0" dirty="0">
                <a:solidFill>
                  <a:srgbClr val="9BB0B5"/>
                </a:solidFill>
                <a:latin typeface="Avenir Next" pitchFamily="34" charset="0"/>
                <a:ea typeface="Avenir Next" pitchFamily="34" charset="-122"/>
                <a:cs typeface="Avenir Next" pitchFamily="34" charset="-120"/>
              </a:rPr>
              <a:t>OF 342 MUNICIPALITIES</a:t>
            </a:r>
            <a:endParaRPr lang="en-US" sz="1000" dirty="0"/>
          </a:p>
          <a:p>
            <a:pPr indent="0" marL="0">
              <a:buNone/>
            </a:pPr>
            <a:r>
              <a:rPr lang="en-US" sz="1000" b="1" spc="80" kern="0" dirty="0">
                <a:solidFill>
                  <a:srgbClr val="9BB0B5"/>
                </a:solidFill>
                <a:latin typeface="Avenir Next" pitchFamily="34" charset="0"/>
                <a:ea typeface="Avenir Next" pitchFamily="34" charset="-122"/>
                <a:cs typeface="Avenir Next" pitchFamily="34" charset="-120"/>
              </a:rPr>
              <a:t>AUDITED</a:t>
            </a:r>
            <a:endParaRPr lang="en-US" sz="1000" dirty="0"/>
          </a:p>
        </p:txBody>
      </p:sp>
      <p:sp>
        <p:nvSpPr>
          <p:cNvPr id="7" name="Text 5"/>
          <p:cNvSpPr/>
          <p:nvPr/>
        </p:nvSpPr>
        <p:spPr>
          <a:xfrm>
            <a:off x="749808" y="3913632"/>
            <a:ext cx="2377440" cy="201168"/>
          </a:xfrm>
          <a:prstGeom prst="rect">
            <a:avLst/>
          </a:prstGeom>
          <a:noFill/>
          <a:ln/>
        </p:spPr>
        <p:txBody>
          <a:bodyPr wrap="square" lIns="0" tIns="0" rIns="0" bIns="0" rtlCol="0" anchor="ctr">
            <a:normAutofit/>
          </a:bodyPr>
          <a:lstStyle/>
          <a:p>
            <a:pPr indent="0" marL="0">
              <a:buNone/>
            </a:pPr>
            <a:r>
              <a:rPr lang="en-US" sz="850" dirty="0">
                <a:solidFill>
                  <a:srgbClr val="688087"/>
                </a:solidFill>
                <a:latin typeface="Avenir Next" pitchFamily="34" charset="0"/>
                <a:ea typeface="Avenir Next" pitchFamily="34" charset="-122"/>
                <a:cs typeface="Avenir Next" pitchFamily="34" charset="-120"/>
              </a:rPr>
              <a:t>as of 3 September 2026</a:t>
            </a:r>
            <a:endParaRPr lang="en-US" sz="850" dirty="0"/>
          </a:p>
        </p:txBody>
      </p:sp>
      <p:sp>
        <p:nvSpPr>
          <p:cNvPr id="8" name="Shape 6"/>
          <p:cNvSpPr/>
          <p:nvPr/>
        </p:nvSpPr>
        <p:spPr>
          <a:xfrm>
            <a:off x="3337560" y="2331720"/>
            <a:ext cx="365760" cy="365760"/>
          </a:xfrm>
          <a:prstGeom prst="ellipse">
            <a:avLst/>
          </a:prstGeom>
          <a:solidFill>
            <a:srgbClr val="12272D"/>
          </a:solidFill>
          <a:ln w="12700">
            <a:solidFill>
              <a:srgbClr val="65E2CB"/>
            </a:solidFill>
            <a:prstDash val="solid"/>
          </a:ln>
        </p:spPr>
      </p:sp>
      <p:sp>
        <p:nvSpPr>
          <p:cNvPr id="9" name="Text 7"/>
          <p:cNvSpPr/>
          <p:nvPr/>
        </p:nvSpPr>
        <p:spPr>
          <a:xfrm>
            <a:off x="3337560" y="2350008"/>
            <a:ext cx="365760" cy="310896"/>
          </a:xfrm>
          <a:prstGeom prst="rect">
            <a:avLst/>
          </a:prstGeom>
          <a:noFill/>
          <a:ln/>
        </p:spPr>
        <p:txBody>
          <a:bodyPr wrap="square" lIns="0" tIns="0" rIns="0" bIns="0" rtlCol="0" anchor="ctr">
            <a:normAutofit/>
          </a:bodyPr>
          <a:lstStyle/>
          <a:p>
            <a:pPr algn="ctr" indent="0" marL="0">
              <a:buNone/>
            </a:pPr>
            <a:r>
              <a:rPr lang="en-US" sz="1100" b="1" dirty="0">
                <a:solidFill>
                  <a:srgbClr val="65E2CB"/>
                </a:solidFill>
                <a:latin typeface="Avenir Next" pitchFamily="34" charset="0"/>
                <a:ea typeface="Avenir Next" pitchFamily="34" charset="-122"/>
                <a:cs typeface="Avenir Next" pitchFamily="34" charset="-120"/>
              </a:rPr>
              <a:t>1</a:t>
            </a:r>
            <a:endParaRPr lang="en-US" sz="1100" dirty="0"/>
          </a:p>
        </p:txBody>
      </p:sp>
      <p:sp>
        <p:nvSpPr>
          <p:cNvPr id="10" name="Text 8"/>
          <p:cNvSpPr/>
          <p:nvPr/>
        </p:nvSpPr>
        <p:spPr>
          <a:xfrm>
            <a:off x="3840480" y="2322576"/>
            <a:ext cx="3264408" cy="246888"/>
          </a:xfrm>
          <a:prstGeom prst="rect">
            <a:avLst/>
          </a:prstGeom>
          <a:noFill/>
          <a:ln/>
        </p:spPr>
        <p:txBody>
          <a:bodyPr wrap="square" lIns="0" tIns="0" rIns="0" bIns="0" rtlCol="0" anchor="ctr">
            <a:normAutofit/>
          </a:bodyPr>
          <a:lstStyle/>
          <a:p>
            <a:pPr indent="0" marL="0">
              <a:buNone/>
            </a:pPr>
            <a:r>
              <a:rPr lang="en-US" sz="1220" b="1" dirty="0">
                <a:solidFill>
                  <a:srgbClr val="F4F7F6"/>
                </a:solidFill>
                <a:latin typeface="Avenir Next" pitchFamily="34" charset="0"/>
                <a:ea typeface="Avenir Next" pitchFamily="34" charset="-122"/>
                <a:cs typeface="Avenir Next" pitchFamily="34" charset="-120"/>
              </a:rPr>
              <a:t>AUDIT</a:t>
            </a:r>
            <a:endParaRPr lang="en-US" sz="1220" dirty="0"/>
          </a:p>
        </p:txBody>
      </p:sp>
      <p:sp>
        <p:nvSpPr>
          <p:cNvPr id="11" name="Text 9"/>
          <p:cNvSpPr/>
          <p:nvPr/>
        </p:nvSpPr>
        <p:spPr>
          <a:xfrm>
            <a:off x="3840480" y="2569464"/>
            <a:ext cx="3264408" cy="411480"/>
          </a:xfrm>
          <a:prstGeom prst="rect">
            <a:avLst/>
          </a:prstGeom>
          <a:noFill/>
          <a:ln/>
        </p:spPr>
        <p:txBody>
          <a:bodyPr wrap="square" lIns="0" tIns="0" rIns="0" bIns="0" rtlCol="0" anchor="t">
            <a:normAutofit/>
          </a:bodyPr>
          <a:lstStyle/>
          <a:p>
            <a:pPr indent="0" marL="0">
              <a:buNone/>
            </a:pPr>
            <a:r>
              <a:rPr lang="en-US" sz="950" dirty="0">
                <a:solidFill>
                  <a:srgbClr val="9BB0B5"/>
                </a:solidFill>
                <a:latin typeface="Avenir Next" pitchFamily="34" charset="0"/>
                <a:ea typeface="Avenir Next" pitchFamily="34" charset="-122"/>
                <a:cs typeface="Avenir Next" pitchFamily="34" charset="-120"/>
              </a:rPr>
              <a:t>Scenario matrix, numerical invariants, spatial plausibility, dependencies and T+72 recovery</a:t>
            </a:r>
            <a:endParaRPr lang="en-US" sz="950" dirty="0"/>
          </a:p>
        </p:txBody>
      </p:sp>
      <p:sp>
        <p:nvSpPr>
          <p:cNvPr id="12" name="Shape 10"/>
          <p:cNvSpPr/>
          <p:nvPr/>
        </p:nvSpPr>
        <p:spPr>
          <a:xfrm>
            <a:off x="7406640" y="2331720"/>
            <a:ext cx="365760" cy="365760"/>
          </a:xfrm>
          <a:prstGeom prst="ellipse">
            <a:avLst/>
          </a:prstGeom>
          <a:solidFill>
            <a:srgbClr val="12272D"/>
          </a:solidFill>
          <a:ln w="12700">
            <a:solidFill>
              <a:srgbClr val="65E2CB"/>
            </a:solidFill>
            <a:prstDash val="solid"/>
          </a:ln>
        </p:spPr>
      </p:sp>
      <p:sp>
        <p:nvSpPr>
          <p:cNvPr id="13" name="Text 11"/>
          <p:cNvSpPr/>
          <p:nvPr/>
        </p:nvSpPr>
        <p:spPr>
          <a:xfrm>
            <a:off x="7406640" y="2350008"/>
            <a:ext cx="365760" cy="310896"/>
          </a:xfrm>
          <a:prstGeom prst="rect">
            <a:avLst/>
          </a:prstGeom>
          <a:noFill/>
          <a:ln/>
        </p:spPr>
        <p:txBody>
          <a:bodyPr wrap="square" lIns="0" tIns="0" rIns="0" bIns="0" rtlCol="0" anchor="ctr">
            <a:normAutofit/>
          </a:bodyPr>
          <a:lstStyle/>
          <a:p>
            <a:pPr algn="ctr" indent="0" marL="0">
              <a:buNone/>
            </a:pPr>
            <a:r>
              <a:rPr lang="en-US" sz="1100" b="1" dirty="0">
                <a:solidFill>
                  <a:srgbClr val="65E2CB"/>
                </a:solidFill>
                <a:latin typeface="Avenir Next" pitchFamily="34" charset="0"/>
                <a:ea typeface="Avenir Next" pitchFamily="34" charset="-122"/>
                <a:cs typeface="Avenir Next" pitchFamily="34" charset="-120"/>
              </a:rPr>
              <a:t>2</a:t>
            </a:r>
            <a:endParaRPr lang="en-US" sz="1100" dirty="0"/>
          </a:p>
        </p:txBody>
      </p:sp>
      <p:sp>
        <p:nvSpPr>
          <p:cNvPr id="14" name="Text 12"/>
          <p:cNvSpPr/>
          <p:nvPr/>
        </p:nvSpPr>
        <p:spPr>
          <a:xfrm>
            <a:off x="7909560" y="2322576"/>
            <a:ext cx="3264408" cy="246888"/>
          </a:xfrm>
          <a:prstGeom prst="rect">
            <a:avLst/>
          </a:prstGeom>
          <a:noFill/>
          <a:ln/>
        </p:spPr>
        <p:txBody>
          <a:bodyPr wrap="square" lIns="0" tIns="0" rIns="0" bIns="0" rtlCol="0" anchor="ctr">
            <a:normAutofit/>
          </a:bodyPr>
          <a:lstStyle/>
          <a:p>
            <a:pPr indent="0" marL="0">
              <a:buNone/>
            </a:pPr>
            <a:r>
              <a:rPr lang="en-US" sz="1220" b="1" dirty="0">
                <a:solidFill>
                  <a:srgbClr val="F4F7F6"/>
                </a:solidFill>
                <a:latin typeface="Avenir Next" pitchFamily="34" charset="0"/>
                <a:ea typeface="Avenir Next" pitchFamily="34" charset="-122"/>
                <a:cs typeface="Avenir Next" pitchFamily="34" charset="-120"/>
              </a:rPr>
              <a:t>COMPILE</a:t>
            </a:r>
            <a:endParaRPr lang="en-US" sz="1220" dirty="0"/>
          </a:p>
        </p:txBody>
      </p:sp>
      <p:sp>
        <p:nvSpPr>
          <p:cNvPr id="15" name="Text 13"/>
          <p:cNvSpPr/>
          <p:nvPr/>
        </p:nvSpPr>
        <p:spPr>
          <a:xfrm>
            <a:off x="7909560" y="2569464"/>
            <a:ext cx="3264408" cy="411480"/>
          </a:xfrm>
          <a:prstGeom prst="rect">
            <a:avLst/>
          </a:prstGeom>
          <a:noFill/>
          <a:ln/>
        </p:spPr>
        <p:txBody>
          <a:bodyPr wrap="square" lIns="0" tIns="0" rIns="0" bIns="0" rtlCol="0" anchor="t">
            <a:normAutofit/>
          </a:bodyPr>
          <a:lstStyle/>
          <a:p>
            <a:pPr indent="0" marL="0">
              <a:buNone/>
            </a:pPr>
            <a:r>
              <a:rPr lang="en-US" sz="950" dirty="0">
                <a:solidFill>
                  <a:srgbClr val="9BB0B5"/>
                </a:solidFill>
                <a:latin typeface="Avenir Next" pitchFamily="34" charset="0"/>
                <a:ea typeface="Avenir Next" pitchFamily="34" charset="-122"/>
                <a:cs typeface="Avenir Next" pitchFamily="34" charset="-120"/>
              </a:rPr>
              <a:t>Correction-required or blocked findings become deterministic generated guards</a:t>
            </a:r>
            <a:endParaRPr lang="en-US" sz="950" dirty="0"/>
          </a:p>
        </p:txBody>
      </p:sp>
      <p:sp>
        <p:nvSpPr>
          <p:cNvPr id="16" name="Shape 14"/>
          <p:cNvSpPr/>
          <p:nvPr/>
        </p:nvSpPr>
        <p:spPr>
          <a:xfrm>
            <a:off x="3337560" y="3840480"/>
            <a:ext cx="365760" cy="365760"/>
          </a:xfrm>
          <a:prstGeom prst="ellipse">
            <a:avLst/>
          </a:prstGeom>
          <a:solidFill>
            <a:srgbClr val="12272D"/>
          </a:solidFill>
          <a:ln w="12700">
            <a:solidFill>
              <a:srgbClr val="65E2CB"/>
            </a:solidFill>
            <a:prstDash val="solid"/>
          </a:ln>
        </p:spPr>
      </p:sp>
      <p:sp>
        <p:nvSpPr>
          <p:cNvPr id="17" name="Text 15"/>
          <p:cNvSpPr/>
          <p:nvPr/>
        </p:nvSpPr>
        <p:spPr>
          <a:xfrm>
            <a:off x="3337560" y="3858768"/>
            <a:ext cx="365760" cy="310896"/>
          </a:xfrm>
          <a:prstGeom prst="rect">
            <a:avLst/>
          </a:prstGeom>
          <a:noFill/>
          <a:ln/>
        </p:spPr>
        <p:txBody>
          <a:bodyPr wrap="square" lIns="0" tIns="0" rIns="0" bIns="0" rtlCol="0" anchor="ctr">
            <a:normAutofit/>
          </a:bodyPr>
          <a:lstStyle/>
          <a:p>
            <a:pPr algn="ctr" indent="0" marL="0">
              <a:buNone/>
            </a:pPr>
            <a:r>
              <a:rPr lang="en-US" sz="1100" b="1" dirty="0">
                <a:solidFill>
                  <a:srgbClr val="65E2CB"/>
                </a:solidFill>
                <a:latin typeface="Avenir Next" pitchFamily="34" charset="0"/>
                <a:ea typeface="Avenir Next" pitchFamily="34" charset="-122"/>
                <a:cs typeface="Avenir Next" pitchFamily="34" charset="-120"/>
              </a:rPr>
              <a:t>3</a:t>
            </a:r>
            <a:endParaRPr lang="en-US" sz="1100" dirty="0"/>
          </a:p>
        </p:txBody>
      </p:sp>
      <p:sp>
        <p:nvSpPr>
          <p:cNvPr id="18" name="Text 16"/>
          <p:cNvSpPr/>
          <p:nvPr/>
        </p:nvSpPr>
        <p:spPr>
          <a:xfrm>
            <a:off x="3840480" y="3831336"/>
            <a:ext cx="3264408" cy="246888"/>
          </a:xfrm>
          <a:prstGeom prst="rect">
            <a:avLst/>
          </a:prstGeom>
          <a:noFill/>
          <a:ln/>
        </p:spPr>
        <p:txBody>
          <a:bodyPr wrap="square" lIns="0" tIns="0" rIns="0" bIns="0" rtlCol="0" anchor="ctr">
            <a:normAutofit/>
          </a:bodyPr>
          <a:lstStyle/>
          <a:p>
            <a:pPr indent="0" marL="0">
              <a:buNone/>
            </a:pPr>
            <a:r>
              <a:rPr lang="en-US" sz="1220" b="1" dirty="0">
                <a:solidFill>
                  <a:srgbClr val="F4F7F6"/>
                </a:solidFill>
                <a:latin typeface="Avenir Next" pitchFamily="34" charset="0"/>
                <a:ea typeface="Avenir Next" pitchFamily="34" charset="-122"/>
                <a:cs typeface="Avenir Next" pitchFamily="34" charset="-120"/>
              </a:rPr>
              <a:t>WITHHOLD</a:t>
            </a:r>
            <a:endParaRPr lang="en-US" sz="1220" dirty="0"/>
          </a:p>
        </p:txBody>
      </p:sp>
      <p:sp>
        <p:nvSpPr>
          <p:cNvPr id="19" name="Text 17"/>
          <p:cNvSpPr/>
          <p:nvPr/>
        </p:nvSpPr>
        <p:spPr>
          <a:xfrm>
            <a:off x="3840480" y="4078224"/>
            <a:ext cx="3264408" cy="411480"/>
          </a:xfrm>
          <a:prstGeom prst="rect">
            <a:avLst/>
          </a:prstGeom>
          <a:noFill/>
          <a:ln/>
        </p:spPr>
        <p:txBody>
          <a:bodyPr wrap="square" lIns="0" tIns="0" rIns="0" bIns="0" rtlCol="0" anchor="t">
            <a:normAutofit/>
          </a:bodyPr>
          <a:lstStyle/>
          <a:p>
            <a:pPr indent="0" marL="0">
              <a:buNone/>
            </a:pPr>
            <a:r>
              <a:rPr lang="en-US" sz="950" dirty="0">
                <a:solidFill>
                  <a:srgbClr val="9BB0B5"/>
                </a:solidFill>
                <a:latin typeface="Avenir Next" pitchFamily="34" charset="0"/>
                <a:ea typeface="Avenir Next" pitchFamily="34" charset="-122"/>
                <a:cs typeface="Avenir Next" pitchFamily="34" charset="-120"/>
              </a:rPr>
              <a:t>Unsupported hazard pathways and downstream claims become Unknown / neutral</a:t>
            </a:r>
            <a:endParaRPr lang="en-US" sz="950" dirty="0"/>
          </a:p>
        </p:txBody>
      </p:sp>
      <p:sp>
        <p:nvSpPr>
          <p:cNvPr id="20" name="Shape 18"/>
          <p:cNvSpPr/>
          <p:nvPr/>
        </p:nvSpPr>
        <p:spPr>
          <a:xfrm>
            <a:off x="7406640" y="3840480"/>
            <a:ext cx="365760" cy="365760"/>
          </a:xfrm>
          <a:prstGeom prst="ellipse">
            <a:avLst/>
          </a:prstGeom>
          <a:solidFill>
            <a:srgbClr val="12272D"/>
          </a:solidFill>
          <a:ln w="12700">
            <a:solidFill>
              <a:srgbClr val="65E2CB"/>
            </a:solidFill>
            <a:prstDash val="solid"/>
          </a:ln>
        </p:spPr>
      </p:sp>
      <p:sp>
        <p:nvSpPr>
          <p:cNvPr id="21" name="Text 19"/>
          <p:cNvSpPr/>
          <p:nvPr/>
        </p:nvSpPr>
        <p:spPr>
          <a:xfrm>
            <a:off x="7406640" y="3858768"/>
            <a:ext cx="365760" cy="310896"/>
          </a:xfrm>
          <a:prstGeom prst="rect">
            <a:avLst/>
          </a:prstGeom>
          <a:noFill/>
          <a:ln/>
        </p:spPr>
        <p:txBody>
          <a:bodyPr wrap="square" lIns="0" tIns="0" rIns="0" bIns="0" rtlCol="0" anchor="ctr">
            <a:normAutofit/>
          </a:bodyPr>
          <a:lstStyle/>
          <a:p>
            <a:pPr algn="ctr" indent="0" marL="0">
              <a:buNone/>
            </a:pPr>
            <a:r>
              <a:rPr lang="en-US" sz="1100" b="1" dirty="0">
                <a:solidFill>
                  <a:srgbClr val="65E2CB"/>
                </a:solidFill>
                <a:latin typeface="Avenir Next" pitchFamily="34" charset="0"/>
                <a:ea typeface="Avenir Next" pitchFamily="34" charset="-122"/>
                <a:cs typeface="Avenir Next" pitchFamily="34" charset="-120"/>
              </a:rPr>
              <a:t>4</a:t>
            </a:r>
            <a:endParaRPr lang="en-US" sz="1100" dirty="0"/>
          </a:p>
        </p:txBody>
      </p:sp>
      <p:sp>
        <p:nvSpPr>
          <p:cNvPr id="22" name="Text 20"/>
          <p:cNvSpPr/>
          <p:nvPr/>
        </p:nvSpPr>
        <p:spPr>
          <a:xfrm>
            <a:off x="7909560" y="3831336"/>
            <a:ext cx="3264408" cy="246888"/>
          </a:xfrm>
          <a:prstGeom prst="rect">
            <a:avLst/>
          </a:prstGeom>
          <a:noFill/>
          <a:ln/>
        </p:spPr>
        <p:txBody>
          <a:bodyPr wrap="square" lIns="0" tIns="0" rIns="0" bIns="0" rtlCol="0" anchor="ctr">
            <a:normAutofit/>
          </a:bodyPr>
          <a:lstStyle/>
          <a:p>
            <a:pPr indent="0" marL="0">
              <a:buNone/>
            </a:pPr>
            <a:r>
              <a:rPr lang="en-US" sz="1220" b="1" dirty="0">
                <a:solidFill>
                  <a:srgbClr val="F4F7F6"/>
                </a:solidFill>
                <a:latin typeface="Avenir Next" pitchFamily="34" charset="0"/>
                <a:ea typeface="Avenir Next" pitchFamily="34" charset="-122"/>
                <a:cs typeface="Avenir Next" pitchFamily="34" charset="-120"/>
              </a:rPr>
              <a:t>BLOCK BUILD</a:t>
            </a:r>
            <a:endParaRPr lang="en-US" sz="1220" dirty="0"/>
          </a:p>
        </p:txBody>
      </p:sp>
      <p:sp>
        <p:nvSpPr>
          <p:cNvPr id="23" name="Text 21"/>
          <p:cNvSpPr/>
          <p:nvPr/>
        </p:nvSpPr>
        <p:spPr>
          <a:xfrm>
            <a:off x="7909560" y="4078224"/>
            <a:ext cx="3264408" cy="411480"/>
          </a:xfrm>
          <a:prstGeom prst="rect">
            <a:avLst/>
          </a:prstGeom>
          <a:noFill/>
          <a:ln/>
        </p:spPr>
        <p:txBody>
          <a:bodyPr wrap="square" lIns="0" tIns="0" rIns="0" bIns="0" rtlCol="0" anchor="t">
            <a:normAutofit/>
          </a:bodyPr>
          <a:lstStyle/>
          <a:p>
            <a:pPr indent="0" marL="0">
              <a:buNone/>
            </a:pPr>
            <a:r>
              <a:rPr lang="en-US" sz="950" dirty="0">
                <a:solidFill>
                  <a:srgbClr val="9BB0B5"/>
                </a:solidFill>
                <a:latin typeface="Avenir Next" pitchFamily="34" charset="0"/>
                <a:ea typeface="Avenir Next" pitchFamily="34" charset="-122"/>
                <a:cs typeface="Avenir Next" pitchFamily="34" charset="-120"/>
              </a:rPr>
              <a:t>A missing or stale generated guard prevents production output</a:t>
            </a:r>
            <a:endParaRPr lang="en-US" sz="950" dirty="0"/>
          </a:p>
        </p:txBody>
      </p:sp>
      <p:sp>
        <p:nvSpPr>
          <p:cNvPr id="24" name="Shape 22"/>
          <p:cNvSpPr/>
          <p:nvPr/>
        </p:nvSpPr>
        <p:spPr>
          <a:xfrm>
            <a:off x="749808" y="5166360"/>
            <a:ext cx="10533888" cy="749808"/>
          </a:xfrm>
          <a:prstGeom prst="roundRect">
            <a:avLst>
              <a:gd name="adj" fmla="val 17073"/>
            </a:avLst>
          </a:prstGeom>
          <a:solidFill>
            <a:srgbClr val="12272D"/>
          </a:solidFill>
          <a:ln w="12700">
            <a:solidFill>
              <a:srgbClr val="294047"/>
            </a:solidFill>
            <a:prstDash val="solid"/>
          </a:ln>
        </p:spPr>
      </p:sp>
      <p:sp>
        <p:nvSpPr>
          <p:cNvPr id="25" name="Text 23"/>
          <p:cNvSpPr/>
          <p:nvPr/>
        </p:nvSpPr>
        <p:spPr>
          <a:xfrm>
            <a:off x="1078992" y="5358384"/>
            <a:ext cx="9857232" cy="292608"/>
          </a:xfrm>
          <a:prstGeom prst="rect">
            <a:avLst/>
          </a:prstGeom>
          <a:noFill/>
          <a:ln/>
        </p:spPr>
        <p:txBody>
          <a:bodyPr wrap="square" lIns="0" tIns="0" rIns="0" bIns="0" rtlCol="0" anchor="ctr">
            <a:normAutofit/>
          </a:bodyPr>
          <a:lstStyle/>
          <a:p>
            <a:pPr algn="ctr" indent="0" marL="0">
              <a:buNone/>
            </a:pPr>
            <a:r>
              <a:rPr lang="en-US" sz="1500" b="1" dirty="0">
                <a:solidFill>
                  <a:srgbClr val="F4F7F6"/>
                </a:solidFill>
                <a:latin typeface="Avenir Next" pitchFamily="34" charset="0"/>
                <a:ea typeface="Avenir Next" pitchFamily="34" charset="-122"/>
                <a:cs typeface="Avenir Next" pitchFamily="34" charset="-120"/>
              </a:rPr>
              <a:t>Audit prose never becomes a causal model automatically.</a:t>
            </a:r>
            <a:endParaRPr lang="en-US" sz="1500" dirty="0"/>
          </a:p>
        </p:txBody>
      </p:sp>
      <p:sp>
        <p:nvSpPr>
          <p:cNvPr id="26" name="Text 24"/>
          <p:cNvSpPr/>
          <p:nvPr/>
        </p:nvSpPr>
        <p:spPr>
          <a:xfrm>
            <a:off x="594360" y="6446520"/>
            <a:ext cx="8686800" cy="164592"/>
          </a:xfrm>
          <a:prstGeom prst="rect">
            <a:avLst/>
          </a:prstGeom>
          <a:noFill/>
          <a:ln/>
        </p:spPr>
        <p:txBody>
          <a:bodyPr wrap="square" lIns="0" tIns="0" rIns="0" bIns="0" rtlCol="0" anchor="ctr">
            <a:normAutofit/>
          </a:bodyPr>
          <a:lstStyle/>
          <a:p>
            <a:pPr indent="0" marL="0">
              <a:buNone/>
            </a:pPr>
            <a:r>
              <a:rPr lang="en-US" sz="760" dirty="0">
                <a:solidFill>
                  <a:srgbClr val="688087"/>
                </a:solidFill>
                <a:latin typeface="Avenir Next" pitchFamily="34" charset="0"/>
                <a:ea typeface="Avenir Next" pitchFamily="34" charset="-122"/>
                <a:cs typeface="Avenir Next" pitchFamily="34" charset="-120"/>
              </a:rPr>
              <a:t>Audit manifest generated 3 September 2026</a:t>
            </a:r>
            <a:endParaRPr lang="en-US" sz="760" dirty="0"/>
          </a:p>
        </p:txBody>
      </p:sp>
      <p:sp>
        <p:nvSpPr>
          <p:cNvPr id="28" name="Shape 25"/>
          <p:cNvSpPr/>
          <p:nvPr/>
        </p:nvSpPr>
        <p:spPr>
          <a:xfrm>
            <a:off x="502920" y="292608"/>
            <a:ext cx="310896" cy="310896"/>
          </a:xfrm>
          <a:prstGeom prst="ellipse">
            <a:avLst/>
          </a:prstGeom>
          <a:solidFill>
            <a:srgbClr val="12272D"/>
          </a:solidFill>
          <a:ln w="12700">
            <a:solidFill>
              <a:srgbClr val="65E2CB"/>
            </a:solidFill>
            <a:prstDash val="solid"/>
          </a:ln>
        </p:spPr>
      </p:sp>
      <p:sp>
        <p:nvSpPr>
          <p:cNvPr id="29" name="Shape 26"/>
          <p:cNvSpPr/>
          <p:nvPr/>
        </p:nvSpPr>
        <p:spPr>
          <a:xfrm>
            <a:off x="597103" y="374904"/>
            <a:ext cx="118872" cy="118872"/>
          </a:xfrm>
          <a:prstGeom prst="ellipse">
            <a:avLst/>
          </a:prstGeom>
          <a:solidFill>
            <a:srgbClr val="071216"/>
          </a:solidFill>
          <a:ln w="12700">
            <a:solidFill>
              <a:srgbClr val="65E2CB"/>
            </a:solidFill>
            <a:prstDash val="solid"/>
          </a:ln>
        </p:spPr>
      </p:sp>
      <p:sp>
        <p:nvSpPr>
          <p:cNvPr id="30" name="Shape 27"/>
          <p:cNvSpPr/>
          <p:nvPr/>
        </p:nvSpPr>
        <p:spPr>
          <a:xfrm>
            <a:off x="658368" y="356616"/>
            <a:ext cx="0" cy="182880"/>
          </a:xfrm>
          <a:prstGeom prst="line">
            <a:avLst/>
          </a:prstGeom>
          <a:noFill/>
          <a:ln w="15240">
            <a:solidFill>
              <a:srgbClr val="65E2CB"/>
            </a:solidFill>
            <a:prstDash val="solid"/>
            <a:headEnd type="none"/>
            <a:tailEnd type="none"/>
          </a:ln>
        </p:spPr>
      </p:sp>
      <p:sp>
        <p:nvSpPr>
          <p:cNvPr id="31" name="Text 28"/>
          <p:cNvSpPr/>
          <p:nvPr/>
        </p:nvSpPr>
        <p:spPr>
          <a:xfrm>
            <a:off x="896112" y="310896"/>
            <a:ext cx="2011680" cy="201168"/>
          </a:xfrm>
          <a:prstGeom prst="rect">
            <a:avLst/>
          </a:prstGeom>
          <a:noFill/>
          <a:ln/>
        </p:spPr>
        <p:txBody>
          <a:bodyPr wrap="square" lIns="0" tIns="0" rIns="0" bIns="0" rtlCol="0" anchor="ctr">
            <a:normAutofit/>
          </a:bodyPr>
          <a:lstStyle/>
          <a:p>
            <a:pPr indent="0" marL="0">
              <a:buNone/>
            </a:pPr>
            <a:r>
              <a:rPr lang="en-US" sz="900" b="1" spc="140" kern="0" dirty="0">
                <a:solidFill>
                  <a:srgbClr val="9BB0B5"/>
                </a:solidFill>
                <a:latin typeface="Avenir Next" pitchFamily="34" charset="0"/>
                <a:ea typeface="Avenir Next" pitchFamily="34" charset="-122"/>
                <a:cs typeface="Avenir Next" pitchFamily="34" charset="-120"/>
              </a:rPr>
              <a:t>NL RESILIENCE LAB</a:t>
            </a:r>
            <a:endParaRPr lang="en-US" sz="900" dirty="0"/>
          </a:p>
        </p:txBody>
      </p:sp>
      <p:sp>
        <p:nvSpPr>
          <p:cNvPr id="32" name="Text 29"/>
          <p:cNvSpPr/>
          <p:nvPr/>
        </p:nvSpPr>
        <p:spPr>
          <a:xfrm>
            <a:off x="9052560" y="310896"/>
            <a:ext cx="2514600" cy="201168"/>
          </a:xfrm>
          <a:prstGeom prst="rect">
            <a:avLst/>
          </a:prstGeom>
          <a:noFill/>
          <a:ln/>
        </p:spPr>
        <p:txBody>
          <a:bodyPr wrap="square" lIns="0" tIns="0" rIns="0" bIns="0" rtlCol="0" anchor="ctr">
            <a:normAutofit/>
          </a:bodyPr>
          <a:lstStyle/>
          <a:p>
            <a:pPr algn="r" indent="0" marL="0">
              <a:buNone/>
            </a:pPr>
            <a:r>
              <a:rPr lang="en-US" sz="850" b="1" spc="125" kern="0" dirty="0">
                <a:solidFill>
                  <a:srgbClr val="688087"/>
                </a:solidFill>
                <a:latin typeface="Avenir Next" pitchFamily="34" charset="0"/>
                <a:ea typeface="Avenir Next" pitchFamily="34" charset="-122"/>
                <a:cs typeface="Avenir Next" pitchFamily="34" charset="-120"/>
              </a:rPr>
              <a:t>MODEL ASSURANCE</a:t>
            </a:r>
            <a:endParaRPr lang="en-US" sz="850" dirty="0"/>
          </a:p>
        </p:txBody>
      </p:sp>
      <p:sp>
        <p:nvSpPr>
          <p:cNvPr id="33" name="Shape 30"/>
          <p:cNvSpPr/>
          <p:nvPr/>
        </p:nvSpPr>
        <p:spPr>
          <a:xfrm>
            <a:off x="502920" y="749808"/>
            <a:ext cx="10680192" cy="0"/>
          </a:xfrm>
          <a:prstGeom prst="line">
            <a:avLst/>
          </a:prstGeom>
          <a:noFill/>
          <a:ln w="8890">
            <a:solidFill>
              <a:srgbClr val="294047"/>
            </a:solidFill>
            <a:prstDash val="solid"/>
            <a:headEnd type="none"/>
            <a:tailEnd type="none"/>
          </a:ln>
        </p:spPr>
      </p:sp>
      <p:sp>
        <p:nvSpPr>
          <p:cNvPr id="25" name="Slide Number Placeholder 0"/>
          <p:cNvSpPr>
            <a:spLocks noGrp="1"/>
          </p:cNvSpPr>
          <p:nvPr>
            <p:ph type="sldNum" sz="quarter" idx="4294967295"/>
          </p:nvPr>
        </p:nvSpPr>
        <p:spPr>
          <a:xfrm>
            <a:off x="11119104" y="6446520"/>
            <a:ext cx="475488"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8087"/>
                </a:solidFill>
                <a:latin typeface="Avenir Next"/>
                <a:ea typeface="Avenir Next"/>
                <a:cs typeface="Avenir Next"/>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1216"/>
        </a:solidFill>
      </p:bgPr>
    </p:bg>
    <p:spTree>
      <p:nvGrpSpPr>
        <p:cNvPr id="1" name=""/>
        <p:cNvGrpSpPr/>
        <p:nvPr/>
      </p:nvGrpSpPr>
      <p:grpSpPr>
        <a:xfrm>
          <a:off x="0" y="0"/>
          <a:ext cx="0" cy="0"/>
          <a:chOff x="0" y="0"/>
          <a:chExt cx="0" cy="0"/>
        </a:xfrm>
      </p:grpSpPr>
      <p:sp>
        <p:nvSpPr>
          <p:cNvPr id="2" name="Text 0"/>
          <p:cNvSpPr/>
          <p:nvPr/>
        </p:nvSpPr>
        <p:spPr>
          <a:xfrm>
            <a:off x="594360" y="950976"/>
            <a:ext cx="2377440" cy="201168"/>
          </a:xfrm>
          <a:prstGeom prst="rect">
            <a:avLst/>
          </a:prstGeom>
          <a:noFill/>
          <a:ln/>
        </p:spPr>
        <p:txBody>
          <a:bodyPr wrap="square" lIns="0" tIns="0" rIns="0" bIns="0" rtlCol="0" anchor="ctr">
            <a:normAutofit/>
          </a:bodyPr>
          <a:lstStyle/>
          <a:p>
            <a:pPr indent="0" marL="0">
              <a:buNone/>
            </a:pPr>
            <a:r>
              <a:rPr lang="en-US" sz="900" b="1" spc="165" kern="0" dirty="0">
                <a:solidFill>
                  <a:srgbClr val="65E2CB"/>
                </a:solidFill>
                <a:latin typeface="Avenir Next" pitchFamily="34" charset="0"/>
                <a:ea typeface="Avenir Next" pitchFamily="34" charset="-122"/>
                <a:cs typeface="Avenir Next" pitchFamily="34" charset="-120"/>
              </a:rPr>
              <a:t>SCOPE</a:t>
            </a:r>
            <a:endParaRPr lang="en-US" sz="900" dirty="0"/>
          </a:p>
        </p:txBody>
      </p:sp>
      <p:sp>
        <p:nvSpPr>
          <p:cNvPr id="3" name="Text 1"/>
          <p:cNvSpPr/>
          <p:nvPr/>
        </p:nvSpPr>
        <p:spPr>
          <a:xfrm>
            <a:off x="594360" y="1188720"/>
            <a:ext cx="10972800" cy="566928"/>
          </a:xfrm>
          <a:prstGeom prst="rect">
            <a:avLst/>
          </a:prstGeom>
          <a:noFill/>
          <a:ln/>
        </p:spPr>
        <p:txBody>
          <a:bodyPr wrap="square" lIns="0" tIns="0" rIns="0" bIns="0" rtlCol="0" anchor="ctr">
            <a:normAutofit/>
          </a:bodyPr>
          <a:lstStyle/>
          <a:p>
            <a:pPr indent="0" marL="0">
              <a:buNone/>
            </a:pPr>
            <a:r>
              <a:rPr lang="en-US" sz="2900" b="1" dirty="0">
                <a:solidFill>
                  <a:srgbClr val="F4F7F6"/>
                </a:solidFill>
                <a:latin typeface="Avenir Next" pitchFamily="34" charset="0"/>
                <a:ea typeface="Avenir Next" pitchFamily="34" charset="-122"/>
                <a:cs typeface="Avenir Next" pitchFamily="34" charset="-120"/>
              </a:rPr>
              <a:t>Powerful for exploration—careful about claims</a:t>
            </a:r>
            <a:endParaRPr lang="en-US" sz="2900" dirty="0"/>
          </a:p>
        </p:txBody>
      </p:sp>
      <p:sp>
        <p:nvSpPr>
          <p:cNvPr id="4" name="Text 2"/>
          <p:cNvSpPr/>
          <p:nvPr/>
        </p:nvSpPr>
        <p:spPr>
          <a:xfrm>
            <a:off x="594360" y="1746504"/>
            <a:ext cx="10789920" cy="393192"/>
          </a:xfrm>
          <a:prstGeom prst="rect">
            <a:avLst/>
          </a:prstGeom>
          <a:noFill/>
          <a:ln/>
        </p:spPr>
        <p:txBody>
          <a:bodyPr wrap="square" lIns="0" tIns="0" rIns="0" bIns="0" rtlCol="0" anchor="ctr">
            <a:normAutofit/>
          </a:bodyPr>
          <a:lstStyle/>
          <a:p>
            <a:pPr indent="0" marL="0">
              <a:buNone/>
            </a:pPr>
            <a:r>
              <a:rPr lang="en-US" sz="1250" dirty="0">
                <a:solidFill>
                  <a:srgbClr val="9BB0B5"/>
                </a:solidFill>
                <a:latin typeface="Avenir Next" pitchFamily="34" charset="0"/>
                <a:ea typeface="Avenir Next" pitchFamily="34" charset="-122"/>
                <a:cs typeface="Avenir Next" pitchFamily="34" charset="-120"/>
              </a:rPr>
              <a:t>The prototype is explicit about what is modeled, observed, assumed and unresolved.</a:t>
            </a:r>
            <a:endParaRPr lang="en-US" sz="1250" dirty="0"/>
          </a:p>
        </p:txBody>
      </p:sp>
      <p:sp>
        <p:nvSpPr>
          <p:cNvPr id="5" name="Shape 3"/>
          <p:cNvSpPr/>
          <p:nvPr/>
        </p:nvSpPr>
        <p:spPr>
          <a:xfrm>
            <a:off x="640080" y="2240280"/>
            <a:ext cx="5257800" cy="3429000"/>
          </a:xfrm>
          <a:prstGeom prst="roundRect">
            <a:avLst>
              <a:gd name="adj" fmla="val 4267"/>
            </a:avLst>
          </a:prstGeom>
          <a:solidFill>
            <a:srgbClr val="0D1C21"/>
          </a:solidFill>
          <a:ln w="12700">
            <a:solidFill>
              <a:srgbClr val="65E2CB"/>
            </a:solidFill>
            <a:prstDash val="solid"/>
          </a:ln>
        </p:spPr>
      </p:sp>
      <p:sp>
        <p:nvSpPr>
          <p:cNvPr id="6" name="Text 4"/>
          <p:cNvSpPr/>
          <p:nvPr/>
        </p:nvSpPr>
        <p:spPr>
          <a:xfrm>
            <a:off x="914400" y="2505456"/>
            <a:ext cx="2743200" cy="256032"/>
          </a:xfrm>
          <a:prstGeom prst="rect">
            <a:avLst/>
          </a:prstGeom>
          <a:noFill/>
          <a:ln/>
        </p:spPr>
        <p:txBody>
          <a:bodyPr wrap="square" lIns="0" tIns="0" rIns="0" bIns="0" rtlCol="0" anchor="ctr">
            <a:normAutofit/>
          </a:bodyPr>
          <a:lstStyle/>
          <a:p>
            <a:pPr indent="0" marL="0">
              <a:buNone/>
            </a:pPr>
            <a:r>
              <a:rPr lang="en-US" sz="1050" b="1" spc="110" kern="0" dirty="0">
                <a:solidFill>
                  <a:srgbClr val="65E2CB"/>
                </a:solidFill>
                <a:latin typeface="Avenir Next" pitchFamily="34" charset="0"/>
                <a:ea typeface="Avenir Next" pitchFamily="34" charset="-122"/>
                <a:cs typeface="Avenir Next" pitchFamily="34" charset="-120"/>
              </a:rPr>
              <a:t>WHAT IT DOES WELL</a:t>
            </a:r>
            <a:endParaRPr lang="en-US" sz="1050" dirty="0"/>
          </a:p>
        </p:txBody>
      </p:sp>
      <p:sp>
        <p:nvSpPr>
          <p:cNvPr id="7" name="Shape 5"/>
          <p:cNvSpPr/>
          <p:nvPr/>
        </p:nvSpPr>
        <p:spPr>
          <a:xfrm>
            <a:off x="932688" y="3026664"/>
            <a:ext cx="100584" cy="100584"/>
          </a:xfrm>
          <a:prstGeom prst="ellipse">
            <a:avLst/>
          </a:prstGeom>
          <a:solidFill>
            <a:srgbClr val="65E2CB"/>
          </a:solidFill>
          <a:ln w="12700">
            <a:solidFill>
              <a:srgbClr val="65E2CB"/>
            </a:solidFill>
            <a:prstDash val="solid"/>
          </a:ln>
        </p:spPr>
      </p:sp>
      <p:sp>
        <p:nvSpPr>
          <p:cNvPr id="8" name="Text 6"/>
          <p:cNvSpPr/>
          <p:nvPr/>
        </p:nvSpPr>
        <p:spPr>
          <a:xfrm>
            <a:off x="1188720" y="2944368"/>
            <a:ext cx="4315968" cy="274320"/>
          </a:xfrm>
          <a:prstGeom prst="rect">
            <a:avLst/>
          </a:prstGeom>
          <a:noFill/>
          <a:ln/>
        </p:spPr>
        <p:txBody>
          <a:bodyPr wrap="square" lIns="0" tIns="0" rIns="0" bIns="0" rtlCol="0" anchor="ctr">
            <a:normAutofit/>
          </a:bodyPr>
          <a:lstStyle/>
          <a:p>
            <a:pPr indent="0" marL="0">
              <a:buNone/>
            </a:pPr>
            <a:r>
              <a:rPr lang="en-US" sz="1230" dirty="0">
                <a:solidFill>
                  <a:srgbClr val="F4F7F6"/>
                </a:solidFill>
                <a:latin typeface="Avenir Next" pitchFamily="34" charset="0"/>
                <a:ea typeface="Avenir Next" pitchFamily="34" charset="-122"/>
                <a:cs typeface="Avenir Next" pitchFamily="34" charset="-120"/>
              </a:rPr>
              <a:t>Compare assumptions and response policies</a:t>
            </a:r>
            <a:endParaRPr lang="en-US" sz="1230" dirty="0"/>
          </a:p>
        </p:txBody>
      </p:sp>
      <p:sp>
        <p:nvSpPr>
          <p:cNvPr id="9" name="Shape 7"/>
          <p:cNvSpPr/>
          <p:nvPr/>
        </p:nvSpPr>
        <p:spPr>
          <a:xfrm>
            <a:off x="932688" y="3474720"/>
            <a:ext cx="100584" cy="100584"/>
          </a:xfrm>
          <a:prstGeom prst="ellipse">
            <a:avLst/>
          </a:prstGeom>
          <a:solidFill>
            <a:srgbClr val="65E2CB"/>
          </a:solidFill>
          <a:ln w="12700">
            <a:solidFill>
              <a:srgbClr val="65E2CB"/>
            </a:solidFill>
            <a:prstDash val="solid"/>
          </a:ln>
        </p:spPr>
      </p:sp>
      <p:sp>
        <p:nvSpPr>
          <p:cNvPr id="10" name="Text 8"/>
          <p:cNvSpPr/>
          <p:nvPr/>
        </p:nvSpPr>
        <p:spPr>
          <a:xfrm>
            <a:off x="1188720" y="3392424"/>
            <a:ext cx="4315968" cy="274320"/>
          </a:xfrm>
          <a:prstGeom prst="rect">
            <a:avLst/>
          </a:prstGeom>
          <a:noFill/>
          <a:ln/>
        </p:spPr>
        <p:txBody>
          <a:bodyPr wrap="square" lIns="0" tIns="0" rIns="0" bIns="0" rtlCol="0" anchor="ctr">
            <a:normAutofit/>
          </a:bodyPr>
          <a:lstStyle/>
          <a:p>
            <a:pPr indent="0" marL="0">
              <a:buNone/>
            </a:pPr>
            <a:r>
              <a:rPr lang="en-US" sz="1230" dirty="0">
                <a:solidFill>
                  <a:srgbClr val="F4F7F6"/>
                </a:solidFill>
                <a:latin typeface="Avenir Next" pitchFamily="34" charset="0"/>
                <a:ea typeface="Avenir Next" pitchFamily="34" charset="-122"/>
                <a:cs typeface="Avenir Next" pitchFamily="34" charset="-120"/>
              </a:rPr>
              <a:t>Reveal time-dependent service cascades</a:t>
            </a:r>
            <a:endParaRPr lang="en-US" sz="1230" dirty="0"/>
          </a:p>
        </p:txBody>
      </p:sp>
      <p:sp>
        <p:nvSpPr>
          <p:cNvPr id="11" name="Shape 9"/>
          <p:cNvSpPr/>
          <p:nvPr/>
        </p:nvSpPr>
        <p:spPr>
          <a:xfrm>
            <a:off x="932688" y="3922776"/>
            <a:ext cx="100584" cy="100584"/>
          </a:xfrm>
          <a:prstGeom prst="ellipse">
            <a:avLst/>
          </a:prstGeom>
          <a:solidFill>
            <a:srgbClr val="65E2CB"/>
          </a:solidFill>
          <a:ln w="12700">
            <a:solidFill>
              <a:srgbClr val="65E2CB"/>
            </a:solidFill>
            <a:prstDash val="solid"/>
          </a:ln>
        </p:spPr>
      </p:sp>
      <p:sp>
        <p:nvSpPr>
          <p:cNvPr id="12" name="Text 10"/>
          <p:cNvSpPr/>
          <p:nvPr/>
        </p:nvSpPr>
        <p:spPr>
          <a:xfrm>
            <a:off x="1188720" y="3840480"/>
            <a:ext cx="4315968" cy="274320"/>
          </a:xfrm>
          <a:prstGeom prst="rect">
            <a:avLst/>
          </a:prstGeom>
          <a:noFill/>
          <a:ln/>
        </p:spPr>
        <p:txBody>
          <a:bodyPr wrap="square" lIns="0" tIns="0" rIns="0" bIns="0" rtlCol="0" anchor="ctr">
            <a:normAutofit/>
          </a:bodyPr>
          <a:lstStyle/>
          <a:p>
            <a:pPr indent="0" marL="0">
              <a:buNone/>
            </a:pPr>
            <a:r>
              <a:rPr lang="en-US" sz="1230" dirty="0">
                <a:solidFill>
                  <a:srgbClr val="F4F7F6"/>
                </a:solidFill>
                <a:latin typeface="Avenir Next" pitchFamily="34" charset="0"/>
                <a:ea typeface="Avenir Next" pitchFamily="34" charset="-122"/>
                <a:cs typeface="Avenir Next" pitchFamily="34" charset="-120"/>
              </a:rPr>
              <a:t>Keep national and local views coherent</a:t>
            </a:r>
            <a:endParaRPr lang="en-US" sz="1230" dirty="0"/>
          </a:p>
        </p:txBody>
      </p:sp>
      <p:sp>
        <p:nvSpPr>
          <p:cNvPr id="13" name="Shape 11"/>
          <p:cNvSpPr/>
          <p:nvPr/>
        </p:nvSpPr>
        <p:spPr>
          <a:xfrm>
            <a:off x="932688" y="4370832"/>
            <a:ext cx="100584" cy="100584"/>
          </a:xfrm>
          <a:prstGeom prst="ellipse">
            <a:avLst/>
          </a:prstGeom>
          <a:solidFill>
            <a:srgbClr val="65E2CB"/>
          </a:solidFill>
          <a:ln w="12700">
            <a:solidFill>
              <a:srgbClr val="65E2CB"/>
            </a:solidFill>
            <a:prstDash val="solid"/>
          </a:ln>
        </p:spPr>
      </p:sp>
      <p:sp>
        <p:nvSpPr>
          <p:cNvPr id="14" name="Text 12"/>
          <p:cNvSpPr/>
          <p:nvPr/>
        </p:nvSpPr>
        <p:spPr>
          <a:xfrm>
            <a:off x="1188720" y="4288536"/>
            <a:ext cx="4315968" cy="274320"/>
          </a:xfrm>
          <a:prstGeom prst="rect">
            <a:avLst/>
          </a:prstGeom>
          <a:noFill/>
          <a:ln/>
        </p:spPr>
        <p:txBody>
          <a:bodyPr wrap="square" lIns="0" tIns="0" rIns="0" bIns="0" rtlCol="0" anchor="ctr">
            <a:normAutofit/>
          </a:bodyPr>
          <a:lstStyle/>
          <a:p>
            <a:pPr indent="0" marL="0">
              <a:buNone/>
            </a:pPr>
            <a:r>
              <a:rPr lang="en-US" sz="1230" dirty="0">
                <a:solidFill>
                  <a:srgbClr val="F4F7F6"/>
                </a:solidFill>
                <a:latin typeface="Avenir Next" pitchFamily="34" charset="0"/>
                <a:ea typeface="Avenir Next" pitchFamily="34" charset="-122"/>
                <a:cs typeface="Avenir Next" pitchFamily="34" charset="-120"/>
              </a:rPr>
              <a:t>Expose drivers and counterfactuals</a:t>
            </a:r>
            <a:endParaRPr lang="en-US" sz="1230" dirty="0"/>
          </a:p>
        </p:txBody>
      </p:sp>
      <p:sp>
        <p:nvSpPr>
          <p:cNvPr id="15" name="Shape 13"/>
          <p:cNvSpPr/>
          <p:nvPr/>
        </p:nvSpPr>
        <p:spPr>
          <a:xfrm>
            <a:off x="932688" y="4818888"/>
            <a:ext cx="100584" cy="100584"/>
          </a:xfrm>
          <a:prstGeom prst="ellipse">
            <a:avLst/>
          </a:prstGeom>
          <a:solidFill>
            <a:srgbClr val="65E2CB"/>
          </a:solidFill>
          <a:ln w="12700">
            <a:solidFill>
              <a:srgbClr val="65E2CB"/>
            </a:solidFill>
            <a:prstDash val="solid"/>
          </a:ln>
        </p:spPr>
      </p:sp>
      <p:sp>
        <p:nvSpPr>
          <p:cNvPr id="16" name="Text 14"/>
          <p:cNvSpPr/>
          <p:nvPr/>
        </p:nvSpPr>
        <p:spPr>
          <a:xfrm>
            <a:off x="1188720" y="4736592"/>
            <a:ext cx="4315968" cy="274320"/>
          </a:xfrm>
          <a:prstGeom prst="rect">
            <a:avLst/>
          </a:prstGeom>
          <a:noFill/>
          <a:ln/>
        </p:spPr>
        <p:txBody>
          <a:bodyPr wrap="square" lIns="0" tIns="0" rIns="0" bIns="0" rtlCol="0" anchor="ctr">
            <a:normAutofit/>
          </a:bodyPr>
          <a:lstStyle/>
          <a:p>
            <a:pPr indent="0" marL="0">
              <a:buNone/>
            </a:pPr>
            <a:r>
              <a:rPr lang="en-US" sz="1230" dirty="0">
                <a:solidFill>
                  <a:srgbClr val="F4F7F6"/>
                </a:solidFill>
                <a:latin typeface="Avenir Next" pitchFamily="34" charset="0"/>
                <a:ea typeface="Avenir Next" pitchFamily="34" charset="-122"/>
                <a:cs typeface="Avenir Next" pitchFamily="34" charset="-120"/>
              </a:rPr>
              <a:t>Preserve provenance and uncertainty</a:t>
            </a:r>
            <a:endParaRPr lang="en-US" sz="1230" dirty="0"/>
          </a:p>
        </p:txBody>
      </p:sp>
      <p:sp>
        <p:nvSpPr>
          <p:cNvPr id="17" name="Shape 15"/>
          <p:cNvSpPr/>
          <p:nvPr/>
        </p:nvSpPr>
        <p:spPr>
          <a:xfrm>
            <a:off x="6272784" y="2240280"/>
            <a:ext cx="5257800" cy="3429000"/>
          </a:xfrm>
          <a:prstGeom prst="roundRect">
            <a:avLst>
              <a:gd name="adj" fmla="val 4267"/>
            </a:avLst>
          </a:prstGeom>
          <a:solidFill>
            <a:srgbClr val="0D1C21"/>
          </a:solidFill>
          <a:ln w="12700">
            <a:solidFill>
              <a:srgbClr val="F56F7C"/>
            </a:solidFill>
            <a:prstDash val="solid"/>
          </a:ln>
        </p:spPr>
      </p:sp>
      <p:sp>
        <p:nvSpPr>
          <p:cNvPr id="18" name="Text 16"/>
          <p:cNvSpPr/>
          <p:nvPr/>
        </p:nvSpPr>
        <p:spPr>
          <a:xfrm>
            <a:off x="6547104" y="2505456"/>
            <a:ext cx="3200400" cy="256032"/>
          </a:xfrm>
          <a:prstGeom prst="rect">
            <a:avLst/>
          </a:prstGeom>
          <a:noFill/>
          <a:ln/>
        </p:spPr>
        <p:txBody>
          <a:bodyPr wrap="square" lIns="0" tIns="0" rIns="0" bIns="0" rtlCol="0" anchor="ctr">
            <a:normAutofit/>
          </a:bodyPr>
          <a:lstStyle/>
          <a:p>
            <a:pPr indent="0" marL="0">
              <a:buNone/>
            </a:pPr>
            <a:r>
              <a:rPr lang="en-US" sz="1050" b="1" spc="110" kern="0" dirty="0">
                <a:solidFill>
                  <a:srgbClr val="F56F7C"/>
                </a:solidFill>
                <a:latin typeface="Avenir Next" pitchFamily="34" charset="0"/>
                <a:ea typeface="Avenir Next" pitchFamily="34" charset="-122"/>
                <a:cs typeface="Avenir Next" pitchFamily="34" charset="-120"/>
              </a:rPr>
              <a:t>WHAT IT DOES NOT CLAIM</a:t>
            </a:r>
            <a:endParaRPr lang="en-US" sz="1050" dirty="0"/>
          </a:p>
        </p:txBody>
      </p:sp>
      <p:sp>
        <p:nvSpPr>
          <p:cNvPr id="19" name="Shape 17"/>
          <p:cNvSpPr/>
          <p:nvPr/>
        </p:nvSpPr>
        <p:spPr>
          <a:xfrm>
            <a:off x="6565392" y="3081528"/>
            <a:ext cx="137160" cy="0"/>
          </a:xfrm>
          <a:prstGeom prst="line">
            <a:avLst/>
          </a:prstGeom>
          <a:noFill/>
          <a:ln w="25400">
            <a:solidFill>
              <a:srgbClr val="F56F7C"/>
            </a:solidFill>
            <a:prstDash val="solid"/>
            <a:headEnd type="none"/>
            <a:tailEnd type="none"/>
          </a:ln>
        </p:spPr>
      </p:sp>
      <p:sp>
        <p:nvSpPr>
          <p:cNvPr id="20" name="Text 18"/>
          <p:cNvSpPr/>
          <p:nvPr/>
        </p:nvSpPr>
        <p:spPr>
          <a:xfrm>
            <a:off x="6839712" y="2944368"/>
            <a:ext cx="4297680" cy="274320"/>
          </a:xfrm>
          <a:prstGeom prst="rect">
            <a:avLst/>
          </a:prstGeom>
          <a:noFill/>
          <a:ln/>
        </p:spPr>
        <p:txBody>
          <a:bodyPr wrap="square" lIns="0" tIns="0" rIns="0" bIns="0" rtlCol="0" anchor="ctr">
            <a:normAutofit/>
          </a:bodyPr>
          <a:lstStyle/>
          <a:p>
            <a:pPr indent="0" marL="0">
              <a:buNone/>
            </a:pPr>
            <a:r>
              <a:rPr lang="en-US" sz="1230" dirty="0">
                <a:solidFill>
                  <a:srgbClr val="F4F7F6"/>
                </a:solidFill>
                <a:latin typeface="Avenir Next" pitchFamily="34" charset="0"/>
                <a:ea typeface="Avenir Next" pitchFamily="34" charset="-122"/>
                <a:cs typeface="Avenir Next" pitchFamily="34" charset="-120"/>
              </a:rPr>
              <a:t>A calibrated digital twin or forecast</a:t>
            </a:r>
            <a:endParaRPr lang="en-US" sz="1230" dirty="0"/>
          </a:p>
        </p:txBody>
      </p:sp>
      <p:sp>
        <p:nvSpPr>
          <p:cNvPr id="21" name="Shape 19"/>
          <p:cNvSpPr/>
          <p:nvPr/>
        </p:nvSpPr>
        <p:spPr>
          <a:xfrm>
            <a:off x="6565392" y="3529584"/>
            <a:ext cx="137160" cy="0"/>
          </a:xfrm>
          <a:prstGeom prst="line">
            <a:avLst/>
          </a:prstGeom>
          <a:noFill/>
          <a:ln w="25400">
            <a:solidFill>
              <a:srgbClr val="F56F7C"/>
            </a:solidFill>
            <a:prstDash val="solid"/>
            <a:headEnd type="none"/>
            <a:tailEnd type="none"/>
          </a:ln>
        </p:spPr>
      </p:sp>
      <p:sp>
        <p:nvSpPr>
          <p:cNvPr id="22" name="Text 20"/>
          <p:cNvSpPr/>
          <p:nvPr/>
        </p:nvSpPr>
        <p:spPr>
          <a:xfrm>
            <a:off x="6839712" y="3392424"/>
            <a:ext cx="4297680" cy="274320"/>
          </a:xfrm>
          <a:prstGeom prst="rect">
            <a:avLst/>
          </a:prstGeom>
          <a:noFill/>
          <a:ln/>
        </p:spPr>
        <p:txBody>
          <a:bodyPr wrap="square" lIns="0" tIns="0" rIns="0" bIns="0" rtlCol="0" anchor="ctr">
            <a:normAutofit/>
          </a:bodyPr>
          <a:lstStyle/>
          <a:p>
            <a:pPr indent="0" marL="0">
              <a:buNone/>
            </a:pPr>
            <a:r>
              <a:rPr lang="en-US" sz="1230" dirty="0">
                <a:solidFill>
                  <a:srgbClr val="F4F7F6"/>
                </a:solidFill>
                <a:latin typeface="Avenir Next" pitchFamily="34" charset="0"/>
                <a:ea typeface="Avenir Next" pitchFamily="34" charset="-122"/>
                <a:cs typeface="Avenir Next" pitchFamily="34" charset="-120"/>
              </a:rPr>
              <a:t>Live utility outage or capacity telemetry</a:t>
            </a:r>
            <a:endParaRPr lang="en-US" sz="1230" dirty="0"/>
          </a:p>
        </p:txBody>
      </p:sp>
      <p:sp>
        <p:nvSpPr>
          <p:cNvPr id="23" name="Shape 21"/>
          <p:cNvSpPr/>
          <p:nvPr/>
        </p:nvSpPr>
        <p:spPr>
          <a:xfrm>
            <a:off x="6565392" y="3977640"/>
            <a:ext cx="137160" cy="0"/>
          </a:xfrm>
          <a:prstGeom prst="line">
            <a:avLst/>
          </a:prstGeom>
          <a:noFill/>
          <a:ln w="25400">
            <a:solidFill>
              <a:srgbClr val="F56F7C"/>
            </a:solidFill>
            <a:prstDash val="solid"/>
            <a:headEnd type="none"/>
            <a:tailEnd type="none"/>
          </a:ln>
        </p:spPr>
      </p:sp>
      <p:sp>
        <p:nvSpPr>
          <p:cNvPr id="24" name="Text 22"/>
          <p:cNvSpPr/>
          <p:nvPr/>
        </p:nvSpPr>
        <p:spPr>
          <a:xfrm>
            <a:off x="6839712" y="3840480"/>
            <a:ext cx="4297680" cy="274320"/>
          </a:xfrm>
          <a:prstGeom prst="rect">
            <a:avLst/>
          </a:prstGeom>
          <a:noFill/>
          <a:ln/>
        </p:spPr>
        <p:txBody>
          <a:bodyPr wrap="square" lIns="0" tIns="0" rIns="0" bIns="0" rtlCol="0" anchor="ctr">
            <a:normAutofit/>
          </a:bodyPr>
          <a:lstStyle/>
          <a:p>
            <a:pPr indent="0" marL="0">
              <a:buNone/>
            </a:pPr>
            <a:r>
              <a:rPr lang="en-US" sz="1230" dirty="0">
                <a:solidFill>
                  <a:srgbClr val="F4F7F6"/>
                </a:solidFill>
                <a:latin typeface="Avenir Next" pitchFamily="34" charset="0"/>
                <a:ea typeface="Avenir Next" pitchFamily="34" charset="-122"/>
                <a:cs typeface="Avenir Next" pitchFamily="34" charset="-120"/>
              </a:rPr>
              <a:t>Physical power / water / telecom topology</a:t>
            </a:r>
            <a:endParaRPr lang="en-US" sz="1230" dirty="0"/>
          </a:p>
        </p:txBody>
      </p:sp>
      <p:sp>
        <p:nvSpPr>
          <p:cNvPr id="25" name="Shape 23"/>
          <p:cNvSpPr/>
          <p:nvPr/>
        </p:nvSpPr>
        <p:spPr>
          <a:xfrm>
            <a:off x="6565392" y="4425696"/>
            <a:ext cx="137160" cy="0"/>
          </a:xfrm>
          <a:prstGeom prst="line">
            <a:avLst/>
          </a:prstGeom>
          <a:noFill/>
          <a:ln w="25400">
            <a:solidFill>
              <a:srgbClr val="F56F7C"/>
            </a:solidFill>
            <a:prstDash val="solid"/>
            <a:headEnd type="none"/>
            <a:tailEnd type="none"/>
          </a:ln>
        </p:spPr>
      </p:sp>
      <p:sp>
        <p:nvSpPr>
          <p:cNvPr id="26" name="Text 24"/>
          <p:cNvSpPr/>
          <p:nvPr/>
        </p:nvSpPr>
        <p:spPr>
          <a:xfrm>
            <a:off x="6839712" y="4288536"/>
            <a:ext cx="4297680" cy="274320"/>
          </a:xfrm>
          <a:prstGeom prst="rect">
            <a:avLst/>
          </a:prstGeom>
          <a:noFill/>
          <a:ln/>
        </p:spPr>
        <p:txBody>
          <a:bodyPr wrap="square" lIns="0" tIns="0" rIns="0" bIns="0" rtlCol="0" anchor="ctr">
            <a:normAutofit/>
          </a:bodyPr>
          <a:lstStyle/>
          <a:p>
            <a:pPr indent="0" marL="0">
              <a:buNone/>
            </a:pPr>
            <a:r>
              <a:rPr lang="en-US" sz="1230" dirty="0">
                <a:solidFill>
                  <a:srgbClr val="F4F7F6"/>
                </a:solidFill>
                <a:latin typeface="Avenir Next" pitchFamily="34" charset="0"/>
                <a:ea typeface="Avenir Next" pitchFamily="34" charset="-122"/>
                <a:cs typeface="Avenir Next" pitchFamily="34" charset="-120"/>
              </a:rPr>
              <a:t>Observed affected-person headcounts</a:t>
            </a:r>
            <a:endParaRPr lang="en-US" sz="1230" dirty="0"/>
          </a:p>
        </p:txBody>
      </p:sp>
      <p:sp>
        <p:nvSpPr>
          <p:cNvPr id="27" name="Shape 25"/>
          <p:cNvSpPr/>
          <p:nvPr/>
        </p:nvSpPr>
        <p:spPr>
          <a:xfrm>
            <a:off x="6565392" y="4873752"/>
            <a:ext cx="137160" cy="0"/>
          </a:xfrm>
          <a:prstGeom prst="line">
            <a:avLst/>
          </a:prstGeom>
          <a:noFill/>
          <a:ln w="25400">
            <a:solidFill>
              <a:srgbClr val="F56F7C"/>
            </a:solidFill>
            <a:prstDash val="solid"/>
            <a:headEnd type="none"/>
            <a:tailEnd type="none"/>
          </a:ln>
        </p:spPr>
      </p:sp>
      <p:sp>
        <p:nvSpPr>
          <p:cNvPr id="28" name="Text 26"/>
          <p:cNvSpPr/>
          <p:nvPr/>
        </p:nvSpPr>
        <p:spPr>
          <a:xfrm>
            <a:off x="6839712" y="4736592"/>
            <a:ext cx="4297680" cy="274320"/>
          </a:xfrm>
          <a:prstGeom prst="rect">
            <a:avLst/>
          </a:prstGeom>
          <a:noFill/>
          <a:ln/>
        </p:spPr>
        <p:txBody>
          <a:bodyPr wrap="square" lIns="0" tIns="0" rIns="0" bIns="0" rtlCol="0" anchor="ctr">
            <a:normAutofit/>
          </a:bodyPr>
          <a:lstStyle/>
          <a:p>
            <a:pPr indent="0" marL="0">
              <a:buNone/>
            </a:pPr>
            <a:r>
              <a:rPr lang="en-US" sz="1230" dirty="0">
                <a:solidFill>
                  <a:srgbClr val="F4F7F6"/>
                </a:solidFill>
                <a:latin typeface="Avenir Next" pitchFamily="34" charset="0"/>
                <a:ea typeface="Avenir Next" pitchFamily="34" charset="-122"/>
                <a:cs typeface="Avenir Next" pitchFamily="34" charset="-120"/>
              </a:rPr>
              <a:t>Real-world units for generalized route capacity</a:t>
            </a:r>
            <a:endParaRPr lang="en-US" sz="1230" dirty="0"/>
          </a:p>
        </p:txBody>
      </p:sp>
      <p:sp>
        <p:nvSpPr>
          <p:cNvPr id="29" name="Text 27"/>
          <p:cNvSpPr/>
          <p:nvPr/>
        </p:nvSpPr>
        <p:spPr>
          <a:xfrm>
            <a:off x="658368" y="5980176"/>
            <a:ext cx="10881360" cy="301752"/>
          </a:xfrm>
          <a:prstGeom prst="rect">
            <a:avLst/>
          </a:prstGeom>
          <a:noFill/>
          <a:ln/>
        </p:spPr>
        <p:txBody>
          <a:bodyPr wrap="square" lIns="0" tIns="0" rIns="0" bIns="0" rtlCol="0" anchor="ctr">
            <a:normAutofit/>
          </a:bodyPr>
          <a:lstStyle/>
          <a:p>
            <a:pPr algn="ctr" indent="0" marL="0">
              <a:buNone/>
            </a:pPr>
            <a:r>
              <a:rPr lang="en-US" sz="1400" b="1" dirty="0">
                <a:solidFill>
                  <a:srgbClr val="F4B85D"/>
                </a:solidFill>
                <a:latin typeface="Avenir Next" pitchFamily="34" charset="0"/>
                <a:ea typeface="Avenir Next" pitchFamily="34" charset="-122"/>
                <a:cs typeface="Avenir Next" pitchFamily="34" charset="-120"/>
              </a:rPr>
              <a:t>The honest limitation is a feature: uncertainty stays visible.</a:t>
            </a:r>
            <a:endParaRPr lang="en-US" sz="1400" dirty="0"/>
          </a:p>
        </p:txBody>
      </p:sp>
      <p:sp>
        <p:nvSpPr>
          <p:cNvPr id="31" name="Shape 28"/>
          <p:cNvSpPr/>
          <p:nvPr/>
        </p:nvSpPr>
        <p:spPr>
          <a:xfrm>
            <a:off x="502920" y="292608"/>
            <a:ext cx="310896" cy="310896"/>
          </a:xfrm>
          <a:prstGeom prst="ellipse">
            <a:avLst/>
          </a:prstGeom>
          <a:solidFill>
            <a:srgbClr val="12272D"/>
          </a:solidFill>
          <a:ln w="12700">
            <a:solidFill>
              <a:srgbClr val="65E2CB"/>
            </a:solidFill>
            <a:prstDash val="solid"/>
          </a:ln>
        </p:spPr>
      </p:sp>
      <p:sp>
        <p:nvSpPr>
          <p:cNvPr id="32" name="Shape 29"/>
          <p:cNvSpPr/>
          <p:nvPr/>
        </p:nvSpPr>
        <p:spPr>
          <a:xfrm>
            <a:off x="597103" y="374904"/>
            <a:ext cx="118872" cy="118872"/>
          </a:xfrm>
          <a:prstGeom prst="ellipse">
            <a:avLst/>
          </a:prstGeom>
          <a:solidFill>
            <a:srgbClr val="071216"/>
          </a:solidFill>
          <a:ln w="12700">
            <a:solidFill>
              <a:srgbClr val="65E2CB"/>
            </a:solidFill>
            <a:prstDash val="solid"/>
          </a:ln>
        </p:spPr>
      </p:sp>
      <p:sp>
        <p:nvSpPr>
          <p:cNvPr id="33" name="Shape 30"/>
          <p:cNvSpPr/>
          <p:nvPr/>
        </p:nvSpPr>
        <p:spPr>
          <a:xfrm>
            <a:off x="658368" y="356616"/>
            <a:ext cx="0" cy="182880"/>
          </a:xfrm>
          <a:prstGeom prst="line">
            <a:avLst/>
          </a:prstGeom>
          <a:noFill/>
          <a:ln w="15240">
            <a:solidFill>
              <a:srgbClr val="65E2CB"/>
            </a:solidFill>
            <a:prstDash val="solid"/>
            <a:headEnd type="none"/>
            <a:tailEnd type="none"/>
          </a:ln>
        </p:spPr>
      </p:sp>
      <p:sp>
        <p:nvSpPr>
          <p:cNvPr id="34" name="Text 31"/>
          <p:cNvSpPr/>
          <p:nvPr/>
        </p:nvSpPr>
        <p:spPr>
          <a:xfrm>
            <a:off x="896112" y="310896"/>
            <a:ext cx="2011680" cy="201168"/>
          </a:xfrm>
          <a:prstGeom prst="rect">
            <a:avLst/>
          </a:prstGeom>
          <a:noFill/>
          <a:ln/>
        </p:spPr>
        <p:txBody>
          <a:bodyPr wrap="square" lIns="0" tIns="0" rIns="0" bIns="0" rtlCol="0" anchor="ctr">
            <a:normAutofit/>
          </a:bodyPr>
          <a:lstStyle/>
          <a:p>
            <a:pPr indent="0" marL="0">
              <a:buNone/>
            </a:pPr>
            <a:r>
              <a:rPr lang="en-US" sz="900" b="1" spc="140" kern="0" dirty="0">
                <a:solidFill>
                  <a:srgbClr val="9BB0B5"/>
                </a:solidFill>
                <a:latin typeface="Avenir Next" pitchFamily="34" charset="0"/>
                <a:ea typeface="Avenir Next" pitchFamily="34" charset="-122"/>
                <a:cs typeface="Avenir Next" pitchFamily="34" charset="-120"/>
              </a:rPr>
              <a:t>NL RESILIENCE LAB</a:t>
            </a:r>
            <a:endParaRPr lang="en-US" sz="900" dirty="0"/>
          </a:p>
        </p:txBody>
      </p:sp>
      <p:sp>
        <p:nvSpPr>
          <p:cNvPr id="35" name="Text 32"/>
          <p:cNvSpPr/>
          <p:nvPr/>
        </p:nvSpPr>
        <p:spPr>
          <a:xfrm>
            <a:off x="9052560" y="310896"/>
            <a:ext cx="2514600" cy="201168"/>
          </a:xfrm>
          <a:prstGeom prst="rect">
            <a:avLst/>
          </a:prstGeom>
          <a:noFill/>
          <a:ln/>
        </p:spPr>
        <p:txBody>
          <a:bodyPr wrap="square" lIns="0" tIns="0" rIns="0" bIns="0" rtlCol="0" anchor="ctr">
            <a:normAutofit/>
          </a:bodyPr>
          <a:lstStyle/>
          <a:p>
            <a:pPr algn="r" indent="0" marL="0">
              <a:buNone/>
            </a:pPr>
            <a:r>
              <a:rPr lang="en-US" sz="850" b="1" spc="125" kern="0" dirty="0">
                <a:solidFill>
                  <a:srgbClr val="688087"/>
                </a:solidFill>
                <a:latin typeface="Avenir Next" pitchFamily="34" charset="0"/>
                <a:ea typeface="Avenir Next" pitchFamily="34" charset="-122"/>
                <a:cs typeface="Avenir Next" pitchFamily="34" charset="-120"/>
              </a:rPr>
              <a:t>CRITICAL REFLECTION</a:t>
            </a:r>
            <a:endParaRPr lang="en-US" sz="850" dirty="0"/>
          </a:p>
        </p:txBody>
      </p:sp>
      <p:sp>
        <p:nvSpPr>
          <p:cNvPr id="36" name="Shape 33"/>
          <p:cNvSpPr/>
          <p:nvPr/>
        </p:nvSpPr>
        <p:spPr>
          <a:xfrm>
            <a:off x="502920" y="749808"/>
            <a:ext cx="10680192" cy="0"/>
          </a:xfrm>
          <a:prstGeom prst="line">
            <a:avLst/>
          </a:prstGeom>
          <a:noFill/>
          <a:ln w="8890">
            <a:solidFill>
              <a:srgbClr val="294047"/>
            </a:solidFill>
            <a:prstDash val="solid"/>
            <a:headEnd type="none"/>
            <a:tailEnd type="none"/>
          </a:ln>
        </p:spPr>
      </p:sp>
      <p:sp>
        <p:nvSpPr>
          <p:cNvPr id="25" name="Slide Number Placeholder 0"/>
          <p:cNvSpPr>
            <a:spLocks noGrp="1"/>
          </p:cNvSpPr>
          <p:nvPr>
            <p:ph type="sldNum" sz="quarter" idx="4294967295"/>
          </p:nvPr>
        </p:nvSpPr>
        <p:spPr>
          <a:xfrm>
            <a:off x="11119104" y="6446520"/>
            <a:ext cx="475488"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8087"/>
                </a:solidFill>
                <a:latin typeface="Avenir Next"/>
                <a:ea typeface="Avenir Next"/>
                <a:cs typeface="Avenir Next"/>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1216"/>
        </a:solidFill>
      </p:bgPr>
    </p:bg>
    <p:spTree>
      <p:nvGrpSpPr>
        <p:cNvPr id="1" name=""/>
        <p:cNvGrpSpPr/>
        <p:nvPr/>
      </p:nvGrpSpPr>
      <p:grpSpPr>
        <a:xfrm>
          <a:off x="0" y="0"/>
          <a:ext cx="0" cy="0"/>
          <a:chOff x="0" y="0"/>
          <a:chExt cx="0" cy="0"/>
        </a:xfrm>
      </p:grpSpPr>
      <p:sp>
        <p:nvSpPr>
          <p:cNvPr id="2" name="Text 0"/>
          <p:cNvSpPr/>
          <p:nvPr/>
        </p:nvSpPr>
        <p:spPr>
          <a:xfrm>
            <a:off x="594360" y="950976"/>
            <a:ext cx="2377440" cy="201168"/>
          </a:xfrm>
          <a:prstGeom prst="rect">
            <a:avLst/>
          </a:prstGeom>
          <a:noFill/>
          <a:ln/>
        </p:spPr>
        <p:txBody>
          <a:bodyPr wrap="square" lIns="0" tIns="0" rIns="0" bIns="0" rtlCol="0" anchor="ctr">
            <a:normAutofit/>
          </a:bodyPr>
          <a:lstStyle/>
          <a:p>
            <a:pPr indent="0" marL="0">
              <a:buNone/>
            </a:pPr>
            <a:r>
              <a:rPr lang="en-US" sz="900" b="1" spc="165" kern="0" dirty="0">
                <a:solidFill>
                  <a:srgbClr val="65E2CB"/>
                </a:solidFill>
                <a:latin typeface="Avenir Next" pitchFamily="34" charset="0"/>
                <a:ea typeface="Avenir Next" pitchFamily="34" charset="-122"/>
                <a:cs typeface="Avenir Next" pitchFamily="34" charset="-120"/>
              </a:rPr>
              <a:t>LIVE DEMO</a:t>
            </a:r>
            <a:endParaRPr lang="en-US" sz="900" dirty="0"/>
          </a:p>
        </p:txBody>
      </p:sp>
      <p:sp>
        <p:nvSpPr>
          <p:cNvPr id="3" name="Text 1"/>
          <p:cNvSpPr/>
          <p:nvPr/>
        </p:nvSpPr>
        <p:spPr>
          <a:xfrm>
            <a:off x="594360" y="1188720"/>
            <a:ext cx="10972800" cy="566928"/>
          </a:xfrm>
          <a:prstGeom prst="rect">
            <a:avLst/>
          </a:prstGeom>
          <a:noFill/>
          <a:ln/>
        </p:spPr>
        <p:txBody>
          <a:bodyPr wrap="square" lIns="0" tIns="0" rIns="0" bIns="0" rtlCol="0" anchor="ctr">
            <a:normAutofit/>
          </a:bodyPr>
          <a:lstStyle/>
          <a:p>
            <a:pPr indent="0" marL="0">
              <a:buNone/>
            </a:pPr>
            <a:r>
              <a:rPr lang="en-US" sz="2900" b="1" dirty="0">
                <a:solidFill>
                  <a:srgbClr val="F4F7F6"/>
                </a:solidFill>
                <a:latin typeface="Avenir Next" pitchFamily="34" charset="0"/>
                <a:ea typeface="Avenir Next" pitchFamily="34" charset="-122"/>
                <a:cs typeface="Avenir Next" pitchFamily="34" charset="-120"/>
              </a:rPr>
              <a:t>A four-minute walkthrough</a:t>
            </a:r>
            <a:endParaRPr lang="en-US" sz="2900" dirty="0"/>
          </a:p>
        </p:txBody>
      </p:sp>
      <p:sp>
        <p:nvSpPr>
          <p:cNvPr id="4" name="Text 2"/>
          <p:cNvSpPr/>
          <p:nvPr/>
        </p:nvSpPr>
        <p:spPr>
          <a:xfrm>
            <a:off x="594360" y="1746504"/>
            <a:ext cx="10789920" cy="393192"/>
          </a:xfrm>
          <a:prstGeom prst="rect">
            <a:avLst/>
          </a:prstGeom>
          <a:noFill/>
          <a:ln/>
        </p:spPr>
        <p:txBody>
          <a:bodyPr wrap="square" lIns="0" tIns="0" rIns="0" bIns="0" rtlCol="0" anchor="ctr">
            <a:normAutofit/>
          </a:bodyPr>
          <a:lstStyle/>
          <a:p>
            <a:pPr indent="0" marL="0">
              <a:buNone/>
            </a:pPr>
            <a:r>
              <a:rPr lang="en-US" sz="1250" dirty="0">
                <a:solidFill>
                  <a:srgbClr val="9BB0B5"/>
                </a:solidFill>
                <a:latin typeface="Avenir Next" pitchFamily="34" charset="0"/>
                <a:ea typeface="Avenir Next" pitchFamily="34" charset="-122"/>
                <a:cs typeface="Avenir Next" pitchFamily="34" charset="-120"/>
              </a:rPr>
              <a:t>Tell one causal story instead of showing every control.</a:t>
            </a:r>
            <a:endParaRPr lang="en-US" sz="1250" dirty="0"/>
          </a:p>
        </p:txBody>
      </p:sp>
      <p:sp>
        <p:nvSpPr>
          <p:cNvPr id="5" name="Shape 3"/>
          <p:cNvSpPr/>
          <p:nvPr/>
        </p:nvSpPr>
        <p:spPr>
          <a:xfrm>
            <a:off x="658368" y="2231136"/>
            <a:ext cx="365760" cy="365760"/>
          </a:xfrm>
          <a:prstGeom prst="ellipse">
            <a:avLst/>
          </a:prstGeom>
          <a:solidFill>
            <a:srgbClr val="12272D"/>
          </a:solidFill>
          <a:ln w="12700">
            <a:solidFill>
              <a:srgbClr val="59D5F6"/>
            </a:solidFill>
            <a:prstDash val="solid"/>
          </a:ln>
        </p:spPr>
      </p:sp>
      <p:sp>
        <p:nvSpPr>
          <p:cNvPr id="6" name="Text 4"/>
          <p:cNvSpPr/>
          <p:nvPr/>
        </p:nvSpPr>
        <p:spPr>
          <a:xfrm>
            <a:off x="658368" y="2249424"/>
            <a:ext cx="365760" cy="310896"/>
          </a:xfrm>
          <a:prstGeom prst="rect">
            <a:avLst/>
          </a:prstGeom>
          <a:noFill/>
          <a:ln/>
        </p:spPr>
        <p:txBody>
          <a:bodyPr wrap="square" lIns="0" tIns="0" rIns="0" bIns="0" rtlCol="0" anchor="ctr">
            <a:normAutofit/>
          </a:bodyPr>
          <a:lstStyle/>
          <a:p>
            <a:pPr algn="ctr" indent="0" marL="0">
              <a:buNone/>
            </a:pPr>
            <a:r>
              <a:rPr lang="en-US" sz="1100" b="1" dirty="0">
                <a:solidFill>
                  <a:srgbClr val="59D5F6"/>
                </a:solidFill>
                <a:latin typeface="Avenir Next" pitchFamily="34" charset="0"/>
                <a:ea typeface="Avenir Next" pitchFamily="34" charset="-122"/>
                <a:cs typeface="Avenir Next" pitchFamily="34" charset="-120"/>
              </a:rPr>
              <a:t>1</a:t>
            </a:r>
            <a:endParaRPr lang="en-US" sz="1100" dirty="0"/>
          </a:p>
        </p:txBody>
      </p:sp>
      <p:sp>
        <p:nvSpPr>
          <p:cNvPr id="7" name="Text 5"/>
          <p:cNvSpPr/>
          <p:nvPr/>
        </p:nvSpPr>
        <p:spPr>
          <a:xfrm>
            <a:off x="1161288" y="2221992"/>
            <a:ext cx="4745736" cy="246888"/>
          </a:xfrm>
          <a:prstGeom prst="rect">
            <a:avLst/>
          </a:prstGeom>
          <a:noFill/>
          <a:ln/>
        </p:spPr>
        <p:txBody>
          <a:bodyPr wrap="square" lIns="0" tIns="0" rIns="0" bIns="0" rtlCol="0" anchor="ctr">
            <a:normAutofit/>
          </a:bodyPr>
          <a:lstStyle/>
          <a:p>
            <a:pPr indent="0" marL="0">
              <a:buNone/>
            </a:pPr>
            <a:r>
              <a:rPr lang="en-US" sz="1220" b="1" dirty="0">
                <a:solidFill>
                  <a:srgbClr val="F4F7F6"/>
                </a:solidFill>
                <a:latin typeface="Avenir Next" pitchFamily="34" charset="0"/>
                <a:ea typeface="Avenir Next" pitchFamily="34" charset="-122"/>
                <a:cs typeface="Avenir Next" pitchFamily="34" charset="-120"/>
              </a:rPr>
              <a:t>START NATIONAL</a:t>
            </a:r>
            <a:endParaRPr lang="en-US" sz="1220" dirty="0"/>
          </a:p>
        </p:txBody>
      </p:sp>
      <p:sp>
        <p:nvSpPr>
          <p:cNvPr id="8" name="Text 6"/>
          <p:cNvSpPr/>
          <p:nvPr/>
        </p:nvSpPr>
        <p:spPr>
          <a:xfrm>
            <a:off x="1161288" y="2468880"/>
            <a:ext cx="4745736" cy="411480"/>
          </a:xfrm>
          <a:prstGeom prst="rect">
            <a:avLst/>
          </a:prstGeom>
          <a:noFill/>
          <a:ln/>
        </p:spPr>
        <p:txBody>
          <a:bodyPr wrap="square" lIns="0" tIns="0" rIns="0" bIns="0" rtlCol="0" anchor="t">
            <a:normAutofit/>
          </a:bodyPr>
          <a:lstStyle/>
          <a:p>
            <a:pPr indent="0" marL="0">
              <a:buNone/>
            </a:pPr>
            <a:r>
              <a:rPr lang="en-US" sz="950" dirty="0">
                <a:solidFill>
                  <a:srgbClr val="9BB0B5"/>
                </a:solidFill>
                <a:latin typeface="Avenir Next" pitchFamily="34" charset="0"/>
                <a:ea typeface="Avenir Next" pitchFamily="34" charset="-122"/>
                <a:cs typeface="Avenir Next" pitchFamily="34" charset="-120"/>
              </a:rPr>
              <a:t>Choose Compound cascade; keep the affected-region overlay visible.</a:t>
            </a:r>
            <a:endParaRPr lang="en-US" sz="950" dirty="0"/>
          </a:p>
        </p:txBody>
      </p:sp>
      <p:sp>
        <p:nvSpPr>
          <p:cNvPr id="9" name="Shape 7"/>
          <p:cNvSpPr/>
          <p:nvPr/>
        </p:nvSpPr>
        <p:spPr>
          <a:xfrm>
            <a:off x="6217920" y="2231136"/>
            <a:ext cx="365760" cy="365760"/>
          </a:xfrm>
          <a:prstGeom prst="ellipse">
            <a:avLst/>
          </a:prstGeom>
          <a:solidFill>
            <a:srgbClr val="12272D"/>
          </a:solidFill>
          <a:ln w="12700">
            <a:solidFill>
              <a:srgbClr val="65E2CB"/>
            </a:solidFill>
            <a:prstDash val="solid"/>
          </a:ln>
        </p:spPr>
      </p:sp>
      <p:sp>
        <p:nvSpPr>
          <p:cNvPr id="10" name="Text 8"/>
          <p:cNvSpPr/>
          <p:nvPr/>
        </p:nvSpPr>
        <p:spPr>
          <a:xfrm>
            <a:off x="6217920" y="2249424"/>
            <a:ext cx="365760" cy="310896"/>
          </a:xfrm>
          <a:prstGeom prst="rect">
            <a:avLst/>
          </a:prstGeom>
          <a:noFill/>
          <a:ln/>
        </p:spPr>
        <p:txBody>
          <a:bodyPr wrap="square" lIns="0" tIns="0" rIns="0" bIns="0" rtlCol="0" anchor="ctr">
            <a:normAutofit/>
          </a:bodyPr>
          <a:lstStyle/>
          <a:p>
            <a:pPr algn="ctr" indent="0" marL="0">
              <a:buNone/>
            </a:pPr>
            <a:r>
              <a:rPr lang="en-US" sz="1100" b="1" dirty="0">
                <a:solidFill>
                  <a:srgbClr val="65E2CB"/>
                </a:solidFill>
                <a:latin typeface="Avenir Next" pitchFamily="34" charset="0"/>
                <a:ea typeface="Avenir Next" pitchFamily="34" charset="-122"/>
                <a:cs typeface="Avenir Next" pitchFamily="34" charset="-120"/>
              </a:rPr>
              <a:t>2</a:t>
            </a:r>
            <a:endParaRPr lang="en-US" sz="1100" dirty="0"/>
          </a:p>
        </p:txBody>
      </p:sp>
      <p:sp>
        <p:nvSpPr>
          <p:cNvPr id="11" name="Text 9"/>
          <p:cNvSpPr/>
          <p:nvPr/>
        </p:nvSpPr>
        <p:spPr>
          <a:xfrm>
            <a:off x="6720840" y="2221992"/>
            <a:ext cx="4745736" cy="246888"/>
          </a:xfrm>
          <a:prstGeom prst="rect">
            <a:avLst/>
          </a:prstGeom>
          <a:noFill/>
          <a:ln/>
        </p:spPr>
        <p:txBody>
          <a:bodyPr wrap="square" lIns="0" tIns="0" rIns="0" bIns="0" rtlCol="0" anchor="ctr">
            <a:normAutofit/>
          </a:bodyPr>
          <a:lstStyle/>
          <a:p>
            <a:pPr indent="0" marL="0">
              <a:buNone/>
            </a:pPr>
            <a:r>
              <a:rPr lang="en-US" sz="1220" b="1" dirty="0">
                <a:solidFill>
                  <a:srgbClr val="F4F7F6"/>
                </a:solidFill>
                <a:latin typeface="Avenir Next" pitchFamily="34" charset="0"/>
                <a:ea typeface="Avenir Next" pitchFamily="34" charset="-122"/>
                <a:cs typeface="Avenir Next" pitchFamily="34" charset="-120"/>
              </a:rPr>
              <a:t>MOVE THROUGH TIME</a:t>
            </a:r>
            <a:endParaRPr lang="en-US" sz="1220" dirty="0"/>
          </a:p>
        </p:txBody>
      </p:sp>
      <p:sp>
        <p:nvSpPr>
          <p:cNvPr id="12" name="Text 10"/>
          <p:cNvSpPr/>
          <p:nvPr/>
        </p:nvSpPr>
        <p:spPr>
          <a:xfrm>
            <a:off x="6720840" y="2468880"/>
            <a:ext cx="4745736" cy="411480"/>
          </a:xfrm>
          <a:prstGeom prst="rect">
            <a:avLst/>
          </a:prstGeom>
          <a:noFill/>
          <a:ln/>
        </p:spPr>
        <p:txBody>
          <a:bodyPr wrap="square" lIns="0" tIns="0" rIns="0" bIns="0" rtlCol="0" anchor="t">
            <a:normAutofit/>
          </a:bodyPr>
          <a:lstStyle/>
          <a:p>
            <a:pPr indent="0" marL="0">
              <a:buNone/>
            </a:pPr>
            <a:r>
              <a:rPr lang="en-US" sz="950" dirty="0">
                <a:solidFill>
                  <a:srgbClr val="9BB0B5"/>
                </a:solidFill>
                <a:latin typeface="Avenir Next" pitchFamily="34" charset="0"/>
                <a:ea typeface="Avenir Next" pitchFamily="34" charset="-122"/>
                <a:cs typeface="Avenir Next" pitchFamily="34" charset="-120"/>
              </a:rPr>
              <a:t>Scrub from T+0 to T+24 and call out the changing headline metrics.</a:t>
            </a:r>
            <a:endParaRPr lang="en-US" sz="950" dirty="0"/>
          </a:p>
        </p:txBody>
      </p:sp>
      <p:sp>
        <p:nvSpPr>
          <p:cNvPr id="13" name="Shape 11"/>
          <p:cNvSpPr/>
          <p:nvPr/>
        </p:nvSpPr>
        <p:spPr>
          <a:xfrm>
            <a:off x="658368" y="3364992"/>
            <a:ext cx="365760" cy="365760"/>
          </a:xfrm>
          <a:prstGeom prst="ellipse">
            <a:avLst/>
          </a:prstGeom>
          <a:solidFill>
            <a:srgbClr val="12272D"/>
          </a:solidFill>
          <a:ln w="12700">
            <a:solidFill>
              <a:srgbClr val="B784F5"/>
            </a:solidFill>
            <a:prstDash val="solid"/>
          </a:ln>
        </p:spPr>
      </p:sp>
      <p:sp>
        <p:nvSpPr>
          <p:cNvPr id="14" name="Text 12"/>
          <p:cNvSpPr/>
          <p:nvPr/>
        </p:nvSpPr>
        <p:spPr>
          <a:xfrm>
            <a:off x="658368" y="3383280"/>
            <a:ext cx="365760" cy="310896"/>
          </a:xfrm>
          <a:prstGeom prst="rect">
            <a:avLst/>
          </a:prstGeom>
          <a:noFill/>
          <a:ln/>
        </p:spPr>
        <p:txBody>
          <a:bodyPr wrap="square" lIns="0" tIns="0" rIns="0" bIns="0" rtlCol="0" anchor="ctr">
            <a:normAutofit/>
          </a:bodyPr>
          <a:lstStyle/>
          <a:p>
            <a:pPr algn="ctr" indent="0" marL="0">
              <a:buNone/>
            </a:pPr>
            <a:r>
              <a:rPr lang="en-US" sz="1100" b="1" dirty="0">
                <a:solidFill>
                  <a:srgbClr val="B784F5"/>
                </a:solidFill>
                <a:latin typeface="Avenir Next" pitchFamily="34" charset="0"/>
                <a:ea typeface="Avenir Next" pitchFamily="34" charset="-122"/>
                <a:cs typeface="Avenir Next" pitchFamily="34" charset="-120"/>
              </a:rPr>
              <a:t>3</a:t>
            </a:r>
            <a:endParaRPr lang="en-US" sz="1100" dirty="0"/>
          </a:p>
        </p:txBody>
      </p:sp>
      <p:sp>
        <p:nvSpPr>
          <p:cNvPr id="15" name="Text 13"/>
          <p:cNvSpPr/>
          <p:nvPr/>
        </p:nvSpPr>
        <p:spPr>
          <a:xfrm>
            <a:off x="1161288" y="3355848"/>
            <a:ext cx="4745736" cy="246888"/>
          </a:xfrm>
          <a:prstGeom prst="rect">
            <a:avLst/>
          </a:prstGeom>
          <a:noFill/>
          <a:ln/>
        </p:spPr>
        <p:txBody>
          <a:bodyPr wrap="square" lIns="0" tIns="0" rIns="0" bIns="0" rtlCol="0" anchor="ctr">
            <a:normAutofit/>
          </a:bodyPr>
          <a:lstStyle/>
          <a:p>
            <a:pPr indent="0" marL="0">
              <a:buNone/>
            </a:pPr>
            <a:r>
              <a:rPr lang="en-US" sz="1220" b="1" dirty="0">
                <a:solidFill>
                  <a:srgbClr val="F4F7F6"/>
                </a:solidFill>
                <a:latin typeface="Avenir Next" pitchFamily="34" charset="0"/>
                <a:ea typeface="Avenir Next" pitchFamily="34" charset="-122"/>
                <a:cs typeface="Avenir Next" pitchFamily="34" charset="-120"/>
              </a:rPr>
              <a:t>FOLLOW A DEPENDENCY</a:t>
            </a:r>
            <a:endParaRPr lang="en-US" sz="1220" dirty="0"/>
          </a:p>
        </p:txBody>
      </p:sp>
      <p:sp>
        <p:nvSpPr>
          <p:cNvPr id="16" name="Text 14"/>
          <p:cNvSpPr/>
          <p:nvPr/>
        </p:nvSpPr>
        <p:spPr>
          <a:xfrm>
            <a:off x="1161288" y="3602736"/>
            <a:ext cx="4745736" cy="411480"/>
          </a:xfrm>
          <a:prstGeom prst="rect">
            <a:avLst/>
          </a:prstGeom>
          <a:noFill/>
          <a:ln/>
        </p:spPr>
        <p:txBody>
          <a:bodyPr wrap="square" lIns="0" tIns="0" rIns="0" bIns="0" rtlCol="0" anchor="t">
            <a:normAutofit/>
          </a:bodyPr>
          <a:lstStyle/>
          <a:p>
            <a:pPr indent="0" marL="0">
              <a:buNone/>
            </a:pPr>
            <a:r>
              <a:rPr lang="en-US" sz="950" dirty="0">
                <a:solidFill>
                  <a:srgbClr val="9BB0B5"/>
                </a:solidFill>
                <a:latin typeface="Avenir Next" pitchFamily="34" charset="0"/>
                <a:ea typeface="Avenir Next" pitchFamily="34" charset="-122"/>
                <a:cs typeface="Avenir Next" pitchFamily="34" charset="-120"/>
              </a:rPr>
              <a:t>Switch Power → Telecom, or Mobility → Supply, to reveal the cascade.</a:t>
            </a:r>
            <a:endParaRPr lang="en-US" sz="950" dirty="0"/>
          </a:p>
        </p:txBody>
      </p:sp>
      <p:sp>
        <p:nvSpPr>
          <p:cNvPr id="17" name="Shape 15"/>
          <p:cNvSpPr/>
          <p:nvPr/>
        </p:nvSpPr>
        <p:spPr>
          <a:xfrm>
            <a:off x="6217920" y="3364992"/>
            <a:ext cx="365760" cy="365760"/>
          </a:xfrm>
          <a:prstGeom prst="ellipse">
            <a:avLst/>
          </a:prstGeom>
          <a:solidFill>
            <a:srgbClr val="12272D"/>
          </a:solidFill>
          <a:ln w="12700">
            <a:solidFill>
              <a:srgbClr val="F4B85D"/>
            </a:solidFill>
            <a:prstDash val="solid"/>
          </a:ln>
        </p:spPr>
      </p:sp>
      <p:sp>
        <p:nvSpPr>
          <p:cNvPr id="18" name="Text 16"/>
          <p:cNvSpPr/>
          <p:nvPr/>
        </p:nvSpPr>
        <p:spPr>
          <a:xfrm>
            <a:off x="6217920" y="3383280"/>
            <a:ext cx="365760" cy="310896"/>
          </a:xfrm>
          <a:prstGeom prst="rect">
            <a:avLst/>
          </a:prstGeom>
          <a:noFill/>
          <a:ln/>
        </p:spPr>
        <p:txBody>
          <a:bodyPr wrap="square" lIns="0" tIns="0" rIns="0" bIns="0" rtlCol="0" anchor="ctr">
            <a:normAutofit/>
          </a:bodyPr>
          <a:lstStyle/>
          <a:p>
            <a:pPr algn="ctr" indent="0" marL="0">
              <a:buNone/>
            </a:pPr>
            <a:r>
              <a:rPr lang="en-US" sz="1100" b="1" dirty="0">
                <a:solidFill>
                  <a:srgbClr val="F4B85D"/>
                </a:solidFill>
                <a:latin typeface="Avenir Next" pitchFamily="34" charset="0"/>
                <a:ea typeface="Avenir Next" pitchFamily="34" charset="-122"/>
                <a:cs typeface="Avenir Next" pitchFamily="34" charset="-120"/>
              </a:rPr>
              <a:t>4</a:t>
            </a:r>
            <a:endParaRPr lang="en-US" sz="1100" dirty="0"/>
          </a:p>
        </p:txBody>
      </p:sp>
      <p:sp>
        <p:nvSpPr>
          <p:cNvPr id="19" name="Text 17"/>
          <p:cNvSpPr/>
          <p:nvPr/>
        </p:nvSpPr>
        <p:spPr>
          <a:xfrm>
            <a:off x="6720840" y="3355848"/>
            <a:ext cx="4745736" cy="246888"/>
          </a:xfrm>
          <a:prstGeom prst="rect">
            <a:avLst/>
          </a:prstGeom>
          <a:noFill/>
          <a:ln/>
        </p:spPr>
        <p:txBody>
          <a:bodyPr wrap="square" lIns="0" tIns="0" rIns="0" bIns="0" rtlCol="0" anchor="ctr">
            <a:normAutofit/>
          </a:bodyPr>
          <a:lstStyle/>
          <a:p>
            <a:pPr indent="0" marL="0">
              <a:buNone/>
            </a:pPr>
            <a:r>
              <a:rPr lang="en-US" sz="1220" b="1" dirty="0">
                <a:solidFill>
                  <a:srgbClr val="F4F7F6"/>
                </a:solidFill>
                <a:latin typeface="Avenir Next" pitchFamily="34" charset="0"/>
                <a:ea typeface="Avenir Next" pitchFamily="34" charset="-122"/>
                <a:cs typeface="Avenir Next" pitchFamily="34" charset="-120"/>
              </a:rPr>
              <a:t>ZOOM TO EINDHOVEN</a:t>
            </a:r>
            <a:endParaRPr lang="en-US" sz="1220" dirty="0"/>
          </a:p>
        </p:txBody>
      </p:sp>
      <p:sp>
        <p:nvSpPr>
          <p:cNvPr id="20" name="Text 18"/>
          <p:cNvSpPr/>
          <p:nvPr/>
        </p:nvSpPr>
        <p:spPr>
          <a:xfrm>
            <a:off x="6720840" y="3602736"/>
            <a:ext cx="4745736" cy="411480"/>
          </a:xfrm>
          <a:prstGeom prst="rect">
            <a:avLst/>
          </a:prstGeom>
          <a:noFill/>
          <a:ln/>
        </p:spPr>
        <p:txBody>
          <a:bodyPr wrap="square" lIns="0" tIns="0" rIns="0" bIns="0" rtlCol="0" anchor="t">
            <a:normAutofit/>
          </a:bodyPr>
          <a:lstStyle/>
          <a:p>
            <a:pPr indent="0" marL="0">
              <a:buNone/>
            </a:pPr>
            <a:r>
              <a:rPr lang="en-US" sz="950" dirty="0">
                <a:solidFill>
                  <a:srgbClr val="9BB0B5"/>
                </a:solidFill>
                <a:latin typeface="Avenir Next" pitchFamily="34" charset="0"/>
                <a:ea typeface="Avenir Next" pitchFamily="34" charset="-122"/>
                <a:cs typeface="Avenir Next" pitchFamily="34" charset="-120"/>
              </a:rPr>
              <a:t>Open municipality and buurt detail; compare demand, delivery and reserve.</a:t>
            </a:r>
            <a:endParaRPr lang="en-US" sz="950" dirty="0"/>
          </a:p>
        </p:txBody>
      </p:sp>
      <p:sp>
        <p:nvSpPr>
          <p:cNvPr id="21" name="Shape 19"/>
          <p:cNvSpPr/>
          <p:nvPr/>
        </p:nvSpPr>
        <p:spPr>
          <a:xfrm>
            <a:off x="658368" y="4498848"/>
            <a:ext cx="365760" cy="365760"/>
          </a:xfrm>
          <a:prstGeom prst="ellipse">
            <a:avLst/>
          </a:prstGeom>
          <a:solidFill>
            <a:srgbClr val="12272D"/>
          </a:solidFill>
          <a:ln w="12700">
            <a:solidFill>
              <a:srgbClr val="F56F7C"/>
            </a:solidFill>
            <a:prstDash val="solid"/>
          </a:ln>
        </p:spPr>
      </p:sp>
      <p:sp>
        <p:nvSpPr>
          <p:cNvPr id="22" name="Text 20"/>
          <p:cNvSpPr/>
          <p:nvPr/>
        </p:nvSpPr>
        <p:spPr>
          <a:xfrm>
            <a:off x="658368" y="4517136"/>
            <a:ext cx="365760" cy="310896"/>
          </a:xfrm>
          <a:prstGeom prst="rect">
            <a:avLst/>
          </a:prstGeom>
          <a:noFill/>
          <a:ln/>
        </p:spPr>
        <p:txBody>
          <a:bodyPr wrap="square" lIns="0" tIns="0" rIns="0" bIns="0" rtlCol="0" anchor="ctr">
            <a:normAutofit/>
          </a:bodyPr>
          <a:lstStyle/>
          <a:p>
            <a:pPr algn="ctr" indent="0" marL="0">
              <a:buNone/>
            </a:pPr>
            <a:r>
              <a:rPr lang="en-US" sz="1100" b="1" dirty="0">
                <a:solidFill>
                  <a:srgbClr val="F56F7C"/>
                </a:solidFill>
                <a:latin typeface="Avenir Next" pitchFamily="34" charset="0"/>
                <a:ea typeface="Avenir Next" pitchFamily="34" charset="-122"/>
                <a:cs typeface="Avenir Next" pitchFamily="34" charset="-120"/>
              </a:rPr>
              <a:t>5</a:t>
            </a:r>
            <a:endParaRPr lang="en-US" sz="1100" dirty="0"/>
          </a:p>
        </p:txBody>
      </p:sp>
      <p:sp>
        <p:nvSpPr>
          <p:cNvPr id="23" name="Text 21"/>
          <p:cNvSpPr/>
          <p:nvPr/>
        </p:nvSpPr>
        <p:spPr>
          <a:xfrm>
            <a:off x="1161288" y="4489704"/>
            <a:ext cx="4745736" cy="246888"/>
          </a:xfrm>
          <a:prstGeom prst="rect">
            <a:avLst/>
          </a:prstGeom>
          <a:noFill/>
          <a:ln/>
        </p:spPr>
        <p:txBody>
          <a:bodyPr wrap="square" lIns="0" tIns="0" rIns="0" bIns="0" rtlCol="0" anchor="ctr">
            <a:normAutofit/>
          </a:bodyPr>
          <a:lstStyle/>
          <a:p>
            <a:pPr indent="0" marL="0">
              <a:buNone/>
            </a:pPr>
            <a:r>
              <a:rPr lang="en-US" sz="1220" b="1" dirty="0">
                <a:solidFill>
                  <a:srgbClr val="F4F7F6"/>
                </a:solidFill>
                <a:latin typeface="Avenir Next" pitchFamily="34" charset="0"/>
                <a:ea typeface="Avenir Next" pitchFamily="34" charset="-122"/>
                <a:cs typeface="Avenir Next" pitchFamily="34" charset="-120"/>
              </a:rPr>
              <a:t>CHANGE ONE LEVER</a:t>
            </a:r>
            <a:endParaRPr lang="en-US" sz="1220" dirty="0"/>
          </a:p>
        </p:txBody>
      </p:sp>
      <p:sp>
        <p:nvSpPr>
          <p:cNvPr id="24" name="Text 22"/>
          <p:cNvSpPr/>
          <p:nvPr/>
        </p:nvSpPr>
        <p:spPr>
          <a:xfrm>
            <a:off x="1161288" y="4736592"/>
            <a:ext cx="4745736" cy="411480"/>
          </a:xfrm>
          <a:prstGeom prst="rect">
            <a:avLst/>
          </a:prstGeom>
          <a:noFill/>
          <a:ln/>
        </p:spPr>
        <p:txBody>
          <a:bodyPr wrap="square" lIns="0" tIns="0" rIns="0" bIns="0" rtlCol="0" anchor="t">
            <a:normAutofit/>
          </a:bodyPr>
          <a:lstStyle/>
          <a:p>
            <a:pPr indent="0" marL="0">
              <a:buNone/>
            </a:pPr>
            <a:r>
              <a:rPr lang="en-US" sz="950" dirty="0">
                <a:solidFill>
                  <a:srgbClr val="9BB0B5"/>
                </a:solidFill>
                <a:latin typeface="Avenir Next" pitchFamily="34" charset="0"/>
                <a:ea typeface="Avenir Next" pitchFamily="34" charset="-122"/>
                <a:cs typeface="Avenir Next" pitchFamily="34" charset="-120"/>
              </a:rPr>
              <a:t>Increase backup or reduce response delay—keep everything else constant.</a:t>
            </a:r>
            <a:endParaRPr lang="en-US" sz="950" dirty="0"/>
          </a:p>
        </p:txBody>
      </p:sp>
      <p:sp>
        <p:nvSpPr>
          <p:cNvPr id="25" name="Shape 23"/>
          <p:cNvSpPr/>
          <p:nvPr/>
        </p:nvSpPr>
        <p:spPr>
          <a:xfrm>
            <a:off x="6217920" y="4498848"/>
            <a:ext cx="365760" cy="365760"/>
          </a:xfrm>
          <a:prstGeom prst="ellipse">
            <a:avLst/>
          </a:prstGeom>
          <a:solidFill>
            <a:srgbClr val="12272D"/>
          </a:solidFill>
          <a:ln w="12700">
            <a:solidFill>
              <a:srgbClr val="89D49A"/>
            </a:solidFill>
            <a:prstDash val="solid"/>
          </a:ln>
        </p:spPr>
      </p:sp>
      <p:sp>
        <p:nvSpPr>
          <p:cNvPr id="26" name="Text 24"/>
          <p:cNvSpPr/>
          <p:nvPr/>
        </p:nvSpPr>
        <p:spPr>
          <a:xfrm>
            <a:off x="6217920" y="4517136"/>
            <a:ext cx="365760" cy="310896"/>
          </a:xfrm>
          <a:prstGeom prst="rect">
            <a:avLst/>
          </a:prstGeom>
          <a:noFill/>
          <a:ln/>
        </p:spPr>
        <p:txBody>
          <a:bodyPr wrap="square" lIns="0" tIns="0" rIns="0" bIns="0" rtlCol="0" anchor="ctr">
            <a:normAutofit/>
          </a:bodyPr>
          <a:lstStyle/>
          <a:p>
            <a:pPr algn="ctr" indent="0" marL="0">
              <a:buNone/>
            </a:pPr>
            <a:r>
              <a:rPr lang="en-US" sz="1100" b="1" dirty="0">
                <a:solidFill>
                  <a:srgbClr val="89D49A"/>
                </a:solidFill>
                <a:latin typeface="Avenir Next" pitchFamily="34" charset="0"/>
                <a:ea typeface="Avenir Next" pitchFamily="34" charset="-122"/>
                <a:cs typeface="Avenir Next" pitchFamily="34" charset="-120"/>
              </a:rPr>
              <a:t>6</a:t>
            </a:r>
            <a:endParaRPr lang="en-US" sz="1100" dirty="0"/>
          </a:p>
        </p:txBody>
      </p:sp>
      <p:sp>
        <p:nvSpPr>
          <p:cNvPr id="27" name="Text 25"/>
          <p:cNvSpPr/>
          <p:nvPr/>
        </p:nvSpPr>
        <p:spPr>
          <a:xfrm>
            <a:off x="6720840" y="4489704"/>
            <a:ext cx="4745736" cy="246888"/>
          </a:xfrm>
          <a:prstGeom prst="rect">
            <a:avLst/>
          </a:prstGeom>
          <a:noFill/>
          <a:ln/>
        </p:spPr>
        <p:txBody>
          <a:bodyPr wrap="square" lIns="0" tIns="0" rIns="0" bIns="0" rtlCol="0" anchor="ctr">
            <a:normAutofit/>
          </a:bodyPr>
          <a:lstStyle/>
          <a:p>
            <a:pPr indent="0" marL="0">
              <a:buNone/>
            </a:pPr>
            <a:r>
              <a:rPr lang="en-US" sz="1220" b="1" dirty="0">
                <a:solidFill>
                  <a:srgbClr val="F4F7F6"/>
                </a:solidFill>
                <a:latin typeface="Avenir Next" pitchFamily="34" charset="0"/>
                <a:ea typeface="Avenir Next" pitchFamily="34" charset="-122"/>
                <a:cs typeface="Avenir Next" pitchFamily="34" charset="-120"/>
              </a:rPr>
              <a:t>EXPLAIN THE RESULT</a:t>
            </a:r>
            <a:endParaRPr lang="en-US" sz="1220" dirty="0"/>
          </a:p>
        </p:txBody>
      </p:sp>
      <p:sp>
        <p:nvSpPr>
          <p:cNvPr id="28" name="Text 26"/>
          <p:cNvSpPr/>
          <p:nvPr/>
        </p:nvSpPr>
        <p:spPr>
          <a:xfrm>
            <a:off x="6720840" y="4736592"/>
            <a:ext cx="4745736" cy="411480"/>
          </a:xfrm>
          <a:prstGeom prst="rect">
            <a:avLst/>
          </a:prstGeom>
          <a:noFill/>
          <a:ln/>
        </p:spPr>
        <p:txBody>
          <a:bodyPr wrap="square" lIns="0" tIns="0" rIns="0" bIns="0" rtlCol="0" anchor="t">
            <a:normAutofit/>
          </a:bodyPr>
          <a:lstStyle/>
          <a:p>
            <a:pPr indent="0" marL="0">
              <a:buNone/>
            </a:pPr>
            <a:r>
              <a:rPr lang="en-US" sz="950" dirty="0">
                <a:solidFill>
                  <a:srgbClr val="9BB0B5"/>
                </a:solidFill>
                <a:latin typeface="Avenir Next" pitchFamily="34" charset="0"/>
                <a:ea typeface="Avenir Next" pitchFamily="34" charset="-122"/>
                <a:cs typeface="Avenir Next" pitchFamily="34" charset="-120"/>
              </a:rPr>
              <a:t>Open “Why this state?” and finish with the exact causal trace.</a:t>
            </a:r>
            <a:endParaRPr lang="en-US" sz="950" dirty="0"/>
          </a:p>
        </p:txBody>
      </p:sp>
      <p:sp>
        <p:nvSpPr>
          <p:cNvPr id="29" name="Shape 27"/>
          <p:cNvSpPr/>
          <p:nvPr/>
        </p:nvSpPr>
        <p:spPr>
          <a:xfrm>
            <a:off x="1097280" y="5724144"/>
            <a:ext cx="10012680" cy="420624"/>
          </a:xfrm>
          <a:prstGeom prst="roundRect">
            <a:avLst>
              <a:gd name="adj" fmla="val 26087"/>
            </a:avLst>
          </a:prstGeom>
          <a:solidFill>
            <a:srgbClr val="12272D"/>
          </a:solidFill>
          <a:ln w="12700">
            <a:solidFill>
              <a:srgbClr val="294047"/>
            </a:solidFill>
            <a:prstDash val="solid"/>
          </a:ln>
        </p:spPr>
      </p:sp>
      <p:sp>
        <p:nvSpPr>
          <p:cNvPr id="30" name="Text 28"/>
          <p:cNvSpPr/>
          <p:nvPr/>
        </p:nvSpPr>
        <p:spPr>
          <a:xfrm>
            <a:off x="1335024" y="5806440"/>
            <a:ext cx="9528048" cy="219456"/>
          </a:xfrm>
          <a:prstGeom prst="rect">
            <a:avLst/>
          </a:prstGeom>
          <a:noFill/>
          <a:ln/>
        </p:spPr>
        <p:txBody>
          <a:bodyPr wrap="square" lIns="0" tIns="0" rIns="0" bIns="0" rtlCol="0" anchor="ctr">
            <a:normAutofit/>
          </a:bodyPr>
          <a:lstStyle/>
          <a:p>
            <a:pPr algn="ctr" indent="0" marL="0">
              <a:buNone/>
            </a:pPr>
            <a:r>
              <a:rPr lang="en-US" sz="1120" b="1" dirty="0">
                <a:solidFill>
                  <a:srgbClr val="F4F7F6"/>
                </a:solidFill>
                <a:latin typeface="Avenir Next" pitchFamily="34" charset="0"/>
                <a:ea typeface="Avenir Next" pitchFamily="34" charset="-122"/>
                <a:cs typeface="Avenir Next" pitchFamily="34" charset="-120"/>
              </a:rPr>
              <a:t>Presenter rule: change one assumption, then show one downstream effect.</a:t>
            </a:r>
            <a:endParaRPr lang="en-US" sz="1120" dirty="0"/>
          </a:p>
        </p:txBody>
      </p:sp>
      <p:sp>
        <p:nvSpPr>
          <p:cNvPr id="32" name="Shape 29"/>
          <p:cNvSpPr/>
          <p:nvPr/>
        </p:nvSpPr>
        <p:spPr>
          <a:xfrm>
            <a:off x="502920" y="292608"/>
            <a:ext cx="310896" cy="310896"/>
          </a:xfrm>
          <a:prstGeom prst="ellipse">
            <a:avLst/>
          </a:prstGeom>
          <a:solidFill>
            <a:srgbClr val="12272D"/>
          </a:solidFill>
          <a:ln w="12700">
            <a:solidFill>
              <a:srgbClr val="65E2CB"/>
            </a:solidFill>
            <a:prstDash val="solid"/>
          </a:ln>
        </p:spPr>
      </p:sp>
      <p:sp>
        <p:nvSpPr>
          <p:cNvPr id="33" name="Shape 30"/>
          <p:cNvSpPr/>
          <p:nvPr/>
        </p:nvSpPr>
        <p:spPr>
          <a:xfrm>
            <a:off x="597103" y="374904"/>
            <a:ext cx="118872" cy="118872"/>
          </a:xfrm>
          <a:prstGeom prst="ellipse">
            <a:avLst/>
          </a:prstGeom>
          <a:solidFill>
            <a:srgbClr val="071216"/>
          </a:solidFill>
          <a:ln w="12700">
            <a:solidFill>
              <a:srgbClr val="65E2CB"/>
            </a:solidFill>
            <a:prstDash val="solid"/>
          </a:ln>
        </p:spPr>
      </p:sp>
      <p:sp>
        <p:nvSpPr>
          <p:cNvPr id="34" name="Shape 31"/>
          <p:cNvSpPr/>
          <p:nvPr/>
        </p:nvSpPr>
        <p:spPr>
          <a:xfrm>
            <a:off x="658368" y="356616"/>
            <a:ext cx="0" cy="182880"/>
          </a:xfrm>
          <a:prstGeom prst="line">
            <a:avLst/>
          </a:prstGeom>
          <a:noFill/>
          <a:ln w="15240">
            <a:solidFill>
              <a:srgbClr val="65E2CB"/>
            </a:solidFill>
            <a:prstDash val="solid"/>
            <a:headEnd type="none"/>
            <a:tailEnd type="none"/>
          </a:ln>
        </p:spPr>
      </p:sp>
      <p:sp>
        <p:nvSpPr>
          <p:cNvPr id="35" name="Text 32"/>
          <p:cNvSpPr/>
          <p:nvPr/>
        </p:nvSpPr>
        <p:spPr>
          <a:xfrm>
            <a:off x="896112" y="310896"/>
            <a:ext cx="2011680" cy="201168"/>
          </a:xfrm>
          <a:prstGeom prst="rect">
            <a:avLst/>
          </a:prstGeom>
          <a:noFill/>
          <a:ln/>
        </p:spPr>
        <p:txBody>
          <a:bodyPr wrap="square" lIns="0" tIns="0" rIns="0" bIns="0" rtlCol="0" anchor="ctr">
            <a:normAutofit/>
          </a:bodyPr>
          <a:lstStyle/>
          <a:p>
            <a:pPr indent="0" marL="0">
              <a:buNone/>
            </a:pPr>
            <a:r>
              <a:rPr lang="en-US" sz="900" b="1" spc="140" kern="0" dirty="0">
                <a:solidFill>
                  <a:srgbClr val="9BB0B5"/>
                </a:solidFill>
                <a:latin typeface="Avenir Next" pitchFamily="34" charset="0"/>
                <a:ea typeface="Avenir Next" pitchFamily="34" charset="-122"/>
                <a:cs typeface="Avenir Next" pitchFamily="34" charset="-120"/>
              </a:rPr>
              <a:t>NL RESILIENCE LAB</a:t>
            </a:r>
            <a:endParaRPr lang="en-US" sz="900" dirty="0"/>
          </a:p>
        </p:txBody>
      </p:sp>
      <p:sp>
        <p:nvSpPr>
          <p:cNvPr id="36" name="Text 33"/>
          <p:cNvSpPr/>
          <p:nvPr/>
        </p:nvSpPr>
        <p:spPr>
          <a:xfrm>
            <a:off x="9052560" y="310896"/>
            <a:ext cx="2514600" cy="201168"/>
          </a:xfrm>
          <a:prstGeom prst="rect">
            <a:avLst/>
          </a:prstGeom>
          <a:noFill/>
          <a:ln/>
        </p:spPr>
        <p:txBody>
          <a:bodyPr wrap="square" lIns="0" tIns="0" rIns="0" bIns="0" rtlCol="0" anchor="ctr">
            <a:normAutofit/>
          </a:bodyPr>
          <a:lstStyle/>
          <a:p>
            <a:pPr algn="r" indent="0" marL="0">
              <a:buNone/>
            </a:pPr>
            <a:r>
              <a:rPr lang="en-US" sz="850" b="1" spc="125" kern="0" dirty="0">
                <a:solidFill>
                  <a:srgbClr val="688087"/>
                </a:solidFill>
                <a:latin typeface="Avenir Next" pitchFamily="34" charset="0"/>
                <a:ea typeface="Avenir Next" pitchFamily="34" charset="-122"/>
                <a:cs typeface="Avenir Next" pitchFamily="34" charset="-120"/>
              </a:rPr>
              <a:t>PRESENTATION FLOW</a:t>
            </a:r>
            <a:endParaRPr lang="en-US" sz="850" dirty="0"/>
          </a:p>
        </p:txBody>
      </p:sp>
      <p:sp>
        <p:nvSpPr>
          <p:cNvPr id="37" name="Shape 34"/>
          <p:cNvSpPr/>
          <p:nvPr/>
        </p:nvSpPr>
        <p:spPr>
          <a:xfrm>
            <a:off x="502920" y="749808"/>
            <a:ext cx="10680192" cy="0"/>
          </a:xfrm>
          <a:prstGeom prst="line">
            <a:avLst/>
          </a:prstGeom>
          <a:noFill/>
          <a:ln w="8890">
            <a:solidFill>
              <a:srgbClr val="294047"/>
            </a:solidFill>
            <a:prstDash val="solid"/>
            <a:headEnd type="none"/>
            <a:tailEnd type="none"/>
          </a:ln>
        </p:spPr>
      </p:sp>
      <p:sp>
        <p:nvSpPr>
          <p:cNvPr id="25" name="Slide Number Placeholder 0"/>
          <p:cNvSpPr>
            <a:spLocks noGrp="1"/>
          </p:cNvSpPr>
          <p:nvPr>
            <p:ph type="sldNum" sz="quarter" idx="4294967295"/>
          </p:nvPr>
        </p:nvSpPr>
        <p:spPr>
          <a:xfrm>
            <a:off x="11119104" y="6446520"/>
            <a:ext cx="475488"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8087"/>
                </a:solidFill>
                <a:latin typeface="Avenir Next"/>
                <a:ea typeface="Avenir Next"/>
                <a:cs typeface="Avenir Next"/>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71216"/>
        </a:solidFill>
      </p:bgPr>
    </p:bg>
    <p:spTree>
      <p:nvGrpSpPr>
        <p:cNvPr id="1" name=""/>
        <p:cNvGrpSpPr/>
        <p:nvPr/>
      </p:nvGrpSpPr>
      <p:grpSpPr>
        <a:xfrm>
          <a:off x="0" y="0"/>
          <a:ext cx="0" cy="0"/>
          <a:chOff x="0" y="0"/>
          <a:chExt cx="0" cy="0"/>
        </a:xfrm>
      </p:grpSpPr>
      <p:sp>
        <p:nvSpPr>
          <p:cNvPr id="2" name="Text 0"/>
          <p:cNvSpPr/>
          <p:nvPr/>
        </p:nvSpPr>
        <p:spPr>
          <a:xfrm>
            <a:off x="594360" y="950976"/>
            <a:ext cx="2377440" cy="201168"/>
          </a:xfrm>
          <a:prstGeom prst="rect">
            <a:avLst/>
          </a:prstGeom>
          <a:noFill/>
          <a:ln/>
        </p:spPr>
        <p:txBody>
          <a:bodyPr wrap="square" lIns="0" tIns="0" rIns="0" bIns="0" rtlCol="0" anchor="ctr">
            <a:normAutofit/>
          </a:bodyPr>
          <a:lstStyle/>
          <a:p>
            <a:pPr indent="0" marL="0">
              <a:buNone/>
            </a:pPr>
            <a:r>
              <a:rPr lang="en-US" sz="900" b="1" spc="165" kern="0" dirty="0">
                <a:solidFill>
                  <a:srgbClr val="65E2CB"/>
                </a:solidFill>
                <a:latin typeface="Avenir Next" pitchFamily="34" charset="0"/>
                <a:ea typeface="Avenir Next" pitchFamily="34" charset="-122"/>
                <a:cs typeface="Avenir Next" pitchFamily="34" charset="-120"/>
              </a:rPr>
              <a:t>ROADMAP</a:t>
            </a:r>
            <a:endParaRPr lang="en-US" sz="900" dirty="0"/>
          </a:p>
        </p:txBody>
      </p:sp>
      <p:sp>
        <p:nvSpPr>
          <p:cNvPr id="3" name="Text 1"/>
          <p:cNvSpPr/>
          <p:nvPr/>
        </p:nvSpPr>
        <p:spPr>
          <a:xfrm>
            <a:off x="594360" y="1188720"/>
            <a:ext cx="10972800" cy="566928"/>
          </a:xfrm>
          <a:prstGeom prst="rect">
            <a:avLst/>
          </a:prstGeom>
          <a:noFill/>
          <a:ln/>
        </p:spPr>
        <p:txBody>
          <a:bodyPr wrap="square" lIns="0" tIns="0" rIns="0" bIns="0" rtlCol="0" anchor="ctr">
            <a:normAutofit/>
          </a:bodyPr>
          <a:lstStyle/>
          <a:p>
            <a:pPr indent="0" marL="0">
              <a:buNone/>
            </a:pPr>
            <a:r>
              <a:rPr lang="en-US" sz="2900" b="1" dirty="0">
                <a:solidFill>
                  <a:srgbClr val="F4F7F6"/>
                </a:solidFill>
                <a:latin typeface="Avenir Next" pitchFamily="34" charset="0"/>
                <a:ea typeface="Avenir Next" pitchFamily="34" charset="-122"/>
                <a:cs typeface="Avenir Next" pitchFamily="34" charset="-120"/>
              </a:rPr>
              <a:t>From exploration prototype to calibrated exercises</a:t>
            </a:r>
            <a:endParaRPr lang="en-US" sz="2900" dirty="0"/>
          </a:p>
        </p:txBody>
      </p:sp>
      <p:sp>
        <p:nvSpPr>
          <p:cNvPr id="4" name="Text 2"/>
          <p:cNvSpPr/>
          <p:nvPr/>
        </p:nvSpPr>
        <p:spPr>
          <a:xfrm>
            <a:off x="594360" y="1746504"/>
            <a:ext cx="10789920" cy="393192"/>
          </a:xfrm>
          <a:prstGeom prst="rect">
            <a:avLst/>
          </a:prstGeom>
          <a:noFill/>
          <a:ln/>
        </p:spPr>
        <p:txBody>
          <a:bodyPr wrap="square" lIns="0" tIns="0" rIns="0" bIns="0" rtlCol="0" anchor="ctr">
            <a:normAutofit/>
          </a:bodyPr>
          <a:lstStyle/>
          <a:p>
            <a:pPr indent="0" marL="0">
              <a:buNone/>
            </a:pPr>
            <a:r>
              <a:rPr lang="en-US" sz="1250" dirty="0">
                <a:solidFill>
                  <a:srgbClr val="9BB0B5"/>
                </a:solidFill>
                <a:latin typeface="Avenir Next" pitchFamily="34" charset="0"/>
                <a:ea typeface="Avenir Next" pitchFamily="34" charset="-122"/>
                <a:cs typeface="Avenir Next" pitchFamily="34" charset="-120"/>
              </a:rPr>
              <a:t>The next gains come from stronger event binding, topology and validation—not more visual layers.</a:t>
            </a:r>
            <a:endParaRPr lang="en-US" sz="1250" dirty="0"/>
          </a:p>
        </p:txBody>
      </p:sp>
      <p:sp>
        <p:nvSpPr>
          <p:cNvPr id="5" name="Text 3"/>
          <p:cNvSpPr/>
          <p:nvPr/>
        </p:nvSpPr>
        <p:spPr>
          <a:xfrm>
            <a:off x="713232" y="2276856"/>
            <a:ext cx="502920" cy="274320"/>
          </a:xfrm>
          <a:prstGeom prst="rect">
            <a:avLst/>
          </a:prstGeom>
          <a:noFill/>
          <a:ln/>
        </p:spPr>
        <p:txBody>
          <a:bodyPr wrap="square" lIns="0" tIns="0" rIns="0" bIns="0" rtlCol="0" anchor="ctr">
            <a:normAutofit/>
          </a:bodyPr>
          <a:lstStyle/>
          <a:p>
            <a:pPr indent="0" marL="0">
              <a:buNone/>
            </a:pPr>
            <a:r>
              <a:rPr lang="en-US" sz="1300" b="1" dirty="0">
                <a:solidFill>
                  <a:srgbClr val="59D5F6"/>
                </a:solidFill>
                <a:latin typeface="Avenir Next" pitchFamily="34" charset="0"/>
                <a:ea typeface="Avenir Next" pitchFamily="34" charset="-122"/>
                <a:cs typeface="Avenir Next" pitchFamily="34" charset="-120"/>
              </a:rPr>
              <a:t>01</a:t>
            </a:r>
            <a:endParaRPr lang="en-US" sz="1300" dirty="0"/>
          </a:p>
        </p:txBody>
      </p:sp>
      <p:sp>
        <p:nvSpPr>
          <p:cNvPr id="6" name="Shape 4"/>
          <p:cNvSpPr/>
          <p:nvPr/>
        </p:nvSpPr>
        <p:spPr>
          <a:xfrm>
            <a:off x="1353312" y="2459736"/>
            <a:ext cx="493776" cy="0"/>
          </a:xfrm>
          <a:prstGeom prst="line">
            <a:avLst/>
          </a:prstGeom>
          <a:noFill/>
          <a:ln w="25400">
            <a:solidFill>
              <a:srgbClr val="59D5F6"/>
            </a:solidFill>
            <a:prstDash val="solid"/>
            <a:headEnd type="none"/>
            <a:tailEnd type="none"/>
          </a:ln>
        </p:spPr>
      </p:sp>
      <p:sp>
        <p:nvSpPr>
          <p:cNvPr id="7" name="Text 5"/>
          <p:cNvSpPr/>
          <p:nvPr/>
        </p:nvSpPr>
        <p:spPr>
          <a:xfrm>
            <a:off x="1993392" y="2240280"/>
            <a:ext cx="2880360" cy="283464"/>
          </a:xfrm>
          <a:prstGeom prst="rect">
            <a:avLst/>
          </a:prstGeom>
          <a:noFill/>
          <a:ln/>
        </p:spPr>
        <p:txBody>
          <a:bodyPr wrap="square" lIns="0" tIns="0" rIns="0" bIns="0" rtlCol="0" anchor="ctr">
            <a:normAutofit/>
          </a:bodyPr>
          <a:lstStyle/>
          <a:p>
            <a:pPr indent="0" marL="0">
              <a:buNone/>
            </a:pPr>
            <a:r>
              <a:rPr lang="en-US" sz="1150" b="1" dirty="0">
                <a:solidFill>
                  <a:srgbClr val="59D5F6"/>
                </a:solidFill>
                <a:latin typeface="Avenir Next" pitchFamily="34" charset="0"/>
                <a:ea typeface="Avenir Next" pitchFamily="34" charset="-122"/>
                <a:cs typeface="Avenir Next" pitchFamily="34" charset="-120"/>
              </a:rPr>
              <a:t>EVENT-BOUND WEATHER</a:t>
            </a:r>
            <a:endParaRPr lang="en-US" sz="1150" dirty="0"/>
          </a:p>
        </p:txBody>
      </p:sp>
      <p:sp>
        <p:nvSpPr>
          <p:cNvPr id="8" name="Text 6"/>
          <p:cNvSpPr/>
          <p:nvPr/>
        </p:nvSpPr>
        <p:spPr>
          <a:xfrm>
            <a:off x="4992624" y="2221992"/>
            <a:ext cx="6172200" cy="411480"/>
          </a:xfrm>
          <a:prstGeom prst="rect">
            <a:avLst/>
          </a:prstGeom>
          <a:noFill/>
          <a:ln/>
        </p:spPr>
        <p:txBody>
          <a:bodyPr wrap="square" lIns="0" tIns="0" rIns="0" bIns="0" rtlCol="0" anchor="ctr">
            <a:normAutofit/>
          </a:bodyPr>
          <a:lstStyle/>
          <a:p>
            <a:pPr indent="0" marL="0">
              <a:buNone/>
            </a:pPr>
            <a:r>
              <a:rPr lang="en-US" sz="1040" dirty="0">
                <a:solidFill>
                  <a:srgbClr val="F4F7F6"/>
                </a:solidFill>
                <a:latin typeface="Avenir Next" pitchFamily="34" charset="0"/>
                <a:ea typeface="Avenir Next" pitchFamily="34" charset="-122"/>
                <a:cs typeface="Avenir Next" pitchFamily="34" charset="-120"/>
              </a:rPr>
              <a:t>Bind checksum-versioned forecast cycles; preserve the T+60–T+72 coverage gap.</a:t>
            </a:r>
            <a:endParaRPr lang="en-US" sz="1040" dirty="0"/>
          </a:p>
        </p:txBody>
      </p:sp>
      <p:sp>
        <p:nvSpPr>
          <p:cNvPr id="9" name="Shape 7"/>
          <p:cNvSpPr/>
          <p:nvPr/>
        </p:nvSpPr>
        <p:spPr>
          <a:xfrm>
            <a:off x="658368" y="2816352"/>
            <a:ext cx="10634472" cy="0"/>
          </a:xfrm>
          <a:prstGeom prst="line">
            <a:avLst/>
          </a:prstGeom>
          <a:noFill/>
          <a:ln w="6985">
            <a:solidFill>
              <a:srgbClr val="294047"/>
            </a:solidFill>
            <a:prstDash val="solid"/>
            <a:headEnd type="none"/>
            <a:tailEnd type="none"/>
          </a:ln>
        </p:spPr>
      </p:sp>
      <p:sp>
        <p:nvSpPr>
          <p:cNvPr id="10" name="Text 8"/>
          <p:cNvSpPr/>
          <p:nvPr/>
        </p:nvSpPr>
        <p:spPr>
          <a:xfrm>
            <a:off x="713232" y="2990088"/>
            <a:ext cx="502920" cy="274320"/>
          </a:xfrm>
          <a:prstGeom prst="rect">
            <a:avLst/>
          </a:prstGeom>
          <a:noFill/>
          <a:ln/>
        </p:spPr>
        <p:txBody>
          <a:bodyPr wrap="square" lIns="0" tIns="0" rIns="0" bIns="0" rtlCol="0" anchor="ctr">
            <a:normAutofit/>
          </a:bodyPr>
          <a:lstStyle/>
          <a:p>
            <a:pPr indent="0" marL="0">
              <a:buNone/>
            </a:pPr>
            <a:r>
              <a:rPr lang="en-US" sz="1300" b="1" dirty="0">
                <a:solidFill>
                  <a:srgbClr val="65E2CB"/>
                </a:solidFill>
                <a:latin typeface="Avenir Next" pitchFamily="34" charset="0"/>
                <a:ea typeface="Avenir Next" pitchFamily="34" charset="-122"/>
                <a:cs typeface="Avenir Next" pitchFamily="34" charset="-120"/>
              </a:rPr>
              <a:t>02</a:t>
            </a:r>
            <a:endParaRPr lang="en-US" sz="1300" dirty="0"/>
          </a:p>
        </p:txBody>
      </p:sp>
      <p:sp>
        <p:nvSpPr>
          <p:cNvPr id="11" name="Shape 9"/>
          <p:cNvSpPr/>
          <p:nvPr/>
        </p:nvSpPr>
        <p:spPr>
          <a:xfrm>
            <a:off x="1353312" y="3172968"/>
            <a:ext cx="493776" cy="0"/>
          </a:xfrm>
          <a:prstGeom prst="line">
            <a:avLst/>
          </a:prstGeom>
          <a:noFill/>
          <a:ln w="25400">
            <a:solidFill>
              <a:srgbClr val="65E2CB"/>
            </a:solidFill>
            <a:prstDash val="solid"/>
            <a:headEnd type="none"/>
            <a:tailEnd type="none"/>
          </a:ln>
        </p:spPr>
      </p:sp>
      <p:sp>
        <p:nvSpPr>
          <p:cNvPr id="12" name="Text 10"/>
          <p:cNvSpPr/>
          <p:nvPr/>
        </p:nvSpPr>
        <p:spPr>
          <a:xfrm>
            <a:off x="1993392" y="2953512"/>
            <a:ext cx="2880360" cy="283464"/>
          </a:xfrm>
          <a:prstGeom prst="rect">
            <a:avLst/>
          </a:prstGeom>
          <a:noFill/>
          <a:ln/>
        </p:spPr>
        <p:txBody>
          <a:bodyPr wrap="square" lIns="0" tIns="0" rIns="0" bIns="0" rtlCol="0" anchor="ctr">
            <a:normAutofit/>
          </a:bodyPr>
          <a:lstStyle/>
          <a:p>
            <a:pPr indent="0" marL="0">
              <a:buNone/>
            </a:pPr>
            <a:r>
              <a:rPr lang="en-US" sz="1150" b="1" dirty="0">
                <a:solidFill>
                  <a:srgbClr val="65E2CB"/>
                </a:solidFill>
                <a:latin typeface="Avenir Next" pitchFamily="34" charset="0"/>
                <a:ea typeface="Avenir Next" pitchFamily="34" charset="-122"/>
                <a:cs typeface="Avenir Next" pitchFamily="34" charset="-120"/>
              </a:rPr>
              <a:t>HYDRAULIC CALIBRATION</a:t>
            </a:r>
            <a:endParaRPr lang="en-US" sz="1150" dirty="0"/>
          </a:p>
        </p:txBody>
      </p:sp>
      <p:sp>
        <p:nvSpPr>
          <p:cNvPr id="13" name="Text 11"/>
          <p:cNvSpPr/>
          <p:nvPr/>
        </p:nvSpPr>
        <p:spPr>
          <a:xfrm>
            <a:off x="4992624" y="2935224"/>
            <a:ext cx="6172200" cy="411480"/>
          </a:xfrm>
          <a:prstGeom prst="rect">
            <a:avLst/>
          </a:prstGeom>
          <a:noFill/>
          <a:ln/>
        </p:spPr>
        <p:txBody>
          <a:bodyPr wrap="square" lIns="0" tIns="0" rIns="0" bIns="0" rtlCol="0" anchor="ctr">
            <a:normAutofit/>
          </a:bodyPr>
          <a:lstStyle/>
          <a:p>
            <a:pPr indent="0" marL="0">
              <a:buNone/>
            </a:pPr>
            <a:r>
              <a:rPr lang="en-US" sz="1040" dirty="0">
                <a:solidFill>
                  <a:srgbClr val="F4F7F6"/>
                </a:solidFill>
                <a:latin typeface="Avenir Next" pitchFamily="34" charset="0"/>
                <a:ea typeface="Avenir Next" pitchFamily="34" charset="-122"/>
                <a:cs typeface="Avenir Next" pitchFamily="34" charset="-120"/>
              </a:rPr>
              <a:t>Select compatible LIWO / breach scenarios with depth, arrival and recession.</a:t>
            </a:r>
            <a:endParaRPr lang="en-US" sz="1040" dirty="0"/>
          </a:p>
        </p:txBody>
      </p:sp>
      <p:sp>
        <p:nvSpPr>
          <p:cNvPr id="14" name="Shape 12"/>
          <p:cNvSpPr/>
          <p:nvPr/>
        </p:nvSpPr>
        <p:spPr>
          <a:xfrm>
            <a:off x="658368" y="3529584"/>
            <a:ext cx="10634472" cy="0"/>
          </a:xfrm>
          <a:prstGeom prst="line">
            <a:avLst/>
          </a:prstGeom>
          <a:noFill/>
          <a:ln w="6985">
            <a:solidFill>
              <a:srgbClr val="294047"/>
            </a:solidFill>
            <a:prstDash val="solid"/>
            <a:headEnd type="none"/>
            <a:tailEnd type="none"/>
          </a:ln>
        </p:spPr>
      </p:sp>
      <p:sp>
        <p:nvSpPr>
          <p:cNvPr id="15" name="Text 13"/>
          <p:cNvSpPr/>
          <p:nvPr/>
        </p:nvSpPr>
        <p:spPr>
          <a:xfrm>
            <a:off x="713232" y="3703320"/>
            <a:ext cx="502920" cy="274320"/>
          </a:xfrm>
          <a:prstGeom prst="rect">
            <a:avLst/>
          </a:prstGeom>
          <a:noFill/>
          <a:ln/>
        </p:spPr>
        <p:txBody>
          <a:bodyPr wrap="square" lIns="0" tIns="0" rIns="0" bIns="0" rtlCol="0" anchor="ctr">
            <a:normAutofit/>
          </a:bodyPr>
          <a:lstStyle/>
          <a:p>
            <a:pPr indent="0" marL="0">
              <a:buNone/>
            </a:pPr>
            <a:r>
              <a:rPr lang="en-US" sz="1300" b="1" dirty="0">
                <a:solidFill>
                  <a:srgbClr val="B784F5"/>
                </a:solidFill>
                <a:latin typeface="Avenir Next" pitchFamily="34" charset="0"/>
                <a:ea typeface="Avenir Next" pitchFamily="34" charset="-122"/>
                <a:cs typeface="Avenir Next" pitchFamily="34" charset="-120"/>
              </a:rPr>
              <a:t>03</a:t>
            </a:r>
            <a:endParaRPr lang="en-US" sz="1300" dirty="0"/>
          </a:p>
        </p:txBody>
      </p:sp>
      <p:sp>
        <p:nvSpPr>
          <p:cNvPr id="16" name="Shape 14"/>
          <p:cNvSpPr/>
          <p:nvPr/>
        </p:nvSpPr>
        <p:spPr>
          <a:xfrm>
            <a:off x="1353312" y="3886200"/>
            <a:ext cx="493776" cy="0"/>
          </a:xfrm>
          <a:prstGeom prst="line">
            <a:avLst/>
          </a:prstGeom>
          <a:noFill/>
          <a:ln w="25400">
            <a:solidFill>
              <a:srgbClr val="B784F5"/>
            </a:solidFill>
            <a:prstDash val="solid"/>
            <a:headEnd type="none"/>
            <a:tailEnd type="none"/>
          </a:ln>
        </p:spPr>
      </p:sp>
      <p:sp>
        <p:nvSpPr>
          <p:cNvPr id="17" name="Text 15"/>
          <p:cNvSpPr/>
          <p:nvPr/>
        </p:nvSpPr>
        <p:spPr>
          <a:xfrm>
            <a:off x="1993392" y="3666744"/>
            <a:ext cx="2880360" cy="283464"/>
          </a:xfrm>
          <a:prstGeom prst="rect">
            <a:avLst/>
          </a:prstGeom>
          <a:noFill/>
          <a:ln/>
        </p:spPr>
        <p:txBody>
          <a:bodyPr wrap="square" lIns="0" tIns="0" rIns="0" bIns="0" rtlCol="0" anchor="ctr">
            <a:normAutofit/>
          </a:bodyPr>
          <a:lstStyle/>
          <a:p>
            <a:pPr indent="0" marL="0">
              <a:buNone/>
            </a:pPr>
            <a:r>
              <a:rPr lang="en-US" sz="1150" b="1" dirty="0">
                <a:solidFill>
                  <a:srgbClr val="B784F5"/>
                </a:solidFill>
                <a:latin typeface="Avenir Next" pitchFamily="34" charset="0"/>
                <a:ea typeface="Avenir Next" pitchFamily="34" charset="-122"/>
                <a:cs typeface="Avenir Next" pitchFamily="34" charset="-120"/>
              </a:rPr>
              <a:t>SERVICE-SPECIFIC NETWORKS</a:t>
            </a:r>
            <a:endParaRPr lang="en-US" sz="1150" dirty="0"/>
          </a:p>
        </p:txBody>
      </p:sp>
      <p:sp>
        <p:nvSpPr>
          <p:cNvPr id="18" name="Text 16"/>
          <p:cNvSpPr/>
          <p:nvPr/>
        </p:nvSpPr>
        <p:spPr>
          <a:xfrm>
            <a:off x="4992624" y="3648456"/>
            <a:ext cx="6172200" cy="411480"/>
          </a:xfrm>
          <a:prstGeom prst="rect">
            <a:avLst/>
          </a:prstGeom>
          <a:noFill/>
          <a:ln/>
        </p:spPr>
        <p:txBody>
          <a:bodyPr wrap="square" lIns="0" tIns="0" rIns="0" bIns="0" rtlCol="0" anchor="ctr">
            <a:normAutofit/>
          </a:bodyPr>
          <a:lstStyle/>
          <a:p>
            <a:pPr indent="0" marL="0">
              <a:buNone/>
            </a:pPr>
            <a:r>
              <a:rPr lang="en-US" sz="1040" dirty="0">
                <a:solidFill>
                  <a:srgbClr val="F4F7F6"/>
                </a:solidFill>
                <a:latin typeface="Avenir Next" pitchFamily="34" charset="0"/>
                <a:ea typeface="Avenir Next" pitchFamily="34" charset="-122"/>
                <a:cs typeface="Avenir Next" pitchFamily="34" charset="-120"/>
              </a:rPr>
              <a:t>Add authorized topology, capacity, switching and restoration semantics.</a:t>
            </a:r>
            <a:endParaRPr lang="en-US" sz="1040" dirty="0"/>
          </a:p>
        </p:txBody>
      </p:sp>
      <p:sp>
        <p:nvSpPr>
          <p:cNvPr id="19" name="Shape 17"/>
          <p:cNvSpPr/>
          <p:nvPr/>
        </p:nvSpPr>
        <p:spPr>
          <a:xfrm>
            <a:off x="658368" y="4242816"/>
            <a:ext cx="10634472" cy="0"/>
          </a:xfrm>
          <a:prstGeom prst="line">
            <a:avLst/>
          </a:prstGeom>
          <a:noFill/>
          <a:ln w="6985">
            <a:solidFill>
              <a:srgbClr val="294047"/>
            </a:solidFill>
            <a:prstDash val="solid"/>
            <a:headEnd type="none"/>
            <a:tailEnd type="none"/>
          </a:ln>
        </p:spPr>
      </p:sp>
      <p:sp>
        <p:nvSpPr>
          <p:cNvPr id="20" name="Text 18"/>
          <p:cNvSpPr/>
          <p:nvPr/>
        </p:nvSpPr>
        <p:spPr>
          <a:xfrm>
            <a:off x="713232" y="4416552"/>
            <a:ext cx="502920" cy="274320"/>
          </a:xfrm>
          <a:prstGeom prst="rect">
            <a:avLst/>
          </a:prstGeom>
          <a:noFill/>
          <a:ln/>
        </p:spPr>
        <p:txBody>
          <a:bodyPr wrap="square" lIns="0" tIns="0" rIns="0" bIns="0" rtlCol="0" anchor="ctr">
            <a:normAutofit/>
          </a:bodyPr>
          <a:lstStyle/>
          <a:p>
            <a:pPr indent="0" marL="0">
              <a:buNone/>
            </a:pPr>
            <a:r>
              <a:rPr lang="en-US" sz="1300" b="1" dirty="0">
                <a:solidFill>
                  <a:srgbClr val="F4B85D"/>
                </a:solidFill>
                <a:latin typeface="Avenir Next" pitchFamily="34" charset="0"/>
                <a:ea typeface="Avenir Next" pitchFamily="34" charset="-122"/>
                <a:cs typeface="Avenir Next" pitchFamily="34" charset="-120"/>
              </a:rPr>
              <a:t>04</a:t>
            </a:r>
            <a:endParaRPr lang="en-US" sz="1300" dirty="0"/>
          </a:p>
        </p:txBody>
      </p:sp>
      <p:sp>
        <p:nvSpPr>
          <p:cNvPr id="21" name="Shape 19"/>
          <p:cNvSpPr/>
          <p:nvPr/>
        </p:nvSpPr>
        <p:spPr>
          <a:xfrm>
            <a:off x="1353312" y="4599432"/>
            <a:ext cx="493776" cy="0"/>
          </a:xfrm>
          <a:prstGeom prst="line">
            <a:avLst/>
          </a:prstGeom>
          <a:noFill/>
          <a:ln w="25400">
            <a:solidFill>
              <a:srgbClr val="F4B85D"/>
            </a:solidFill>
            <a:prstDash val="solid"/>
            <a:headEnd type="none"/>
            <a:tailEnd type="none"/>
          </a:ln>
        </p:spPr>
      </p:sp>
      <p:sp>
        <p:nvSpPr>
          <p:cNvPr id="22" name="Text 20"/>
          <p:cNvSpPr/>
          <p:nvPr/>
        </p:nvSpPr>
        <p:spPr>
          <a:xfrm>
            <a:off x="1993392" y="4379976"/>
            <a:ext cx="2880360" cy="283464"/>
          </a:xfrm>
          <a:prstGeom prst="rect">
            <a:avLst/>
          </a:prstGeom>
          <a:noFill/>
          <a:ln/>
        </p:spPr>
        <p:txBody>
          <a:bodyPr wrap="square" lIns="0" tIns="0" rIns="0" bIns="0" rtlCol="0" anchor="ctr">
            <a:normAutofit/>
          </a:bodyPr>
          <a:lstStyle/>
          <a:p>
            <a:pPr indent="0" marL="0">
              <a:buNone/>
            </a:pPr>
            <a:r>
              <a:rPr lang="en-US" sz="1150" b="1" dirty="0">
                <a:solidFill>
                  <a:srgbClr val="F4B85D"/>
                </a:solidFill>
                <a:latin typeface="Avenir Next" pitchFamily="34" charset="0"/>
                <a:ea typeface="Avenir Next" pitchFamily="34" charset="-122"/>
                <a:cs typeface="Avenir Next" pitchFamily="34" charset="-120"/>
              </a:rPr>
              <a:t>FACILITIES + RESPONSE</a:t>
            </a:r>
            <a:endParaRPr lang="en-US" sz="1150" dirty="0"/>
          </a:p>
        </p:txBody>
      </p:sp>
      <p:sp>
        <p:nvSpPr>
          <p:cNvPr id="23" name="Text 21"/>
          <p:cNvSpPr/>
          <p:nvPr/>
        </p:nvSpPr>
        <p:spPr>
          <a:xfrm>
            <a:off x="4992624" y="4361688"/>
            <a:ext cx="6172200" cy="411480"/>
          </a:xfrm>
          <a:prstGeom prst="rect">
            <a:avLst/>
          </a:prstGeom>
          <a:noFill/>
          <a:ln/>
        </p:spPr>
        <p:txBody>
          <a:bodyPr wrap="square" lIns="0" tIns="0" rIns="0" bIns="0" rtlCol="0" anchor="ctr">
            <a:normAutofit/>
          </a:bodyPr>
          <a:lstStyle/>
          <a:p>
            <a:pPr indent="0" marL="0">
              <a:buNone/>
            </a:pPr>
            <a:r>
              <a:rPr lang="en-US" sz="1040" dirty="0">
                <a:solidFill>
                  <a:srgbClr val="F4F7F6"/>
                </a:solidFill>
                <a:latin typeface="Avenir Next" pitchFamily="34" charset="0"/>
                <a:ea typeface="Avenir Next" pitchFamily="34" charset="-122"/>
                <a:cs typeface="Avenir Next" pitchFamily="34" charset="-120"/>
              </a:rPr>
              <a:t>Calibrate shelter, acute-care, staffing, generators, fuel and dispatch resources.</a:t>
            </a:r>
            <a:endParaRPr lang="en-US" sz="1040" dirty="0"/>
          </a:p>
        </p:txBody>
      </p:sp>
      <p:sp>
        <p:nvSpPr>
          <p:cNvPr id="24" name="Shape 22"/>
          <p:cNvSpPr/>
          <p:nvPr/>
        </p:nvSpPr>
        <p:spPr>
          <a:xfrm>
            <a:off x="658368" y="4956048"/>
            <a:ext cx="10634472" cy="0"/>
          </a:xfrm>
          <a:prstGeom prst="line">
            <a:avLst/>
          </a:prstGeom>
          <a:noFill/>
          <a:ln w="6985">
            <a:solidFill>
              <a:srgbClr val="294047"/>
            </a:solidFill>
            <a:prstDash val="solid"/>
            <a:headEnd type="none"/>
            <a:tailEnd type="none"/>
          </a:ln>
        </p:spPr>
      </p:sp>
      <p:sp>
        <p:nvSpPr>
          <p:cNvPr id="25" name="Text 23"/>
          <p:cNvSpPr/>
          <p:nvPr/>
        </p:nvSpPr>
        <p:spPr>
          <a:xfrm>
            <a:off x="713232" y="5129784"/>
            <a:ext cx="502920" cy="274320"/>
          </a:xfrm>
          <a:prstGeom prst="rect">
            <a:avLst/>
          </a:prstGeom>
          <a:noFill/>
          <a:ln/>
        </p:spPr>
        <p:txBody>
          <a:bodyPr wrap="square" lIns="0" tIns="0" rIns="0" bIns="0" rtlCol="0" anchor="ctr">
            <a:normAutofit/>
          </a:bodyPr>
          <a:lstStyle/>
          <a:p>
            <a:pPr indent="0" marL="0">
              <a:buNone/>
            </a:pPr>
            <a:r>
              <a:rPr lang="en-US" sz="1300" b="1" dirty="0">
                <a:solidFill>
                  <a:srgbClr val="F56F7C"/>
                </a:solidFill>
                <a:latin typeface="Avenir Next" pitchFamily="34" charset="0"/>
                <a:ea typeface="Avenir Next" pitchFamily="34" charset="-122"/>
                <a:cs typeface="Avenir Next" pitchFamily="34" charset="-120"/>
              </a:rPr>
              <a:t>05</a:t>
            </a:r>
            <a:endParaRPr lang="en-US" sz="1300" dirty="0"/>
          </a:p>
        </p:txBody>
      </p:sp>
      <p:sp>
        <p:nvSpPr>
          <p:cNvPr id="26" name="Shape 24"/>
          <p:cNvSpPr/>
          <p:nvPr/>
        </p:nvSpPr>
        <p:spPr>
          <a:xfrm>
            <a:off x="1353312" y="5312664"/>
            <a:ext cx="493776" cy="0"/>
          </a:xfrm>
          <a:prstGeom prst="line">
            <a:avLst/>
          </a:prstGeom>
          <a:noFill/>
          <a:ln w="25400">
            <a:solidFill>
              <a:srgbClr val="F56F7C"/>
            </a:solidFill>
            <a:prstDash val="solid"/>
            <a:headEnd type="none"/>
            <a:tailEnd type="none"/>
          </a:ln>
        </p:spPr>
      </p:sp>
      <p:sp>
        <p:nvSpPr>
          <p:cNvPr id="27" name="Text 25"/>
          <p:cNvSpPr/>
          <p:nvPr/>
        </p:nvSpPr>
        <p:spPr>
          <a:xfrm>
            <a:off x="1993392" y="5093208"/>
            <a:ext cx="2880360" cy="283464"/>
          </a:xfrm>
          <a:prstGeom prst="rect">
            <a:avLst/>
          </a:prstGeom>
          <a:noFill/>
          <a:ln/>
        </p:spPr>
        <p:txBody>
          <a:bodyPr wrap="square" lIns="0" tIns="0" rIns="0" bIns="0" rtlCol="0" anchor="ctr">
            <a:normAutofit/>
          </a:bodyPr>
          <a:lstStyle/>
          <a:p>
            <a:pPr indent="0" marL="0">
              <a:buNone/>
            </a:pPr>
            <a:r>
              <a:rPr lang="en-US" sz="1150" b="1" dirty="0">
                <a:solidFill>
                  <a:srgbClr val="F56F7C"/>
                </a:solidFill>
                <a:latin typeface="Avenir Next" pitchFamily="34" charset="0"/>
                <a:ea typeface="Avenir Next" pitchFamily="34" charset="-122"/>
                <a:cs typeface="Avenir Next" pitchFamily="34" charset="-120"/>
              </a:rPr>
              <a:t>VALIDATION</a:t>
            </a:r>
            <a:endParaRPr lang="en-US" sz="1150" dirty="0"/>
          </a:p>
        </p:txBody>
      </p:sp>
      <p:sp>
        <p:nvSpPr>
          <p:cNvPr id="28" name="Text 26"/>
          <p:cNvSpPr/>
          <p:nvPr/>
        </p:nvSpPr>
        <p:spPr>
          <a:xfrm>
            <a:off x="4992624" y="5074920"/>
            <a:ext cx="6172200" cy="411480"/>
          </a:xfrm>
          <a:prstGeom prst="rect">
            <a:avLst/>
          </a:prstGeom>
          <a:noFill/>
          <a:ln/>
        </p:spPr>
        <p:txBody>
          <a:bodyPr wrap="square" lIns="0" tIns="0" rIns="0" bIns="0" rtlCol="0" anchor="ctr">
            <a:normAutofit/>
          </a:bodyPr>
          <a:lstStyle/>
          <a:p>
            <a:pPr indent="0" marL="0">
              <a:buNone/>
            </a:pPr>
            <a:r>
              <a:rPr lang="en-US" sz="1040" dirty="0">
                <a:solidFill>
                  <a:srgbClr val="F4F7F6"/>
                </a:solidFill>
                <a:latin typeface="Avenir Next" pitchFamily="34" charset="0"/>
                <a:ea typeface="Avenir Next" pitchFamily="34" charset="-122"/>
                <a:cs typeface="Avenir Next" pitchFamily="34" charset="-120"/>
              </a:rPr>
              <a:t>Compare outputs with historical incidents and expert tabletop exercises.</a:t>
            </a:r>
            <a:endParaRPr lang="en-US" sz="1040" dirty="0"/>
          </a:p>
        </p:txBody>
      </p:sp>
      <p:sp>
        <p:nvSpPr>
          <p:cNvPr id="29" name="Shape 27"/>
          <p:cNvSpPr/>
          <p:nvPr/>
        </p:nvSpPr>
        <p:spPr>
          <a:xfrm>
            <a:off x="2331720" y="5879592"/>
            <a:ext cx="1426464" cy="310896"/>
          </a:xfrm>
          <a:prstGeom prst="roundRect">
            <a:avLst>
              <a:gd name="adj" fmla="val 50000"/>
            </a:avLst>
          </a:prstGeom>
          <a:solidFill>
            <a:srgbClr val="12272D"/>
          </a:solidFill>
          <a:ln w="12700">
            <a:solidFill>
              <a:srgbClr val="294047"/>
            </a:solidFill>
            <a:prstDash val="solid"/>
          </a:ln>
        </p:spPr>
      </p:sp>
      <p:sp>
        <p:nvSpPr>
          <p:cNvPr id="30" name="Shape 28"/>
          <p:cNvSpPr/>
          <p:nvPr/>
        </p:nvSpPr>
        <p:spPr>
          <a:xfrm>
            <a:off x="2459736" y="5993892"/>
            <a:ext cx="82296" cy="82296"/>
          </a:xfrm>
          <a:prstGeom prst="ellipse">
            <a:avLst/>
          </a:prstGeom>
          <a:solidFill>
            <a:srgbClr val="65E2CB"/>
          </a:solidFill>
          <a:ln w="12700">
            <a:solidFill>
              <a:srgbClr val="65E2CB"/>
            </a:solidFill>
            <a:prstDash val="solid"/>
          </a:ln>
        </p:spPr>
      </p:sp>
      <p:sp>
        <p:nvSpPr>
          <p:cNvPr id="31" name="Text 29"/>
          <p:cNvSpPr/>
          <p:nvPr/>
        </p:nvSpPr>
        <p:spPr>
          <a:xfrm>
            <a:off x="2624328" y="5925312"/>
            <a:ext cx="1042416" cy="219456"/>
          </a:xfrm>
          <a:prstGeom prst="rect">
            <a:avLst/>
          </a:prstGeom>
          <a:noFill/>
          <a:ln/>
        </p:spPr>
        <p:txBody>
          <a:bodyPr wrap="square" lIns="0" tIns="0" rIns="0" bIns="0" rtlCol="0" anchor="ctr">
            <a:normAutofit/>
          </a:bodyPr>
          <a:lstStyle/>
          <a:p>
            <a:pPr indent="0" marL="0">
              <a:buNone/>
            </a:pPr>
            <a:r>
              <a:rPr lang="en-US" sz="950" b="1" spc="20" kern="0" dirty="0">
                <a:solidFill>
                  <a:srgbClr val="F4F7F6"/>
                </a:solidFill>
                <a:latin typeface="Avenir Next" pitchFamily="34" charset="0"/>
                <a:ea typeface="Avenir Next" pitchFamily="34" charset="-122"/>
                <a:cs typeface="Avenir Next" pitchFamily="34" charset="-120"/>
              </a:rPr>
              <a:t>CALIBRATION</a:t>
            </a:r>
            <a:endParaRPr lang="en-US" sz="950" dirty="0"/>
          </a:p>
        </p:txBody>
      </p:sp>
      <p:sp>
        <p:nvSpPr>
          <p:cNvPr id="32" name="Shape 30"/>
          <p:cNvSpPr/>
          <p:nvPr/>
        </p:nvSpPr>
        <p:spPr>
          <a:xfrm>
            <a:off x="3968496" y="5879592"/>
            <a:ext cx="1371600" cy="310896"/>
          </a:xfrm>
          <a:prstGeom prst="roundRect">
            <a:avLst>
              <a:gd name="adj" fmla="val 50000"/>
            </a:avLst>
          </a:prstGeom>
          <a:solidFill>
            <a:srgbClr val="12272D"/>
          </a:solidFill>
          <a:ln w="12700">
            <a:solidFill>
              <a:srgbClr val="294047"/>
            </a:solidFill>
            <a:prstDash val="solid"/>
          </a:ln>
        </p:spPr>
      </p:sp>
      <p:sp>
        <p:nvSpPr>
          <p:cNvPr id="33" name="Shape 31"/>
          <p:cNvSpPr/>
          <p:nvPr/>
        </p:nvSpPr>
        <p:spPr>
          <a:xfrm>
            <a:off x="4096512" y="5993892"/>
            <a:ext cx="82296" cy="82296"/>
          </a:xfrm>
          <a:prstGeom prst="ellipse">
            <a:avLst/>
          </a:prstGeom>
          <a:solidFill>
            <a:srgbClr val="F4B85D"/>
          </a:solidFill>
          <a:ln w="12700">
            <a:solidFill>
              <a:srgbClr val="F4B85D"/>
            </a:solidFill>
            <a:prstDash val="solid"/>
          </a:ln>
        </p:spPr>
      </p:sp>
      <p:sp>
        <p:nvSpPr>
          <p:cNvPr id="34" name="Text 32"/>
          <p:cNvSpPr/>
          <p:nvPr/>
        </p:nvSpPr>
        <p:spPr>
          <a:xfrm>
            <a:off x="4261104" y="5925312"/>
            <a:ext cx="987552" cy="219456"/>
          </a:xfrm>
          <a:prstGeom prst="rect">
            <a:avLst/>
          </a:prstGeom>
          <a:noFill/>
          <a:ln/>
        </p:spPr>
        <p:txBody>
          <a:bodyPr wrap="square" lIns="0" tIns="0" rIns="0" bIns="0" rtlCol="0" anchor="ctr">
            <a:normAutofit/>
          </a:bodyPr>
          <a:lstStyle/>
          <a:p>
            <a:pPr indent="0" marL="0">
              <a:buNone/>
            </a:pPr>
            <a:r>
              <a:rPr lang="en-US" sz="950" b="1" spc="20" kern="0" dirty="0">
                <a:solidFill>
                  <a:srgbClr val="F4F7F6"/>
                </a:solidFill>
                <a:latin typeface="Avenir Next" pitchFamily="34" charset="0"/>
                <a:ea typeface="Avenir Next" pitchFamily="34" charset="-122"/>
                <a:cs typeface="Avenir Next" pitchFamily="34" charset="-120"/>
              </a:rPr>
              <a:t>GOVERNANCE</a:t>
            </a:r>
            <a:endParaRPr lang="en-US" sz="950" dirty="0"/>
          </a:p>
        </p:txBody>
      </p:sp>
      <p:sp>
        <p:nvSpPr>
          <p:cNvPr id="35" name="Shape 33"/>
          <p:cNvSpPr/>
          <p:nvPr/>
        </p:nvSpPr>
        <p:spPr>
          <a:xfrm>
            <a:off x="5559552" y="5879592"/>
            <a:ext cx="1307592" cy="310896"/>
          </a:xfrm>
          <a:prstGeom prst="roundRect">
            <a:avLst>
              <a:gd name="adj" fmla="val 50000"/>
            </a:avLst>
          </a:prstGeom>
          <a:solidFill>
            <a:srgbClr val="12272D"/>
          </a:solidFill>
          <a:ln w="12700">
            <a:solidFill>
              <a:srgbClr val="294047"/>
            </a:solidFill>
            <a:prstDash val="solid"/>
          </a:ln>
        </p:spPr>
      </p:sp>
      <p:sp>
        <p:nvSpPr>
          <p:cNvPr id="36" name="Shape 34"/>
          <p:cNvSpPr/>
          <p:nvPr/>
        </p:nvSpPr>
        <p:spPr>
          <a:xfrm>
            <a:off x="5687568" y="5993892"/>
            <a:ext cx="82296" cy="82296"/>
          </a:xfrm>
          <a:prstGeom prst="ellipse">
            <a:avLst/>
          </a:prstGeom>
          <a:solidFill>
            <a:srgbClr val="B784F5"/>
          </a:solidFill>
          <a:ln w="12700">
            <a:solidFill>
              <a:srgbClr val="B784F5"/>
            </a:solidFill>
            <a:prstDash val="solid"/>
          </a:ln>
        </p:spPr>
      </p:sp>
      <p:sp>
        <p:nvSpPr>
          <p:cNvPr id="37" name="Text 35"/>
          <p:cNvSpPr/>
          <p:nvPr/>
        </p:nvSpPr>
        <p:spPr>
          <a:xfrm>
            <a:off x="5852160" y="5925312"/>
            <a:ext cx="923544" cy="219456"/>
          </a:xfrm>
          <a:prstGeom prst="rect">
            <a:avLst/>
          </a:prstGeom>
          <a:noFill/>
          <a:ln/>
        </p:spPr>
        <p:txBody>
          <a:bodyPr wrap="square" lIns="0" tIns="0" rIns="0" bIns="0" rtlCol="0" anchor="ctr">
            <a:normAutofit/>
          </a:bodyPr>
          <a:lstStyle/>
          <a:p>
            <a:pPr indent="0" marL="0">
              <a:buNone/>
            </a:pPr>
            <a:r>
              <a:rPr lang="en-US" sz="950" b="1" spc="20" kern="0" dirty="0">
                <a:solidFill>
                  <a:srgbClr val="F4F7F6"/>
                </a:solidFill>
                <a:latin typeface="Avenir Next" pitchFamily="34" charset="0"/>
                <a:ea typeface="Avenir Next" pitchFamily="34" charset="-122"/>
                <a:cs typeface="Avenir Next" pitchFamily="34" charset="-120"/>
              </a:rPr>
              <a:t>VALIDATION</a:t>
            </a:r>
            <a:endParaRPr lang="en-US" sz="950" dirty="0"/>
          </a:p>
        </p:txBody>
      </p:sp>
      <p:sp>
        <p:nvSpPr>
          <p:cNvPr id="38" name="Shape 36"/>
          <p:cNvSpPr/>
          <p:nvPr/>
        </p:nvSpPr>
        <p:spPr>
          <a:xfrm>
            <a:off x="7086600" y="5879592"/>
            <a:ext cx="1627632" cy="310896"/>
          </a:xfrm>
          <a:prstGeom prst="roundRect">
            <a:avLst>
              <a:gd name="adj" fmla="val 50000"/>
            </a:avLst>
          </a:prstGeom>
          <a:solidFill>
            <a:srgbClr val="12272D"/>
          </a:solidFill>
          <a:ln w="12700">
            <a:solidFill>
              <a:srgbClr val="294047"/>
            </a:solidFill>
            <a:prstDash val="solid"/>
          </a:ln>
        </p:spPr>
      </p:sp>
      <p:sp>
        <p:nvSpPr>
          <p:cNvPr id="39" name="Shape 37"/>
          <p:cNvSpPr/>
          <p:nvPr/>
        </p:nvSpPr>
        <p:spPr>
          <a:xfrm>
            <a:off x="7214616" y="5993892"/>
            <a:ext cx="82296" cy="82296"/>
          </a:xfrm>
          <a:prstGeom prst="ellipse">
            <a:avLst/>
          </a:prstGeom>
          <a:solidFill>
            <a:srgbClr val="59D5F6"/>
          </a:solidFill>
          <a:ln w="12700">
            <a:solidFill>
              <a:srgbClr val="59D5F6"/>
            </a:solidFill>
            <a:prstDash val="solid"/>
          </a:ln>
        </p:spPr>
      </p:sp>
      <p:sp>
        <p:nvSpPr>
          <p:cNvPr id="40" name="Text 38"/>
          <p:cNvSpPr/>
          <p:nvPr/>
        </p:nvSpPr>
        <p:spPr>
          <a:xfrm>
            <a:off x="7379208" y="5925312"/>
            <a:ext cx="1243584" cy="219456"/>
          </a:xfrm>
          <a:prstGeom prst="rect">
            <a:avLst/>
          </a:prstGeom>
          <a:noFill/>
          <a:ln/>
        </p:spPr>
        <p:txBody>
          <a:bodyPr wrap="square" lIns="0" tIns="0" rIns="0" bIns="0" rtlCol="0" anchor="ctr">
            <a:normAutofit/>
          </a:bodyPr>
          <a:lstStyle/>
          <a:p>
            <a:pPr indent="0" marL="0">
              <a:buNone/>
            </a:pPr>
            <a:r>
              <a:rPr lang="en-US" sz="950" b="1" spc="20" kern="0" dirty="0">
                <a:solidFill>
                  <a:srgbClr val="F4F7F6"/>
                </a:solidFill>
                <a:latin typeface="Avenir Next" pitchFamily="34" charset="0"/>
                <a:ea typeface="Avenir Next" pitchFamily="34" charset="-122"/>
                <a:cs typeface="Avenir Next" pitchFamily="34" charset="-120"/>
              </a:rPr>
              <a:t>EXERCISE DESIGN</a:t>
            </a:r>
            <a:endParaRPr lang="en-US" sz="950" dirty="0"/>
          </a:p>
        </p:txBody>
      </p:sp>
      <p:sp>
        <p:nvSpPr>
          <p:cNvPr id="42" name="Shape 39"/>
          <p:cNvSpPr/>
          <p:nvPr/>
        </p:nvSpPr>
        <p:spPr>
          <a:xfrm>
            <a:off x="502920" y="292608"/>
            <a:ext cx="310896" cy="310896"/>
          </a:xfrm>
          <a:prstGeom prst="ellipse">
            <a:avLst/>
          </a:prstGeom>
          <a:solidFill>
            <a:srgbClr val="12272D"/>
          </a:solidFill>
          <a:ln w="12700">
            <a:solidFill>
              <a:srgbClr val="65E2CB"/>
            </a:solidFill>
            <a:prstDash val="solid"/>
          </a:ln>
        </p:spPr>
      </p:sp>
      <p:sp>
        <p:nvSpPr>
          <p:cNvPr id="43" name="Shape 40"/>
          <p:cNvSpPr/>
          <p:nvPr/>
        </p:nvSpPr>
        <p:spPr>
          <a:xfrm>
            <a:off x="597103" y="374904"/>
            <a:ext cx="118872" cy="118872"/>
          </a:xfrm>
          <a:prstGeom prst="ellipse">
            <a:avLst/>
          </a:prstGeom>
          <a:solidFill>
            <a:srgbClr val="071216"/>
          </a:solidFill>
          <a:ln w="12700">
            <a:solidFill>
              <a:srgbClr val="65E2CB"/>
            </a:solidFill>
            <a:prstDash val="solid"/>
          </a:ln>
        </p:spPr>
      </p:sp>
      <p:sp>
        <p:nvSpPr>
          <p:cNvPr id="44" name="Shape 41"/>
          <p:cNvSpPr/>
          <p:nvPr/>
        </p:nvSpPr>
        <p:spPr>
          <a:xfrm>
            <a:off x="658368" y="356616"/>
            <a:ext cx="0" cy="182880"/>
          </a:xfrm>
          <a:prstGeom prst="line">
            <a:avLst/>
          </a:prstGeom>
          <a:noFill/>
          <a:ln w="15240">
            <a:solidFill>
              <a:srgbClr val="65E2CB"/>
            </a:solidFill>
            <a:prstDash val="solid"/>
            <a:headEnd type="none"/>
            <a:tailEnd type="none"/>
          </a:ln>
        </p:spPr>
      </p:sp>
      <p:sp>
        <p:nvSpPr>
          <p:cNvPr id="45" name="Text 42"/>
          <p:cNvSpPr/>
          <p:nvPr/>
        </p:nvSpPr>
        <p:spPr>
          <a:xfrm>
            <a:off x="896112" y="310896"/>
            <a:ext cx="2011680" cy="201168"/>
          </a:xfrm>
          <a:prstGeom prst="rect">
            <a:avLst/>
          </a:prstGeom>
          <a:noFill/>
          <a:ln/>
        </p:spPr>
        <p:txBody>
          <a:bodyPr wrap="square" lIns="0" tIns="0" rIns="0" bIns="0" rtlCol="0" anchor="ctr">
            <a:normAutofit/>
          </a:bodyPr>
          <a:lstStyle/>
          <a:p>
            <a:pPr indent="0" marL="0">
              <a:buNone/>
            </a:pPr>
            <a:r>
              <a:rPr lang="en-US" sz="900" b="1" spc="140" kern="0" dirty="0">
                <a:solidFill>
                  <a:srgbClr val="9BB0B5"/>
                </a:solidFill>
                <a:latin typeface="Avenir Next" pitchFamily="34" charset="0"/>
                <a:ea typeface="Avenir Next" pitchFamily="34" charset="-122"/>
                <a:cs typeface="Avenir Next" pitchFamily="34" charset="-120"/>
              </a:rPr>
              <a:t>NL RESILIENCE LAB</a:t>
            </a:r>
            <a:endParaRPr lang="en-US" sz="900" dirty="0"/>
          </a:p>
        </p:txBody>
      </p:sp>
      <p:sp>
        <p:nvSpPr>
          <p:cNvPr id="46" name="Text 43"/>
          <p:cNvSpPr/>
          <p:nvPr/>
        </p:nvSpPr>
        <p:spPr>
          <a:xfrm>
            <a:off x="9052560" y="310896"/>
            <a:ext cx="2514600" cy="201168"/>
          </a:xfrm>
          <a:prstGeom prst="rect">
            <a:avLst/>
          </a:prstGeom>
          <a:noFill/>
          <a:ln/>
        </p:spPr>
        <p:txBody>
          <a:bodyPr wrap="square" lIns="0" tIns="0" rIns="0" bIns="0" rtlCol="0" anchor="ctr">
            <a:normAutofit/>
          </a:bodyPr>
          <a:lstStyle/>
          <a:p>
            <a:pPr algn="r" indent="0" marL="0">
              <a:buNone/>
            </a:pPr>
            <a:r>
              <a:rPr lang="en-US" sz="850" b="1" spc="125" kern="0" dirty="0">
                <a:solidFill>
                  <a:srgbClr val="688087"/>
                </a:solidFill>
                <a:latin typeface="Avenir Next" pitchFamily="34" charset="0"/>
                <a:ea typeface="Avenir Next" pitchFamily="34" charset="-122"/>
                <a:cs typeface="Avenir Next" pitchFamily="34" charset="-120"/>
              </a:rPr>
              <a:t>NEXT STEPS</a:t>
            </a:r>
            <a:endParaRPr lang="en-US" sz="850" dirty="0"/>
          </a:p>
        </p:txBody>
      </p:sp>
      <p:sp>
        <p:nvSpPr>
          <p:cNvPr id="47" name="Shape 44"/>
          <p:cNvSpPr/>
          <p:nvPr/>
        </p:nvSpPr>
        <p:spPr>
          <a:xfrm>
            <a:off x="502920" y="749808"/>
            <a:ext cx="10680192" cy="0"/>
          </a:xfrm>
          <a:prstGeom prst="line">
            <a:avLst/>
          </a:prstGeom>
          <a:noFill/>
          <a:ln w="8890">
            <a:solidFill>
              <a:srgbClr val="294047"/>
            </a:solidFill>
            <a:prstDash val="solid"/>
            <a:headEnd type="none"/>
            <a:tailEnd type="none"/>
          </a:ln>
        </p:spPr>
      </p:sp>
      <p:sp>
        <p:nvSpPr>
          <p:cNvPr id="25" name="Slide Number Placeholder 0"/>
          <p:cNvSpPr>
            <a:spLocks noGrp="1"/>
          </p:cNvSpPr>
          <p:nvPr>
            <p:ph type="sldNum" sz="quarter" idx="4294967295"/>
          </p:nvPr>
        </p:nvSpPr>
        <p:spPr>
          <a:xfrm>
            <a:off x="11119104" y="6446520"/>
            <a:ext cx="475488"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8087"/>
                </a:solidFill>
                <a:latin typeface="Avenir Next"/>
                <a:ea typeface="Avenir Next"/>
                <a:cs typeface="Avenir Next"/>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71216"/>
        </a:solidFill>
      </p:bgPr>
    </p:bg>
    <p:spTree>
      <p:nvGrpSpPr>
        <p:cNvPr id="1" name=""/>
        <p:cNvGrpSpPr/>
        <p:nvPr/>
      </p:nvGrpSpPr>
      <p:grpSpPr>
        <a:xfrm>
          <a:off x="0" y="0"/>
          <a:ext cx="0" cy="0"/>
          <a:chOff x="0" y="0"/>
          <a:chExt cx="0" cy="0"/>
        </a:xfrm>
      </p:grpSpPr>
      <p:pic>
        <p:nvPicPr>
          <p:cNvPr id="2" name="Image 0" descr="/Users/rikstokmans/Documents/Projects/Fontys/DisasterSimulator/artifacts/gatekeeper-v2.png">    </p:cNvPr>
          <p:cNvPicPr>
            <a:picLocks noChangeAspect="1"/>
          </p:cNvPicPr>
          <p:nvPr/>
        </p:nvPicPr>
        <p:blipFill>
          <a:blip r:embed="rId1"/>
          <a:srcRect l="30061" r="10061" t="0" b="0"/>
          <a:stretch/>
        </p:blipFill>
        <p:spPr>
          <a:xfrm>
            <a:off x="6537960" y="932688"/>
            <a:ext cx="5010912" cy="5230368"/>
          </a:xfrm>
          <a:prstGeom prst="rect">
            <a:avLst/>
          </a:prstGeom>
        </p:spPr>
      </p:pic>
      <p:sp>
        <p:nvSpPr>
          <p:cNvPr id="3" name="Shape 0"/>
          <p:cNvSpPr/>
          <p:nvPr/>
        </p:nvSpPr>
        <p:spPr>
          <a:xfrm>
            <a:off x="6537960" y="932688"/>
            <a:ext cx="5010912" cy="5230368"/>
          </a:xfrm>
          <a:prstGeom prst="rect">
            <a:avLst/>
          </a:prstGeom>
          <a:solidFill>
            <a:srgbClr val="FFFFFF">
              <a:alpha val="0"/>
            </a:srgbClr>
          </a:solidFill>
          <a:ln w="12700">
            <a:solidFill>
              <a:srgbClr val="294047"/>
            </a:solidFill>
            <a:prstDash val="solid"/>
          </a:ln>
        </p:spPr>
      </p:sp>
      <p:sp>
        <p:nvSpPr>
          <p:cNvPr id="4" name="Shape 1"/>
          <p:cNvSpPr/>
          <p:nvPr/>
        </p:nvSpPr>
        <p:spPr>
          <a:xfrm>
            <a:off x="6537960" y="932688"/>
            <a:ext cx="5010912" cy="5230368"/>
          </a:xfrm>
          <a:prstGeom prst="rect">
            <a:avLst/>
          </a:prstGeom>
          <a:solidFill>
            <a:srgbClr val="071216">
              <a:alpha val="42000"/>
            </a:srgbClr>
          </a:solidFill>
          <a:ln w="12700">
            <a:solidFill>
              <a:srgbClr val="294047"/>
            </a:solidFill>
            <a:prstDash val="solid"/>
          </a:ln>
        </p:spPr>
      </p:sp>
      <p:sp>
        <p:nvSpPr>
          <p:cNvPr id="5" name="Text 2"/>
          <p:cNvSpPr/>
          <p:nvPr/>
        </p:nvSpPr>
        <p:spPr>
          <a:xfrm>
            <a:off x="685800" y="1627632"/>
            <a:ext cx="5394960" cy="2011680"/>
          </a:xfrm>
          <a:prstGeom prst="rect">
            <a:avLst/>
          </a:prstGeom>
          <a:noFill/>
          <a:ln/>
        </p:spPr>
        <p:txBody>
          <a:bodyPr wrap="square" lIns="0" tIns="0" rIns="0" bIns="0" rtlCol="0" anchor="t">
            <a:normAutofit/>
          </a:bodyPr>
          <a:lstStyle/>
          <a:p>
            <a:pPr indent="0" marL="0">
              <a:buNone/>
            </a:pPr>
            <a:r>
              <a:rPr lang="en-US" sz="3100" b="1" dirty="0">
                <a:solidFill>
                  <a:srgbClr val="F4F7F6"/>
                </a:solidFill>
                <a:latin typeface="Avenir Next" pitchFamily="34" charset="0"/>
                <a:ea typeface="Avenir Next" pitchFamily="34" charset="-122"/>
                <a:cs typeface="Avenir Next" pitchFamily="34" charset="-120"/>
              </a:rPr>
              <a:t>See the cascade.</a:t>
            </a:r>
            <a:endParaRPr lang="en-US" sz="3100" dirty="0"/>
          </a:p>
          <a:p>
            <a:pPr indent="0" marL="0">
              <a:buNone/>
            </a:pPr>
            <a:r>
              <a:rPr lang="en-US" sz="3100" b="1" dirty="0">
                <a:solidFill>
                  <a:srgbClr val="F4F7F6"/>
                </a:solidFill>
                <a:latin typeface="Avenir Next" pitchFamily="34" charset="0"/>
                <a:ea typeface="Avenir Next" pitchFamily="34" charset="-122"/>
                <a:cs typeface="Avenir Next" pitchFamily="34" charset="-120"/>
              </a:rPr>
              <a:t>Question the assumptions.</a:t>
            </a:r>
            <a:endParaRPr lang="en-US" sz="3100" dirty="0"/>
          </a:p>
          <a:p>
            <a:pPr indent="0" marL="0">
              <a:buNone/>
            </a:pPr>
            <a:r>
              <a:rPr lang="en-US" sz="3100" b="1" dirty="0">
                <a:solidFill>
                  <a:srgbClr val="F4F7F6"/>
                </a:solidFill>
                <a:latin typeface="Avenir Next" pitchFamily="34" charset="0"/>
                <a:ea typeface="Avenir Next" pitchFamily="34" charset="-122"/>
                <a:cs typeface="Avenir Next" pitchFamily="34" charset="-120"/>
              </a:rPr>
              <a:t>Improve the response.</a:t>
            </a:r>
            <a:endParaRPr lang="en-US" sz="3100" dirty="0"/>
          </a:p>
        </p:txBody>
      </p:sp>
      <p:sp>
        <p:nvSpPr>
          <p:cNvPr id="6" name="Text 3"/>
          <p:cNvSpPr/>
          <p:nvPr/>
        </p:nvSpPr>
        <p:spPr>
          <a:xfrm>
            <a:off x="694944" y="4096512"/>
            <a:ext cx="2926080" cy="512064"/>
          </a:xfrm>
          <a:prstGeom prst="rect">
            <a:avLst/>
          </a:prstGeom>
          <a:noFill/>
          <a:ln/>
        </p:spPr>
        <p:txBody>
          <a:bodyPr wrap="square" lIns="0" tIns="0" rIns="0" bIns="0" rtlCol="0" anchor="ctr">
            <a:normAutofit/>
          </a:bodyPr>
          <a:lstStyle/>
          <a:p>
            <a:pPr indent="0" marL="0">
              <a:buNone/>
            </a:pPr>
            <a:r>
              <a:rPr lang="en-US" sz="2300" b="1" dirty="0">
                <a:solidFill>
                  <a:srgbClr val="65E2CB"/>
                </a:solidFill>
                <a:latin typeface="Avenir Next" pitchFamily="34" charset="0"/>
                <a:ea typeface="Avenir Next" pitchFamily="34" charset="-122"/>
                <a:cs typeface="Avenir Next" pitchFamily="34" charset="-120"/>
              </a:rPr>
              <a:t>Questions?</a:t>
            </a:r>
            <a:endParaRPr lang="en-US" sz="2300" dirty="0"/>
          </a:p>
        </p:txBody>
      </p:sp>
      <p:sp>
        <p:nvSpPr>
          <p:cNvPr id="7" name="Text 4"/>
          <p:cNvSpPr/>
          <p:nvPr/>
        </p:nvSpPr>
        <p:spPr>
          <a:xfrm>
            <a:off x="694944" y="5102352"/>
            <a:ext cx="749808" cy="210312"/>
          </a:xfrm>
          <a:prstGeom prst="rect">
            <a:avLst/>
          </a:prstGeom>
          <a:noFill/>
          <a:ln/>
        </p:spPr>
        <p:txBody>
          <a:bodyPr wrap="square" lIns="0" tIns="0" rIns="0" bIns="0" rtlCol="0" anchor="ctr">
            <a:normAutofit/>
          </a:bodyPr>
          <a:lstStyle/>
          <a:p>
            <a:pPr indent="0" marL="0">
              <a:buNone/>
            </a:pPr>
            <a:r>
              <a:rPr lang="en-US" sz="850" b="1" spc="90" kern="0" dirty="0">
                <a:solidFill>
                  <a:srgbClr val="688087"/>
                </a:solidFill>
                <a:latin typeface="Avenir Next" pitchFamily="34" charset="0"/>
                <a:ea typeface="Avenir Next" pitchFamily="34" charset="-122"/>
                <a:cs typeface="Avenir Next" pitchFamily="34" charset="-120"/>
              </a:rPr>
              <a:t>GitHub</a:t>
            </a:r>
            <a:endParaRPr lang="en-US" sz="850" dirty="0"/>
          </a:p>
        </p:txBody>
      </p:sp>
      <p:sp>
        <p:nvSpPr>
          <p:cNvPr id="8" name="Text 5">
            <a:hlinkClick r:id="rId2" tooltip=""/>
          </p:cNvPr>
          <p:cNvSpPr/>
          <p:nvPr/>
        </p:nvSpPr>
        <p:spPr>
          <a:xfrm>
            <a:off x="1572768" y="5065776"/>
            <a:ext cx="4251960" cy="256032"/>
          </a:xfrm>
          <a:prstGeom prst="rect">
            <a:avLst/>
          </a:prstGeom>
          <a:noFill/>
          <a:ln/>
        </p:spPr>
        <p:txBody>
          <a:bodyPr wrap="square" lIns="0" tIns="0" rIns="0" bIns="0" rtlCol="0" anchor="ctr">
            <a:normAutofit/>
          </a:bodyPr>
          <a:lstStyle/>
          <a:p>
            <a:pPr indent="0" marL="0">
              <a:buNone/>
            </a:pPr>
            <a:r>
              <a:rPr lang="en-US" sz="1020" u="sng" dirty="0">
                <a:solidFill>
                  <a:srgbClr val="F4F7F6"/>
                </a:solidFill>
                <a:latin typeface="Avenir Next" pitchFamily="34" charset="0"/>
                <a:ea typeface="Avenir Next" pitchFamily="34" charset="-122"/>
                <a:cs typeface="Avenir Next"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github.com/Rik-Stokmans/DisasterSimulator</a:t>
            </a:r>
            <a:endParaRPr lang="en-US" sz="1020" dirty="0"/>
          </a:p>
        </p:txBody>
      </p:sp>
      <p:sp>
        <p:nvSpPr>
          <p:cNvPr id="9" name="Text 6"/>
          <p:cNvSpPr/>
          <p:nvPr/>
        </p:nvSpPr>
        <p:spPr>
          <a:xfrm>
            <a:off x="694944" y="5486400"/>
            <a:ext cx="749808" cy="210312"/>
          </a:xfrm>
          <a:prstGeom prst="rect">
            <a:avLst/>
          </a:prstGeom>
          <a:noFill/>
          <a:ln/>
        </p:spPr>
        <p:txBody>
          <a:bodyPr wrap="square" lIns="0" tIns="0" rIns="0" bIns="0" rtlCol="0" anchor="ctr">
            <a:normAutofit/>
          </a:bodyPr>
          <a:lstStyle/>
          <a:p>
            <a:pPr indent="0" marL="0">
              <a:buNone/>
            </a:pPr>
            <a:r>
              <a:rPr lang="en-US" sz="850" b="1" spc="90" kern="0" dirty="0">
                <a:solidFill>
                  <a:srgbClr val="688087"/>
                </a:solidFill>
                <a:latin typeface="Avenir Next" pitchFamily="34" charset="0"/>
                <a:ea typeface="Avenir Next" pitchFamily="34" charset="-122"/>
                <a:cs typeface="Avenir Next" pitchFamily="34" charset="-120"/>
              </a:rPr>
              <a:t>Preview</a:t>
            </a:r>
            <a:endParaRPr lang="en-US" sz="850" dirty="0"/>
          </a:p>
        </p:txBody>
      </p:sp>
      <p:sp>
        <p:nvSpPr>
          <p:cNvPr id="10" name="Text 7">
            <a:hlinkClick r:id="rId3" tooltip=""/>
          </p:cNvPr>
          <p:cNvSpPr/>
          <p:nvPr/>
        </p:nvSpPr>
        <p:spPr>
          <a:xfrm>
            <a:off x="1572768" y="5449824"/>
            <a:ext cx="4407408" cy="256032"/>
          </a:xfrm>
          <a:prstGeom prst="rect">
            <a:avLst/>
          </a:prstGeom>
          <a:noFill/>
          <a:ln/>
        </p:spPr>
        <p:txBody>
          <a:bodyPr wrap="square" lIns="0" tIns="0" rIns="0" bIns="0" rtlCol="0" anchor="ctr">
            <a:normAutofit/>
          </a:bodyPr>
          <a:lstStyle/>
          <a:p>
            <a:pPr indent="0" marL="0">
              <a:buNone/>
            </a:pPr>
            <a:r>
              <a:rPr lang="en-US" sz="1020" u="sng" dirty="0">
                <a:solidFill>
                  <a:srgbClr val="F4F7F6"/>
                </a:solidFill>
                <a:latin typeface="Avenir Next" pitchFamily="34" charset="0"/>
                <a:ea typeface="Avenir Next" pitchFamily="34" charset="-122"/>
                <a:cs typeface="Avenir Next" pitchFamily="34" charset="-120"/>
                <a:hlinkClick r:id="rId3" invalidUrl="" action="" tgtFrame="" tooltip="" history="1" highlightClick="0" endSnd="0">
                  <a:extLst>
                    <a:ext uri="{A12FA001-AC4F-418D-AE19-62706E023703}">
                      <ahyp:hlinkClr xmlns:ahyp="http://schemas.microsoft.com/office/drawing/2018/hyperlinkcolor" val="tx"/>
                    </a:ext>
                  </a:extLst>
                </a:hlinkClick>
              </a:rPr>
              <a:t>rikstokmans.com/warroom/projects/disasterSimulator</a:t>
            </a:r>
            <a:endParaRPr lang="en-US" sz="1020" dirty="0"/>
          </a:p>
        </p:txBody>
      </p:sp>
      <p:sp>
        <p:nvSpPr>
          <p:cNvPr id="12" name="Shape 8"/>
          <p:cNvSpPr/>
          <p:nvPr/>
        </p:nvSpPr>
        <p:spPr>
          <a:xfrm>
            <a:off x="502920" y="292608"/>
            <a:ext cx="310896" cy="310896"/>
          </a:xfrm>
          <a:prstGeom prst="ellipse">
            <a:avLst/>
          </a:prstGeom>
          <a:solidFill>
            <a:srgbClr val="12272D"/>
          </a:solidFill>
          <a:ln w="12700">
            <a:solidFill>
              <a:srgbClr val="65E2CB"/>
            </a:solidFill>
            <a:prstDash val="solid"/>
          </a:ln>
        </p:spPr>
      </p:sp>
      <p:sp>
        <p:nvSpPr>
          <p:cNvPr id="13" name="Shape 9"/>
          <p:cNvSpPr/>
          <p:nvPr/>
        </p:nvSpPr>
        <p:spPr>
          <a:xfrm>
            <a:off x="597103" y="374904"/>
            <a:ext cx="118872" cy="118872"/>
          </a:xfrm>
          <a:prstGeom prst="ellipse">
            <a:avLst/>
          </a:prstGeom>
          <a:solidFill>
            <a:srgbClr val="071216"/>
          </a:solidFill>
          <a:ln w="12700">
            <a:solidFill>
              <a:srgbClr val="65E2CB"/>
            </a:solidFill>
            <a:prstDash val="solid"/>
          </a:ln>
        </p:spPr>
      </p:sp>
      <p:sp>
        <p:nvSpPr>
          <p:cNvPr id="14" name="Shape 10"/>
          <p:cNvSpPr/>
          <p:nvPr/>
        </p:nvSpPr>
        <p:spPr>
          <a:xfrm>
            <a:off x="658368" y="356616"/>
            <a:ext cx="0" cy="182880"/>
          </a:xfrm>
          <a:prstGeom prst="line">
            <a:avLst/>
          </a:prstGeom>
          <a:noFill/>
          <a:ln w="15240">
            <a:solidFill>
              <a:srgbClr val="65E2CB"/>
            </a:solidFill>
            <a:prstDash val="solid"/>
            <a:headEnd type="none"/>
            <a:tailEnd type="none"/>
          </a:ln>
        </p:spPr>
      </p:sp>
      <p:sp>
        <p:nvSpPr>
          <p:cNvPr id="15" name="Text 11"/>
          <p:cNvSpPr/>
          <p:nvPr/>
        </p:nvSpPr>
        <p:spPr>
          <a:xfrm>
            <a:off x="896112" y="310896"/>
            <a:ext cx="2011680" cy="201168"/>
          </a:xfrm>
          <a:prstGeom prst="rect">
            <a:avLst/>
          </a:prstGeom>
          <a:noFill/>
          <a:ln/>
        </p:spPr>
        <p:txBody>
          <a:bodyPr wrap="square" lIns="0" tIns="0" rIns="0" bIns="0" rtlCol="0" anchor="ctr">
            <a:normAutofit/>
          </a:bodyPr>
          <a:lstStyle/>
          <a:p>
            <a:pPr indent="0" marL="0">
              <a:buNone/>
            </a:pPr>
            <a:r>
              <a:rPr lang="en-US" sz="900" b="1" spc="140" kern="0" dirty="0">
                <a:solidFill>
                  <a:srgbClr val="9BB0B5"/>
                </a:solidFill>
                <a:latin typeface="Avenir Next" pitchFamily="34" charset="0"/>
                <a:ea typeface="Avenir Next" pitchFamily="34" charset="-122"/>
                <a:cs typeface="Avenir Next" pitchFamily="34" charset="-120"/>
              </a:rPr>
              <a:t>NL RESILIENCE LAB</a:t>
            </a:r>
            <a:endParaRPr lang="en-US" sz="900" dirty="0"/>
          </a:p>
        </p:txBody>
      </p:sp>
      <p:sp>
        <p:nvSpPr>
          <p:cNvPr id="16" name="Text 12"/>
          <p:cNvSpPr/>
          <p:nvPr/>
        </p:nvSpPr>
        <p:spPr>
          <a:xfrm>
            <a:off x="9052560" y="310896"/>
            <a:ext cx="2514600" cy="201168"/>
          </a:xfrm>
          <a:prstGeom prst="rect">
            <a:avLst/>
          </a:prstGeom>
          <a:noFill/>
          <a:ln/>
        </p:spPr>
        <p:txBody>
          <a:bodyPr wrap="square" lIns="0" tIns="0" rIns="0" bIns="0" rtlCol="0" anchor="ctr">
            <a:normAutofit/>
          </a:bodyPr>
          <a:lstStyle/>
          <a:p>
            <a:pPr algn="r" indent="0" marL="0">
              <a:buNone/>
            </a:pPr>
            <a:r>
              <a:rPr lang="en-US" sz="850" b="1" spc="125" kern="0" dirty="0">
                <a:solidFill>
                  <a:srgbClr val="688087"/>
                </a:solidFill>
                <a:latin typeface="Avenir Next" pitchFamily="34" charset="0"/>
                <a:ea typeface="Avenir Next" pitchFamily="34" charset="-122"/>
                <a:cs typeface="Avenir Next" pitchFamily="34" charset="-120"/>
              </a:rPr>
              <a:t>CLOSE</a:t>
            </a:r>
            <a:endParaRPr lang="en-US" sz="850" dirty="0"/>
          </a:p>
        </p:txBody>
      </p:sp>
      <p:sp>
        <p:nvSpPr>
          <p:cNvPr id="17" name="Shape 13"/>
          <p:cNvSpPr/>
          <p:nvPr/>
        </p:nvSpPr>
        <p:spPr>
          <a:xfrm>
            <a:off x="502920" y="749808"/>
            <a:ext cx="10680192" cy="0"/>
          </a:xfrm>
          <a:prstGeom prst="line">
            <a:avLst/>
          </a:prstGeom>
          <a:noFill/>
          <a:ln w="8890">
            <a:solidFill>
              <a:srgbClr val="294047"/>
            </a:solidFill>
            <a:prstDash val="solid"/>
            <a:headEnd type="none"/>
            <a:tailEnd type="none"/>
          </a:ln>
        </p:spPr>
      </p:sp>
      <p:sp>
        <p:nvSpPr>
          <p:cNvPr id="25" name="Slide Number Placeholder 0"/>
          <p:cNvSpPr>
            <a:spLocks noGrp="1"/>
          </p:cNvSpPr>
          <p:nvPr>
            <p:ph type="sldNum" sz="quarter" idx="4294967295"/>
          </p:nvPr>
        </p:nvSpPr>
        <p:spPr>
          <a:xfrm>
            <a:off x="11119104" y="6446520"/>
            <a:ext cx="475488"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8087"/>
                </a:solidFill>
                <a:latin typeface="Avenir Next"/>
                <a:ea typeface="Avenir Next"/>
                <a:cs typeface="Avenir Next"/>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venir Nex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venir Nex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Fontys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NL Resilience Lab — Disaster Simulator</dc:title>
  <dc:subject>NL Resilience Lab — project overview, simulation model and data couplings</dc:subject>
  <dc:creator>Rik Stokmans</dc:creator>
  <cp:lastModifiedBy>Rik Stokmans</cp:lastModifiedBy>
  <cp:revision>1</cp:revision>
  <dcterms:created xsi:type="dcterms:W3CDTF">2026-09-04T06:41:19Z</dcterms:created>
  <dcterms:modified xsi:type="dcterms:W3CDTF">2026-09-04T06:41:19Z</dcterms:modified>
</cp:coreProperties>
</file>